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00A1E0"/>
          </a:solidFill>
          <a:ln w="12700">
            <a:solidFill>
              <a:srgbClr val="00A1E0"/>
            </a:solidFill>
            <a:prstDash val="solid"/>
          </a:ln>
        </p:spPr>
      </p:sp>
      <p:sp>
        <p:nvSpPr>
          <p:cNvPr id="3" name="Shape 1"/>
          <p:cNvSpPr/>
          <p:nvPr/>
        </p:nvSpPr>
        <p:spPr>
          <a:xfrm>
            <a:off x="914400" y="1188720"/>
            <a:ext cx="4389120" cy="347472"/>
          </a:xfrm>
          <a:prstGeom prst="roundRect">
            <a:avLst>
              <a:gd name="adj" fmla="val 26316"/>
            </a:avLst>
          </a:prstGeom>
          <a:solidFill>
            <a:srgbClr val="162238"/>
          </a:solidFill>
          <a:ln w="12700">
            <a:solidFill>
              <a:srgbClr val="00A1E0"/>
            </a:solidFill>
            <a:prstDash val="solid"/>
          </a:ln>
        </p:spPr>
      </p:sp>
      <p:sp>
        <p:nvSpPr>
          <p:cNvPr id="4" name="Text 2"/>
          <p:cNvSpPr/>
          <p:nvPr/>
        </p:nvSpPr>
        <p:spPr>
          <a:xfrm>
            <a:off x="914400" y="1188720"/>
            <a:ext cx="4389120" cy="347472"/>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ENTERPRISE ENABLEMENT  •  WINTER '27 (API 64)</a:t>
            </a:r>
            <a:endParaRPr lang="en-US" sz="1000" dirty="0"/>
          </a:p>
        </p:txBody>
      </p:sp>
      <p:sp>
        <p:nvSpPr>
          <p:cNvPr id="5" name="Text 3"/>
          <p:cNvSpPr/>
          <p:nvPr/>
        </p:nvSpPr>
        <p:spPr>
          <a:xfrm>
            <a:off x="914400" y="1737360"/>
            <a:ext cx="10360152" cy="731520"/>
          </a:xfrm>
          <a:prstGeom prst="rect">
            <a:avLst/>
          </a:prstGeom>
          <a:noFill/>
          <a:ln/>
        </p:spPr>
        <p:txBody>
          <a:bodyPr wrap="square" rtlCol="0" anchor="ctr"/>
          <a:lstStyle/>
          <a:p>
            <a:pPr indent="0" marL="0">
              <a:buNone/>
            </a:pPr>
            <a:r>
              <a:rPr lang="en-US" sz="3400" b="1" dirty="0">
                <a:solidFill>
                  <a:srgbClr val="F8FAFC"/>
                </a:solidFill>
                <a:latin typeface="Arial" pitchFamily="34" charset="0"/>
                <a:ea typeface="Arial" pitchFamily="34" charset="-122"/>
                <a:cs typeface="Arial" pitchFamily="34" charset="-120"/>
              </a:rPr>
              <a:t>Salesforce Agentforce &amp; Data 360</a:t>
            </a:r>
            <a:endParaRPr lang="en-US" sz="3400" dirty="0"/>
          </a:p>
        </p:txBody>
      </p:sp>
      <p:sp>
        <p:nvSpPr>
          <p:cNvPr id="6" name="Text 4"/>
          <p:cNvSpPr/>
          <p:nvPr/>
        </p:nvSpPr>
        <p:spPr>
          <a:xfrm>
            <a:off x="914400" y="2468880"/>
            <a:ext cx="10360152" cy="594360"/>
          </a:xfrm>
          <a:prstGeom prst="rect">
            <a:avLst/>
          </a:prstGeom>
          <a:noFill/>
          <a:ln/>
        </p:spPr>
        <p:txBody>
          <a:bodyPr wrap="square" rtlCol="0" anchor="ctr"/>
          <a:lstStyle/>
          <a:p>
            <a:pPr indent="0" marL="0">
              <a:buNone/>
            </a:pPr>
            <a:r>
              <a:rPr lang="en-US" sz="2600" b="1" dirty="0">
                <a:solidFill>
                  <a:srgbClr val="38BDF8"/>
                </a:solidFill>
                <a:latin typeface="Arial" pitchFamily="34" charset="0"/>
                <a:ea typeface="Arial" pitchFamily="34" charset="-122"/>
                <a:cs typeface="Arial" pitchFamily="34" charset="-120"/>
              </a:rPr>
              <a:t>Day 1: The Atlas Reasoning Engine &amp; ReAct Loop</a:t>
            </a:r>
            <a:endParaRPr lang="en-US" sz="2600" dirty="0"/>
          </a:p>
        </p:txBody>
      </p:sp>
      <p:sp>
        <p:nvSpPr>
          <p:cNvPr id="7" name="Text 5"/>
          <p:cNvSpPr/>
          <p:nvPr/>
        </p:nvSpPr>
        <p:spPr>
          <a:xfrm>
            <a:off x="914400" y="3246120"/>
            <a:ext cx="9601200" cy="731520"/>
          </a:xfrm>
          <a:prstGeom prst="rect">
            <a:avLst/>
          </a:prstGeom>
          <a:noFill/>
          <a:ln/>
        </p:spPr>
        <p:txBody>
          <a:bodyPr wrap="square" rtlCol="0" anchor="ctr"/>
          <a:lstStyle/>
          <a:p>
            <a:pPr indent="0" marL="0">
              <a:lnSpc>
                <a:spcPts val="2200"/>
              </a:lnSpc>
              <a:buNone/>
            </a:pPr>
            <a:r>
              <a:rPr lang="en-US" sz="1400" dirty="0">
                <a:solidFill>
                  <a:srgbClr val="94A3B8"/>
                </a:solidFill>
                <a:latin typeface="Arial" pitchFamily="34" charset="0"/>
                <a:ea typeface="Arial" pitchFamily="34" charset="-122"/>
                <a:cs typeface="Arial" pitchFamily="34" charset="-120"/>
              </a:rPr>
              <a:t>A 120-minute comprehensive architectural masterclass covering autonomous agent cognition, dynamic ReAct loops, grounding architectures, Einstein Trust Layer, and hands-on Builder deployment.</a:t>
            </a:r>
            <a:endParaRPr lang="en-US" sz="1400" dirty="0"/>
          </a:p>
        </p:txBody>
      </p:sp>
      <p:sp>
        <p:nvSpPr>
          <p:cNvPr id="8" name="Shape 6"/>
          <p:cNvSpPr/>
          <p:nvPr/>
        </p:nvSpPr>
        <p:spPr>
          <a:xfrm>
            <a:off x="914400" y="4297680"/>
            <a:ext cx="3200400" cy="1188720"/>
          </a:xfrm>
          <a:prstGeom prst="roundRect">
            <a:avLst>
              <a:gd name="adj" fmla="val 9231"/>
            </a:avLst>
          </a:prstGeom>
          <a:solidFill>
            <a:srgbClr val="131B2E"/>
          </a:solidFill>
          <a:ln w="15240">
            <a:solidFill>
              <a:srgbClr val="233354"/>
            </a:solidFill>
            <a:prstDash val="solid"/>
          </a:ln>
        </p:spPr>
      </p:sp>
      <p:sp>
        <p:nvSpPr>
          <p:cNvPr id="9" name="Shape 7"/>
          <p:cNvSpPr/>
          <p:nvPr/>
        </p:nvSpPr>
        <p:spPr>
          <a:xfrm>
            <a:off x="914400" y="4297680"/>
            <a:ext cx="73152" cy="1188720"/>
          </a:xfrm>
          <a:prstGeom prst="rect">
            <a:avLst/>
          </a:prstGeom>
          <a:solidFill>
            <a:srgbClr val="00A1E0"/>
          </a:solidFill>
          <a:ln w="12700">
            <a:solidFill>
              <a:srgbClr val="00A1E0"/>
            </a:solidFill>
            <a:prstDash val="solid"/>
          </a:ln>
        </p:spPr>
      </p:sp>
      <p:sp>
        <p:nvSpPr>
          <p:cNvPr id="10" name="Text 8"/>
          <p:cNvSpPr/>
          <p:nvPr/>
        </p:nvSpPr>
        <p:spPr>
          <a:xfrm>
            <a:off x="1143000" y="4480560"/>
            <a:ext cx="2743200" cy="3200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Autonomous Cognition</a:t>
            </a:r>
            <a:endParaRPr lang="en-US" sz="1400" dirty="0"/>
          </a:p>
        </p:txBody>
      </p:sp>
      <p:sp>
        <p:nvSpPr>
          <p:cNvPr id="11" name="Text 9"/>
          <p:cNvSpPr/>
          <p:nvPr/>
        </p:nvSpPr>
        <p:spPr>
          <a:xfrm>
            <a:off x="1143000" y="4846320"/>
            <a:ext cx="2743200" cy="50292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4-phase ReAct evaluation cycle</a:t>
            </a:r>
            <a:endParaRPr lang="en-US" sz="1100" dirty="0"/>
          </a:p>
        </p:txBody>
      </p:sp>
      <p:sp>
        <p:nvSpPr>
          <p:cNvPr id="12" name="Shape 10"/>
          <p:cNvSpPr/>
          <p:nvPr/>
        </p:nvSpPr>
        <p:spPr>
          <a:xfrm>
            <a:off x="4389120" y="4297680"/>
            <a:ext cx="3200400" cy="1188720"/>
          </a:xfrm>
          <a:prstGeom prst="roundRect">
            <a:avLst>
              <a:gd name="adj" fmla="val 9231"/>
            </a:avLst>
          </a:prstGeom>
          <a:solidFill>
            <a:srgbClr val="131B2E"/>
          </a:solidFill>
          <a:ln w="15240">
            <a:solidFill>
              <a:srgbClr val="233354"/>
            </a:solidFill>
            <a:prstDash val="solid"/>
          </a:ln>
        </p:spPr>
      </p:sp>
      <p:sp>
        <p:nvSpPr>
          <p:cNvPr id="13" name="Shape 11"/>
          <p:cNvSpPr/>
          <p:nvPr/>
        </p:nvSpPr>
        <p:spPr>
          <a:xfrm>
            <a:off x="4389120" y="4297680"/>
            <a:ext cx="73152" cy="1188720"/>
          </a:xfrm>
          <a:prstGeom prst="rect">
            <a:avLst/>
          </a:prstGeom>
          <a:solidFill>
            <a:srgbClr val="10B981"/>
          </a:solidFill>
          <a:ln w="12700">
            <a:solidFill>
              <a:srgbClr val="10B981"/>
            </a:solidFill>
            <a:prstDash val="solid"/>
          </a:ln>
        </p:spPr>
      </p:sp>
      <p:sp>
        <p:nvSpPr>
          <p:cNvPr id="14" name="Text 12"/>
          <p:cNvSpPr/>
          <p:nvPr/>
        </p:nvSpPr>
        <p:spPr>
          <a:xfrm>
            <a:off x="4617720" y="4480560"/>
            <a:ext cx="2743200" cy="3200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Trust Layer Security</a:t>
            </a:r>
            <a:endParaRPr lang="en-US" sz="1400" dirty="0"/>
          </a:p>
        </p:txBody>
      </p:sp>
      <p:sp>
        <p:nvSpPr>
          <p:cNvPr id="15" name="Text 13"/>
          <p:cNvSpPr/>
          <p:nvPr/>
        </p:nvSpPr>
        <p:spPr>
          <a:xfrm>
            <a:off x="4617720" y="4846320"/>
            <a:ext cx="2743200" cy="50292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PII masking &amp; Zero Data Retention</a:t>
            </a:r>
            <a:endParaRPr lang="en-US" sz="1100" dirty="0"/>
          </a:p>
        </p:txBody>
      </p:sp>
      <p:sp>
        <p:nvSpPr>
          <p:cNvPr id="16" name="Shape 14"/>
          <p:cNvSpPr/>
          <p:nvPr/>
        </p:nvSpPr>
        <p:spPr>
          <a:xfrm>
            <a:off x="7863840" y="4297680"/>
            <a:ext cx="3200400" cy="1188720"/>
          </a:xfrm>
          <a:prstGeom prst="roundRect">
            <a:avLst>
              <a:gd name="adj" fmla="val 9231"/>
            </a:avLst>
          </a:prstGeom>
          <a:solidFill>
            <a:srgbClr val="131B2E"/>
          </a:solidFill>
          <a:ln w="15240">
            <a:solidFill>
              <a:srgbClr val="233354"/>
            </a:solidFill>
            <a:prstDash val="solid"/>
          </a:ln>
        </p:spPr>
      </p:sp>
      <p:sp>
        <p:nvSpPr>
          <p:cNvPr id="17" name="Shape 15"/>
          <p:cNvSpPr/>
          <p:nvPr/>
        </p:nvSpPr>
        <p:spPr>
          <a:xfrm>
            <a:off x="7863840" y="4297680"/>
            <a:ext cx="73152" cy="1188720"/>
          </a:xfrm>
          <a:prstGeom prst="rect">
            <a:avLst/>
          </a:prstGeom>
          <a:solidFill>
            <a:srgbClr val="8B5CF6"/>
          </a:solidFill>
          <a:ln w="12700">
            <a:solidFill>
              <a:srgbClr val="8B5CF6"/>
            </a:solidFill>
            <a:prstDash val="solid"/>
          </a:ln>
        </p:spPr>
      </p:sp>
      <p:sp>
        <p:nvSpPr>
          <p:cNvPr id="18" name="Text 16"/>
          <p:cNvSpPr/>
          <p:nvPr/>
        </p:nvSpPr>
        <p:spPr>
          <a:xfrm>
            <a:off x="8092440" y="4480560"/>
            <a:ext cx="2743200" cy="3200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Builder Deployment</a:t>
            </a:r>
            <a:endParaRPr lang="en-US" sz="1400" dirty="0"/>
          </a:p>
        </p:txBody>
      </p:sp>
      <p:sp>
        <p:nvSpPr>
          <p:cNvPr id="19" name="Text 17"/>
          <p:cNvSpPr/>
          <p:nvPr/>
        </p:nvSpPr>
        <p:spPr>
          <a:xfrm>
            <a:off x="8092440" y="4846320"/>
            <a:ext cx="2743200" cy="50292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Topic modeling &amp; Action orchestration</a:t>
            </a:r>
            <a:endParaRPr lang="en-US" sz="1100" dirty="0"/>
          </a:p>
        </p:txBody>
      </p:sp>
      <p:sp>
        <p:nvSpPr>
          <p:cNvPr id="20" name="Text 18"/>
          <p:cNvSpPr/>
          <p:nvPr/>
        </p:nvSpPr>
        <p:spPr>
          <a:xfrm>
            <a:off x="914400" y="6217920"/>
            <a:ext cx="10360152"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Enterprise Architecture Enablement Deck  •  Day 1 of 20  •  For Architecture &amp; Engineering Teams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20040"/>
            <a:ext cx="1371600" cy="36576"/>
          </a:xfrm>
          <a:prstGeom prst="rect">
            <a:avLst/>
          </a:prstGeom>
          <a:solidFill>
            <a:srgbClr val="00A1E0"/>
          </a:solidFill>
          <a:ln w="12700">
            <a:solidFill>
              <a:srgbClr val="00A1E0"/>
            </a:solidFill>
            <a:prstDash val="solid"/>
          </a:ln>
        </p:spPr>
      </p:sp>
      <p:sp>
        <p:nvSpPr>
          <p:cNvPr id="3" name="Text 1"/>
          <p:cNvSpPr/>
          <p:nvPr/>
        </p:nvSpPr>
        <p:spPr>
          <a:xfrm>
            <a:off x="548640" y="411480"/>
            <a:ext cx="9144000" cy="22860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EXECUTIVE AGENDA</a:t>
            </a:r>
            <a:endParaRPr lang="en-US" sz="1000" dirty="0"/>
          </a:p>
        </p:txBody>
      </p:sp>
      <p:sp>
        <p:nvSpPr>
          <p:cNvPr id="4" name="Text 2"/>
          <p:cNvSpPr/>
          <p:nvPr/>
        </p:nvSpPr>
        <p:spPr>
          <a:xfrm>
            <a:off x="548640" y="658368"/>
            <a:ext cx="96012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Session Blueprint &amp; 120-Minute Delivery Schedule</a:t>
            </a:r>
            <a:endParaRPr lang="en-US" sz="2200" dirty="0"/>
          </a:p>
        </p:txBody>
      </p:sp>
      <p:sp>
        <p:nvSpPr>
          <p:cNvPr id="5" name="Shape 3"/>
          <p:cNvSpPr/>
          <p:nvPr/>
        </p:nvSpPr>
        <p:spPr>
          <a:xfrm>
            <a:off x="548640" y="1170432"/>
            <a:ext cx="11091672" cy="0"/>
          </a:xfrm>
          <a:prstGeom prst="line">
            <a:avLst/>
          </a:prstGeom>
          <a:noFill/>
          <a:ln w="12700">
            <a:solidFill>
              <a:srgbClr val="1E293B"/>
            </a:solidFill>
            <a:prstDash val="solid"/>
          </a:ln>
        </p:spPr>
      </p:sp>
      <p:sp>
        <p:nvSpPr>
          <p:cNvPr id="6"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Salesforce Agentforce &amp; Data 360 Enablement  •  Day 1: Atlas Reasoning Engine</a:t>
            </a:r>
            <a:endParaRPr lang="en-US" sz="900" dirty="0"/>
          </a:p>
        </p:txBody>
      </p:sp>
      <p:sp>
        <p:nvSpPr>
          <p:cNvPr id="7" name="Text 5"/>
          <p:cNvSpPr/>
          <p:nvPr/>
        </p:nvSpPr>
        <p:spPr>
          <a:xfrm>
            <a:off x="10515600" y="6492240"/>
            <a:ext cx="1124712" cy="274320"/>
          </a:xfrm>
          <a:prstGeom prst="rect">
            <a:avLst/>
          </a:prstGeom>
          <a:noFill/>
          <a:ln/>
        </p:spPr>
        <p:txBody>
          <a:bodyPr wrap="square" rtlCol="0" anchor="ctr"/>
          <a:lstStyle/>
          <a:p>
            <a:pPr algn="r" indent="0" marL="0">
              <a:buNone/>
            </a:pPr>
            <a:r>
              <a:rPr lang="en-US" sz="900" b="1" dirty="0">
                <a:solidFill>
                  <a:srgbClr val="00A1E0"/>
                </a:solidFill>
                <a:latin typeface="Arial" pitchFamily="34" charset="0"/>
                <a:ea typeface="Arial" pitchFamily="34" charset="-122"/>
                <a:cs typeface="Arial" pitchFamily="34" charset="-120"/>
              </a:rPr>
              <a:t>2 / 12</a:t>
            </a:r>
            <a:endParaRPr lang="en-US" sz="900" dirty="0"/>
          </a:p>
        </p:txBody>
      </p:sp>
      <p:sp>
        <p:nvSpPr>
          <p:cNvPr id="8" name="Shape 6"/>
          <p:cNvSpPr/>
          <p:nvPr/>
        </p:nvSpPr>
        <p:spPr>
          <a:xfrm>
            <a:off x="548640" y="1417320"/>
            <a:ext cx="2697480" cy="4023360"/>
          </a:xfrm>
          <a:prstGeom prst="roundRect">
            <a:avLst>
              <a:gd name="adj" fmla="val 3390"/>
            </a:avLst>
          </a:prstGeom>
          <a:solidFill>
            <a:srgbClr val="131B2E"/>
          </a:solidFill>
          <a:ln w="15240">
            <a:solidFill>
              <a:srgbClr val="233354"/>
            </a:solidFill>
            <a:prstDash val="solid"/>
          </a:ln>
        </p:spPr>
      </p:sp>
      <p:sp>
        <p:nvSpPr>
          <p:cNvPr id="9" name="Shape 7"/>
          <p:cNvSpPr/>
          <p:nvPr/>
        </p:nvSpPr>
        <p:spPr>
          <a:xfrm>
            <a:off x="548640" y="1417320"/>
            <a:ext cx="2697480" cy="73152"/>
          </a:xfrm>
          <a:prstGeom prst="rect">
            <a:avLst/>
          </a:prstGeom>
          <a:solidFill>
            <a:srgbClr val="00A1E0"/>
          </a:solidFill>
          <a:ln w="12700">
            <a:solidFill>
              <a:srgbClr val="00A1E0"/>
            </a:solidFill>
            <a:prstDash val="solid"/>
          </a:ln>
        </p:spPr>
      </p:sp>
      <p:sp>
        <p:nvSpPr>
          <p:cNvPr id="10" name="Shape 8"/>
          <p:cNvSpPr/>
          <p:nvPr/>
        </p:nvSpPr>
        <p:spPr>
          <a:xfrm>
            <a:off x="731520" y="1600200"/>
            <a:ext cx="1371600" cy="274320"/>
          </a:xfrm>
          <a:prstGeom prst="roundRect">
            <a:avLst>
              <a:gd name="adj" fmla="val 26667"/>
            </a:avLst>
          </a:prstGeom>
          <a:solidFill>
            <a:srgbClr val="1E293B"/>
          </a:solidFill>
          <a:ln w="12700">
            <a:solidFill>
              <a:srgbClr val="00A1E0"/>
            </a:solidFill>
            <a:prstDash val="solid"/>
          </a:ln>
        </p:spPr>
      </p:sp>
      <p:sp>
        <p:nvSpPr>
          <p:cNvPr id="11" name="Text 9"/>
          <p:cNvSpPr/>
          <p:nvPr/>
        </p:nvSpPr>
        <p:spPr>
          <a:xfrm>
            <a:off x="731520" y="1600200"/>
            <a:ext cx="1371600" cy="274320"/>
          </a:xfrm>
          <a:prstGeom prst="rect">
            <a:avLst/>
          </a:prstGeom>
          <a:noFill/>
          <a:ln/>
        </p:spPr>
        <p:txBody>
          <a:bodyPr wrap="square" rtlCol="0" anchor="ctr"/>
          <a:lstStyle/>
          <a:p>
            <a:pPr algn="ctr" indent="0" marL="0">
              <a:buNone/>
            </a:pPr>
            <a:r>
              <a:rPr lang="en-US" sz="900" b="1" dirty="0">
                <a:solidFill>
                  <a:srgbClr val="00A1E0"/>
                </a:solidFill>
                <a:latin typeface="Arial" pitchFamily="34" charset="0"/>
                <a:ea typeface="Arial" pitchFamily="34" charset="-122"/>
                <a:cs typeface="Arial" pitchFamily="34" charset="-120"/>
              </a:rPr>
              <a:t>00:00 - 00:25</a:t>
            </a:r>
            <a:endParaRPr lang="en-US" sz="900" dirty="0"/>
          </a:p>
        </p:txBody>
      </p:sp>
      <p:sp>
        <p:nvSpPr>
          <p:cNvPr id="12" name="Text 10"/>
          <p:cNvSpPr/>
          <p:nvPr/>
        </p:nvSpPr>
        <p:spPr>
          <a:xfrm>
            <a:off x="2194560" y="1600200"/>
            <a:ext cx="8686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Mins</a:t>
            </a:r>
            <a:endParaRPr lang="en-US" sz="900" dirty="0"/>
          </a:p>
        </p:txBody>
      </p:sp>
      <p:sp>
        <p:nvSpPr>
          <p:cNvPr id="13" name="Text 11"/>
          <p:cNvSpPr/>
          <p:nvPr/>
        </p:nvSpPr>
        <p:spPr>
          <a:xfrm>
            <a:off x="731520" y="2011680"/>
            <a:ext cx="2331720" cy="64008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1. The Paradigm Shift &amp; Atlas Engine</a:t>
            </a:r>
            <a:endParaRPr lang="en-US" sz="1300" dirty="0"/>
          </a:p>
        </p:txBody>
      </p:sp>
      <p:sp>
        <p:nvSpPr>
          <p:cNvPr id="14" name="Text 12"/>
          <p:cNvSpPr/>
          <p:nvPr/>
        </p:nvSpPr>
        <p:spPr>
          <a:xfrm>
            <a:off x="731520" y="2743200"/>
            <a:ext cx="2331720" cy="2468880"/>
          </a:xfrm>
          <a:prstGeom prst="rect">
            <a:avLst/>
          </a:prstGeom>
          <a:noFill/>
          <a:ln/>
        </p:spPr>
        <p:txBody>
          <a:bodyPr wrap="square" rtlCol="0" anchor="ctr"/>
          <a:lstStyle/>
          <a:p>
            <a:pPr indent="0" marL="0">
              <a:lnSpc>
                <a:spcPts val="1600"/>
              </a:lnSpc>
              <a:buNone/>
            </a:pPr>
            <a:r>
              <a:rPr lang="en-US" sz="1000" dirty="0">
                <a:solidFill>
                  <a:srgbClr val="E2E8F0"/>
                </a:solidFill>
                <a:latin typeface="Arial" pitchFamily="34" charset="0"/>
                <a:ea typeface="Arial" pitchFamily="34" charset="-122"/>
                <a:cs typeface="Arial" pitchFamily="34" charset="-120"/>
              </a:rPr>
              <a:t>• From deterministic chatbots to autonomous AI agents</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 The ReAct cognitive paradigm: Thought, Action, Observation</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 Architecture of the Atlas Reasoning Engine</a:t>
            </a:r>
            <a:endParaRPr lang="en-US" sz="1000" dirty="0"/>
          </a:p>
        </p:txBody>
      </p:sp>
      <p:sp>
        <p:nvSpPr>
          <p:cNvPr id="15" name="Shape 13"/>
          <p:cNvSpPr/>
          <p:nvPr/>
        </p:nvSpPr>
        <p:spPr>
          <a:xfrm>
            <a:off x="3364992" y="1417320"/>
            <a:ext cx="2697480" cy="4023360"/>
          </a:xfrm>
          <a:prstGeom prst="roundRect">
            <a:avLst>
              <a:gd name="adj" fmla="val 3390"/>
            </a:avLst>
          </a:prstGeom>
          <a:solidFill>
            <a:srgbClr val="131B2E"/>
          </a:solidFill>
          <a:ln w="15240">
            <a:solidFill>
              <a:srgbClr val="233354"/>
            </a:solidFill>
            <a:prstDash val="solid"/>
          </a:ln>
        </p:spPr>
      </p:sp>
      <p:sp>
        <p:nvSpPr>
          <p:cNvPr id="16" name="Shape 14"/>
          <p:cNvSpPr/>
          <p:nvPr/>
        </p:nvSpPr>
        <p:spPr>
          <a:xfrm>
            <a:off x="3364992" y="1417320"/>
            <a:ext cx="2697480" cy="73152"/>
          </a:xfrm>
          <a:prstGeom prst="rect">
            <a:avLst/>
          </a:prstGeom>
          <a:solidFill>
            <a:srgbClr val="10B981"/>
          </a:solidFill>
          <a:ln w="12700">
            <a:solidFill>
              <a:srgbClr val="10B981"/>
            </a:solidFill>
            <a:prstDash val="solid"/>
          </a:ln>
        </p:spPr>
      </p:sp>
      <p:sp>
        <p:nvSpPr>
          <p:cNvPr id="17" name="Shape 15"/>
          <p:cNvSpPr/>
          <p:nvPr/>
        </p:nvSpPr>
        <p:spPr>
          <a:xfrm>
            <a:off x="3547872" y="1600200"/>
            <a:ext cx="1371600" cy="274320"/>
          </a:xfrm>
          <a:prstGeom prst="roundRect">
            <a:avLst>
              <a:gd name="adj" fmla="val 26667"/>
            </a:avLst>
          </a:prstGeom>
          <a:solidFill>
            <a:srgbClr val="1E293B"/>
          </a:solidFill>
          <a:ln w="12700">
            <a:solidFill>
              <a:srgbClr val="10B981"/>
            </a:solidFill>
            <a:prstDash val="solid"/>
          </a:ln>
        </p:spPr>
      </p:sp>
      <p:sp>
        <p:nvSpPr>
          <p:cNvPr id="18" name="Text 16"/>
          <p:cNvSpPr/>
          <p:nvPr/>
        </p:nvSpPr>
        <p:spPr>
          <a:xfrm>
            <a:off x="3547872" y="1600200"/>
            <a:ext cx="1371600" cy="274320"/>
          </a:xfrm>
          <a:prstGeom prst="rect">
            <a:avLst/>
          </a:prstGeom>
          <a:noFill/>
          <a:ln/>
        </p:spPr>
        <p:txBody>
          <a:bodyPr wrap="square" rtlCol="0" anchor="ctr"/>
          <a:lstStyle/>
          <a:p>
            <a:pPr algn="ctr" indent="0" marL="0">
              <a:buNone/>
            </a:pPr>
            <a:r>
              <a:rPr lang="en-US" sz="900" b="1" dirty="0">
                <a:solidFill>
                  <a:srgbClr val="10B981"/>
                </a:solidFill>
                <a:latin typeface="Arial" pitchFamily="34" charset="0"/>
                <a:ea typeface="Arial" pitchFamily="34" charset="-122"/>
                <a:cs typeface="Arial" pitchFamily="34" charset="-120"/>
              </a:rPr>
              <a:t>00:25 - 00:55</a:t>
            </a:r>
            <a:endParaRPr lang="en-US" sz="900" dirty="0"/>
          </a:p>
        </p:txBody>
      </p:sp>
      <p:sp>
        <p:nvSpPr>
          <p:cNvPr id="19" name="Text 17"/>
          <p:cNvSpPr/>
          <p:nvPr/>
        </p:nvSpPr>
        <p:spPr>
          <a:xfrm>
            <a:off x="5010912" y="1600200"/>
            <a:ext cx="8686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30 Mins</a:t>
            </a:r>
            <a:endParaRPr lang="en-US" sz="900" dirty="0"/>
          </a:p>
        </p:txBody>
      </p:sp>
      <p:sp>
        <p:nvSpPr>
          <p:cNvPr id="20" name="Text 18"/>
          <p:cNvSpPr/>
          <p:nvPr/>
        </p:nvSpPr>
        <p:spPr>
          <a:xfrm>
            <a:off x="3547872" y="2011680"/>
            <a:ext cx="2331720" cy="64008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2. The 3 Architecture Pillars &amp; Trust Layer</a:t>
            </a:r>
            <a:endParaRPr lang="en-US" sz="1300" dirty="0"/>
          </a:p>
        </p:txBody>
      </p:sp>
      <p:sp>
        <p:nvSpPr>
          <p:cNvPr id="21" name="Text 19"/>
          <p:cNvSpPr/>
          <p:nvPr/>
        </p:nvSpPr>
        <p:spPr>
          <a:xfrm>
            <a:off x="3547872" y="2743200"/>
            <a:ext cx="2331720" cy="2468880"/>
          </a:xfrm>
          <a:prstGeom prst="rect">
            <a:avLst/>
          </a:prstGeom>
          <a:noFill/>
          <a:ln/>
        </p:spPr>
        <p:txBody>
          <a:bodyPr wrap="square" rtlCol="0" anchor="ctr"/>
          <a:lstStyle/>
          <a:p>
            <a:pPr indent="0" marL="0">
              <a:lnSpc>
                <a:spcPts val="1600"/>
              </a:lnSpc>
              <a:buNone/>
            </a:pPr>
            <a:r>
              <a:rPr lang="en-US" sz="1000" dirty="0">
                <a:solidFill>
                  <a:srgbClr val="E2E8F0"/>
                </a:solidFill>
                <a:latin typeface="Arial" pitchFamily="34" charset="0"/>
                <a:ea typeface="Arial" pitchFamily="34" charset="-122"/>
                <a:cs typeface="Arial" pitchFamily="34" charset="-120"/>
              </a:rPr>
              <a:t>• Taxonomy: Agent Persona, Topic Boundaries, Action Tools</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 Foundation LLM orchestration &amp; models</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 Einstein Trust Layer: PII masking, Zero Data Retention (ZDR)</a:t>
            </a:r>
            <a:endParaRPr lang="en-US" sz="1000" dirty="0"/>
          </a:p>
        </p:txBody>
      </p:sp>
      <p:sp>
        <p:nvSpPr>
          <p:cNvPr id="22" name="Shape 20"/>
          <p:cNvSpPr/>
          <p:nvPr/>
        </p:nvSpPr>
        <p:spPr>
          <a:xfrm>
            <a:off x="6181344" y="1417320"/>
            <a:ext cx="2697480" cy="4023360"/>
          </a:xfrm>
          <a:prstGeom prst="roundRect">
            <a:avLst>
              <a:gd name="adj" fmla="val 3390"/>
            </a:avLst>
          </a:prstGeom>
          <a:solidFill>
            <a:srgbClr val="131B2E"/>
          </a:solidFill>
          <a:ln w="15240">
            <a:solidFill>
              <a:srgbClr val="233354"/>
            </a:solidFill>
            <a:prstDash val="solid"/>
          </a:ln>
        </p:spPr>
      </p:sp>
      <p:sp>
        <p:nvSpPr>
          <p:cNvPr id="23" name="Shape 21"/>
          <p:cNvSpPr/>
          <p:nvPr/>
        </p:nvSpPr>
        <p:spPr>
          <a:xfrm>
            <a:off x="6181344" y="1417320"/>
            <a:ext cx="2697480" cy="73152"/>
          </a:xfrm>
          <a:prstGeom prst="rect">
            <a:avLst/>
          </a:prstGeom>
          <a:solidFill>
            <a:srgbClr val="8B5CF6"/>
          </a:solidFill>
          <a:ln w="12700">
            <a:solidFill>
              <a:srgbClr val="8B5CF6"/>
            </a:solidFill>
            <a:prstDash val="solid"/>
          </a:ln>
        </p:spPr>
      </p:sp>
      <p:sp>
        <p:nvSpPr>
          <p:cNvPr id="24" name="Shape 22"/>
          <p:cNvSpPr/>
          <p:nvPr/>
        </p:nvSpPr>
        <p:spPr>
          <a:xfrm>
            <a:off x="6364224" y="1600200"/>
            <a:ext cx="1371600" cy="274320"/>
          </a:xfrm>
          <a:prstGeom prst="roundRect">
            <a:avLst>
              <a:gd name="adj" fmla="val 26667"/>
            </a:avLst>
          </a:prstGeom>
          <a:solidFill>
            <a:srgbClr val="1E293B"/>
          </a:solidFill>
          <a:ln w="12700">
            <a:solidFill>
              <a:srgbClr val="8B5CF6"/>
            </a:solidFill>
            <a:prstDash val="solid"/>
          </a:ln>
        </p:spPr>
      </p:sp>
      <p:sp>
        <p:nvSpPr>
          <p:cNvPr id="25" name="Text 23"/>
          <p:cNvSpPr/>
          <p:nvPr/>
        </p:nvSpPr>
        <p:spPr>
          <a:xfrm>
            <a:off x="6364224" y="1600200"/>
            <a:ext cx="1371600" cy="274320"/>
          </a:xfrm>
          <a:prstGeom prst="rect">
            <a:avLst/>
          </a:prstGeom>
          <a:noFill/>
          <a:ln/>
        </p:spPr>
        <p:txBody>
          <a:bodyPr wrap="square" rtlCol="0" anchor="ctr"/>
          <a:lstStyle/>
          <a:p>
            <a:pPr algn="ctr" indent="0" marL="0">
              <a:buNone/>
            </a:pPr>
            <a:r>
              <a:rPr lang="en-US" sz="900" b="1" dirty="0">
                <a:solidFill>
                  <a:srgbClr val="8B5CF6"/>
                </a:solidFill>
                <a:latin typeface="Arial" pitchFamily="34" charset="0"/>
                <a:ea typeface="Arial" pitchFamily="34" charset="-122"/>
                <a:cs typeface="Arial" pitchFamily="34" charset="-120"/>
              </a:rPr>
              <a:t>00:55 - 01:35</a:t>
            </a:r>
            <a:endParaRPr lang="en-US" sz="900" dirty="0"/>
          </a:p>
        </p:txBody>
      </p:sp>
      <p:sp>
        <p:nvSpPr>
          <p:cNvPr id="26" name="Text 24"/>
          <p:cNvSpPr/>
          <p:nvPr/>
        </p:nvSpPr>
        <p:spPr>
          <a:xfrm>
            <a:off x="7827264" y="1600200"/>
            <a:ext cx="8686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40 Mins</a:t>
            </a:r>
            <a:endParaRPr lang="en-US" sz="900" dirty="0"/>
          </a:p>
        </p:txBody>
      </p:sp>
      <p:sp>
        <p:nvSpPr>
          <p:cNvPr id="27" name="Text 25"/>
          <p:cNvSpPr/>
          <p:nvPr/>
        </p:nvSpPr>
        <p:spPr>
          <a:xfrm>
            <a:off x="6364224" y="2011680"/>
            <a:ext cx="2331720" cy="64008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3. Hands-On Builder Walkthrough</a:t>
            </a:r>
            <a:endParaRPr lang="en-US" sz="1300" dirty="0"/>
          </a:p>
        </p:txBody>
      </p:sp>
      <p:sp>
        <p:nvSpPr>
          <p:cNvPr id="28" name="Text 26"/>
          <p:cNvSpPr/>
          <p:nvPr/>
        </p:nvSpPr>
        <p:spPr>
          <a:xfrm>
            <a:off x="6364224" y="2743200"/>
            <a:ext cx="2331720" cy="2468880"/>
          </a:xfrm>
          <a:prstGeom prst="rect">
            <a:avLst/>
          </a:prstGeom>
          <a:noFill/>
          <a:ln/>
        </p:spPr>
        <p:txBody>
          <a:bodyPr wrap="square" rtlCol="0" anchor="ctr"/>
          <a:lstStyle/>
          <a:p>
            <a:pPr indent="0" marL="0">
              <a:lnSpc>
                <a:spcPts val="1600"/>
              </a:lnSpc>
              <a:buNone/>
            </a:pPr>
            <a:r>
              <a:rPr lang="en-US" sz="1000" dirty="0">
                <a:solidFill>
                  <a:srgbClr val="E2E8F0"/>
                </a:solidFill>
                <a:latin typeface="Arial" pitchFamily="34" charset="0"/>
                <a:ea typeface="Arial" pitchFamily="34" charset="-122"/>
                <a:cs typeface="Arial" pitchFamily="34" charset="-120"/>
              </a:rPr>
              <a:t>• Einstein Setup &amp; Agentforce Studio configuration</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 Configuring Topics, Scope rules, and Action bindings</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 Live preview testing with unstructured utterances</a:t>
            </a:r>
            <a:endParaRPr lang="en-US" sz="1000" dirty="0"/>
          </a:p>
        </p:txBody>
      </p:sp>
      <p:sp>
        <p:nvSpPr>
          <p:cNvPr id="29" name="Shape 27"/>
          <p:cNvSpPr/>
          <p:nvPr/>
        </p:nvSpPr>
        <p:spPr>
          <a:xfrm>
            <a:off x="8997696" y="1417320"/>
            <a:ext cx="2697480" cy="4023360"/>
          </a:xfrm>
          <a:prstGeom prst="roundRect">
            <a:avLst>
              <a:gd name="adj" fmla="val 3390"/>
            </a:avLst>
          </a:prstGeom>
          <a:solidFill>
            <a:srgbClr val="131B2E"/>
          </a:solidFill>
          <a:ln w="15240">
            <a:solidFill>
              <a:srgbClr val="233354"/>
            </a:solidFill>
            <a:prstDash val="solid"/>
          </a:ln>
        </p:spPr>
      </p:sp>
      <p:sp>
        <p:nvSpPr>
          <p:cNvPr id="30" name="Shape 28"/>
          <p:cNvSpPr/>
          <p:nvPr/>
        </p:nvSpPr>
        <p:spPr>
          <a:xfrm>
            <a:off x="8997696" y="1417320"/>
            <a:ext cx="2697480" cy="73152"/>
          </a:xfrm>
          <a:prstGeom prst="rect">
            <a:avLst/>
          </a:prstGeom>
          <a:solidFill>
            <a:srgbClr val="F59E0B"/>
          </a:solidFill>
          <a:ln w="12700">
            <a:solidFill>
              <a:srgbClr val="F59E0B"/>
            </a:solidFill>
            <a:prstDash val="solid"/>
          </a:ln>
        </p:spPr>
      </p:sp>
      <p:sp>
        <p:nvSpPr>
          <p:cNvPr id="31" name="Shape 29"/>
          <p:cNvSpPr/>
          <p:nvPr/>
        </p:nvSpPr>
        <p:spPr>
          <a:xfrm>
            <a:off x="9180576" y="1600200"/>
            <a:ext cx="1371600" cy="274320"/>
          </a:xfrm>
          <a:prstGeom prst="roundRect">
            <a:avLst>
              <a:gd name="adj" fmla="val 26667"/>
            </a:avLst>
          </a:prstGeom>
          <a:solidFill>
            <a:srgbClr val="1E293B"/>
          </a:solidFill>
          <a:ln w="12700">
            <a:solidFill>
              <a:srgbClr val="F59E0B"/>
            </a:solidFill>
            <a:prstDash val="solid"/>
          </a:ln>
        </p:spPr>
      </p:sp>
      <p:sp>
        <p:nvSpPr>
          <p:cNvPr id="32" name="Text 30"/>
          <p:cNvSpPr/>
          <p:nvPr/>
        </p:nvSpPr>
        <p:spPr>
          <a:xfrm>
            <a:off x="9180576" y="1600200"/>
            <a:ext cx="1371600" cy="274320"/>
          </a:xfrm>
          <a:prstGeom prst="rect">
            <a:avLst/>
          </a:prstGeom>
          <a:noFill/>
          <a:ln/>
        </p:spPr>
        <p:txBody>
          <a:bodyPr wrap="square"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01:35 - 02:00</a:t>
            </a:r>
            <a:endParaRPr lang="en-US" sz="900" dirty="0"/>
          </a:p>
        </p:txBody>
      </p:sp>
      <p:sp>
        <p:nvSpPr>
          <p:cNvPr id="33" name="Text 31"/>
          <p:cNvSpPr/>
          <p:nvPr/>
        </p:nvSpPr>
        <p:spPr>
          <a:xfrm>
            <a:off x="10643616" y="1600200"/>
            <a:ext cx="86868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25 Mins</a:t>
            </a:r>
            <a:endParaRPr lang="en-US" sz="900" dirty="0"/>
          </a:p>
        </p:txBody>
      </p:sp>
      <p:sp>
        <p:nvSpPr>
          <p:cNvPr id="34" name="Text 32"/>
          <p:cNvSpPr/>
          <p:nvPr/>
        </p:nvSpPr>
        <p:spPr>
          <a:xfrm>
            <a:off x="9180576" y="2011680"/>
            <a:ext cx="2331720" cy="64008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4. Tracing, Pitfalls &amp; Verification Quiz</a:t>
            </a:r>
            <a:endParaRPr lang="en-US" sz="1300" dirty="0"/>
          </a:p>
        </p:txBody>
      </p:sp>
      <p:sp>
        <p:nvSpPr>
          <p:cNvPr id="35" name="Text 33"/>
          <p:cNvSpPr/>
          <p:nvPr/>
        </p:nvSpPr>
        <p:spPr>
          <a:xfrm>
            <a:off x="9180576" y="2743200"/>
            <a:ext cx="2331720" cy="2468880"/>
          </a:xfrm>
          <a:prstGeom prst="rect">
            <a:avLst/>
          </a:prstGeom>
          <a:noFill/>
          <a:ln/>
        </p:spPr>
        <p:txBody>
          <a:bodyPr wrap="square" rtlCol="0" anchor="ctr"/>
          <a:lstStyle/>
          <a:p>
            <a:pPr indent="0" marL="0">
              <a:lnSpc>
                <a:spcPts val="1600"/>
              </a:lnSpc>
              <a:buNone/>
            </a:pPr>
            <a:r>
              <a:rPr lang="en-US" sz="1000" dirty="0">
                <a:solidFill>
                  <a:srgbClr val="E2E8F0"/>
                </a:solidFill>
                <a:latin typeface="Arial" pitchFamily="34" charset="0"/>
                <a:ea typeface="Arial" pitchFamily="34" charset="-122"/>
                <a:cs typeface="Arial" pitchFamily="34" charset="-120"/>
              </a:rPr>
              <a:t>• Deconstructing the Agentforce Reasoning Log trace</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 Top 4 production architecture traps &amp; governor limits</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 Day 1 architecture checkpoint quiz &amp; Q&amp;A</a:t>
            </a:r>
            <a:endParaRPr lang="en-US" sz="1000" dirty="0"/>
          </a:p>
        </p:txBody>
      </p:sp>
      <p:sp>
        <p:nvSpPr>
          <p:cNvPr id="36" name="Shape 34"/>
          <p:cNvSpPr/>
          <p:nvPr/>
        </p:nvSpPr>
        <p:spPr>
          <a:xfrm>
            <a:off x="548640" y="5577840"/>
            <a:ext cx="11091672" cy="685800"/>
          </a:xfrm>
          <a:prstGeom prst="roundRect">
            <a:avLst>
              <a:gd name="adj" fmla="val 10667"/>
            </a:avLst>
          </a:prstGeom>
          <a:solidFill>
            <a:srgbClr val="0D1527"/>
          </a:solidFill>
          <a:ln w="12700">
            <a:solidFill>
              <a:srgbClr val="00A1E0"/>
            </a:solidFill>
            <a:prstDash val="solid"/>
          </a:ln>
        </p:spPr>
      </p:sp>
      <p:sp>
        <p:nvSpPr>
          <p:cNvPr id="37" name="Text 35"/>
          <p:cNvSpPr/>
          <p:nvPr/>
        </p:nvSpPr>
        <p:spPr>
          <a:xfrm>
            <a:off x="731520" y="5650992"/>
            <a:ext cx="10698480" cy="54864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Core Architecture Objective: Equip engineering teams to architect, deploy, and debug autonomous Agentforce agents in under 2 hours without relying on static if-then decision trees or manual dialog routing.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20040"/>
            <a:ext cx="1371600" cy="36576"/>
          </a:xfrm>
          <a:prstGeom prst="rect">
            <a:avLst/>
          </a:prstGeom>
          <a:solidFill>
            <a:srgbClr val="00A1E0"/>
          </a:solidFill>
          <a:ln w="12700">
            <a:solidFill>
              <a:srgbClr val="00A1E0"/>
            </a:solidFill>
            <a:prstDash val="solid"/>
          </a:ln>
        </p:spPr>
      </p:sp>
      <p:sp>
        <p:nvSpPr>
          <p:cNvPr id="3" name="Text 1"/>
          <p:cNvSpPr/>
          <p:nvPr/>
        </p:nvSpPr>
        <p:spPr>
          <a:xfrm>
            <a:off x="548640" y="411480"/>
            <a:ext cx="9144000" cy="22860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FOUNDATIONAL CONCEPTS</a:t>
            </a:r>
            <a:endParaRPr lang="en-US" sz="1000" dirty="0"/>
          </a:p>
        </p:txBody>
      </p:sp>
      <p:sp>
        <p:nvSpPr>
          <p:cNvPr id="4" name="Text 2"/>
          <p:cNvSpPr/>
          <p:nvPr/>
        </p:nvSpPr>
        <p:spPr>
          <a:xfrm>
            <a:off x="548640" y="658368"/>
            <a:ext cx="96012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The Paradigm Shift: Bots vs Autonomous Agents</a:t>
            </a:r>
            <a:endParaRPr lang="en-US" sz="2200" dirty="0"/>
          </a:p>
        </p:txBody>
      </p:sp>
      <p:sp>
        <p:nvSpPr>
          <p:cNvPr id="5" name="Shape 3"/>
          <p:cNvSpPr/>
          <p:nvPr/>
        </p:nvSpPr>
        <p:spPr>
          <a:xfrm>
            <a:off x="548640" y="1170432"/>
            <a:ext cx="11091672" cy="0"/>
          </a:xfrm>
          <a:prstGeom prst="line">
            <a:avLst/>
          </a:prstGeom>
          <a:noFill/>
          <a:ln w="12700">
            <a:solidFill>
              <a:srgbClr val="1E293B"/>
            </a:solidFill>
            <a:prstDash val="solid"/>
          </a:ln>
        </p:spPr>
      </p:sp>
      <p:sp>
        <p:nvSpPr>
          <p:cNvPr id="6"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Salesforce Agentforce &amp; Data 360 Enablement  •  Day 1: Atlas Reasoning Engine</a:t>
            </a:r>
            <a:endParaRPr lang="en-US" sz="900" dirty="0"/>
          </a:p>
        </p:txBody>
      </p:sp>
      <p:sp>
        <p:nvSpPr>
          <p:cNvPr id="7" name="Text 5"/>
          <p:cNvSpPr/>
          <p:nvPr/>
        </p:nvSpPr>
        <p:spPr>
          <a:xfrm>
            <a:off x="10515600" y="6492240"/>
            <a:ext cx="1124712" cy="274320"/>
          </a:xfrm>
          <a:prstGeom prst="rect">
            <a:avLst/>
          </a:prstGeom>
          <a:noFill/>
          <a:ln/>
        </p:spPr>
        <p:txBody>
          <a:bodyPr wrap="square" rtlCol="0" anchor="ctr"/>
          <a:lstStyle/>
          <a:p>
            <a:pPr algn="r" indent="0" marL="0">
              <a:buNone/>
            </a:pPr>
            <a:r>
              <a:rPr lang="en-US" sz="900" b="1" dirty="0">
                <a:solidFill>
                  <a:srgbClr val="00A1E0"/>
                </a:solidFill>
                <a:latin typeface="Arial" pitchFamily="34" charset="0"/>
                <a:ea typeface="Arial" pitchFamily="34" charset="-122"/>
                <a:cs typeface="Arial" pitchFamily="34" charset="-120"/>
              </a:rPr>
              <a:t>3 / 12</a:t>
            </a:r>
            <a:endParaRPr lang="en-US" sz="900" dirty="0"/>
          </a:p>
        </p:txBody>
      </p:sp>
      <p:sp>
        <p:nvSpPr>
          <p:cNvPr id="8" name="Shape 6"/>
          <p:cNvSpPr/>
          <p:nvPr/>
        </p:nvSpPr>
        <p:spPr>
          <a:xfrm>
            <a:off x="548640" y="1371600"/>
            <a:ext cx="5394960" cy="4846320"/>
          </a:xfrm>
          <a:prstGeom prst="roundRect">
            <a:avLst>
              <a:gd name="adj" fmla="val 1887"/>
            </a:avLst>
          </a:prstGeom>
          <a:solidFill>
            <a:srgbClr val="131B2E"/>
          </a:solidFill>
          <a:ln w="15240">
            <a:solidFill>
              <a:srgbClr val="F43F5E"/>
            </a:solidFill>
            <a:prstDash val="solid"/>
          </a:ln>
        </p:spPr>
      </p:sp>
      <p:sp>
        <p:nvSpPr>
          <p:cNvPr id="9" name="Shape 7"/>
          <p:cNvSpPr/>
          <p:nvPr/>
        </p:nvSpPr>
        <p:spPr>
          <a:xfrm>
            <a:off x="548640" y="1371600"/>
            <a:ext cx="5394960" cy="73152"/>
          </a:xfrm>
          <a:prstGeom prst="rect">
            <a:avLst/>
          </a:prstGeom>
          <a:solidFill>
            <a:srgbClr val="F43F5E"/>
          </a:solidFill>
          <a:ln w="12700">
            <a:solidFill>
              <a:srgbClr val="F43F5E"/>
            </a:solidFill>
            <a:prstDash val="solid"/>
          </a:ln>
        </p:spPr>
      </p:sp>
      <p:sp>
        <p:nvSpPr>
          <p:cNvPr id="10" name="Text 8"/>
          <p:cNvSpPr/>
          <p:nvPr/>
        </p:nvSpPr>
        <p:spPr>
          <a:xfrm>
            <a:off x="822960" y="1554480"/>
            <a:ext cx="4846320" cy="320040"/>
          </a:xfrm>
          <a:prstGeom prst="rect">
            <a:avLst/>
          </a:prstGeom>
          <a:noFill/>
          <a:ln/>
        </p:spPr>
        <p:txBody>
          <a:bodyPr wrap="square" rtlCol="0" anchor="ctr"/>
          <a:lstStyle/>
          <a:p>
            <a:pPr indent="0" marL="0">
              <a:buNone/>
            </a:pPr>
            <a:r>
              <a:rPr lang="en-US" sz="1100" b="1" dirty="0">
                <a:solidFill>
                  <a:srgbClr val="F43F5E"/>
                </a:solidFill>
                <a:latin typeface="Arial" pitchFamily="34" charset="0"/>
                <a:ea typeface="Arial" pitchFamily="34" charset="-122"/>
                <a:cs typeface="Arial" pitchFamily="34" charset="-120"/>
              </a:rPr>
              <a:t>LEGACY DETERMINISTIC CHATBOTS (EINSTEIN BOTS)</a:t>
            </a:r>
            <a:endParaRPr lang="en-US" sz="1100" dirty="0"/>
          </a:p>
        </p:txBody>
      </p:sp>
      <p:sp>
        <p:nvSpPr>
          <p:cNvPr id="11" name="Text 9"/>
          <p:cNvSpPr/>
          <p:nvPr/>
        </p:nvSpPr>
        <p:spPr>
          <a:xfrm>
            <a:off x="822960" y="1874520"/>
            <a:ext cx="4846320" cy="36576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Rigid Decision Trees &amp; Static Branching</a:t>
            </a:r>
            <a:endParaRPr lang="en-US" sz="1600" dirty="0"/>
          </a:p>
        </p:txBody>
      </p:sp>
      <p:sp>
        <p:nvSpPr>
          <p:cNvPr id="12" name="Text 10"/>
          <p:cNvSpPr/>
          <p:nvPr/>
        </p:nvSpPr>
        <p:spPr>
          <a:xfrm>
            <a:off x="822960" y="2331720"/>
            <a:ext cx="4846320" cy="3657600"/>
          </a:xfrm>
          <a:prstGeom prst="rect">
            <a:avLst/>
          </a:prstGeom>
          <a:noFill/>
          <a:ln/>
        </p:spPr>
        <p:txBody>
          <a:bodyPr wrap="square" rtlCol="0" anchor="ctr"/>
          <a:lstStyle/>
          <a:p>
            <a:pPr indent="0" marL="0">
              <a:lnSpc>
                <a:spcPts val="1800"/>
              </a:lnSpc>
              <a:buNone/>
            </a:pPr>
            <a:r>
              <a:rPr lang="en-US" sz="1100" dirty="0">
                <a:solidFill>
                  <a:srgbClr val="E2E8F0"/>
                </a:solidFill>
                <a:latin typeface="Arial" pitchFamily="34" charset="0"/>
                <a:ea typeface="Arial" pitchFamily="34" charset="-122"/>
                <a:cs typeface="Arial" pitchFamily="34" charset="-120"/>
              </a:rPr>
              <a:t>❌  Fixed Dialog Flows: Relies on pre-programmed if-then scripts; breaks as soon as a user veers off course.</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Arial" pitchFamily="34" charset="0"/>
                <a:ea typeface="Arial" pitchFamily="34" charset="-122"/>
                <a:cs typeface="Arial" pitchFamily="34" charset="-120"/>
              </a:rPr>
              <a:t>❌  Keyword &amp; Regex Matching: Easily fooled by misspellings, colloquial expressions, or compound requests.</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Arial" pitchFamily="34" charset="0"/>
                <a:ea typeface="Arial" pitchFamily="34" charset="-122"/>
                <a:cs typeface="Arial" pitchFamily="34" charset="-120"/>
              </a:rPr>
              <a:t>❌  Brittle Integration: Every single branching condition requires hardcoded invocations and manual state variables.</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Arial" pitchFamily="34" charset="0"/>
                <a:ea typeface="Arial" pitchFamily="34" charset="-122"/>
                <a:cs typeface="Arial" pitchFamily="34" charset="-120"/>
              </a:rPr>
              <a:t>❌  Zero Real-Time Reasoning: Incapable of synthesizing multiple data sources on the fly; outputs static canned replies.</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Arial" pitchFamily="34" charset="0"/>
                <a:ea typeface="Arial" pitchFamily="34" charset="-122"/>
                <a:cs typeface="Arial" pitchFamily="34" charset="-120"/>
              </a:rPr>
              <a:t>❌  High Maintenance Overhead: Adding one new business capability forces re-wiring of dozens of existing dialog menus.</a:t>
            </a:r>
            <a:endParaRPr lang="en-US" sz="1100" dirty="0"/>
          </a:p>
        </p:txBody>
      </p:sp>
      <p:sp>
        <p:nvSpPr>
          <p:cNvPr id="13" name="Shape 11"/>
          <p:cNvSpPr/>
          <p:nvPr/>
        </p:nvSpPr>
        <p:spPr>
          <a:xfrm>
            <a:off x="6245352" y="1371600"/>
            <a:ext cx="5394960" cy="4846320"/>
          </a:xfrm>
          <a:prstGeom prst="roundRect">
            <a:avLst>
              <a:gd name="adj" fmla="val 1887"/>
            </a:avLst>
          </a:prstGeom>
          <a:solidFill>
            <a:srgbClr val="131B2E"/>
          </a:solidFill>
          <a:ln w="15240">
            <a:solidFill>
              <a:srgbClr val="10B981"/>
            </a:solidFill>
            <a:prstDash val="solid"/>
          </a:ln>
        </p:spPr>
      </p:sp>
      <p:sp>
        <p:nvSpPr>
          <p:cNvPr id="14" name="Shape 12"/>
          <p:cNvSpPr/>
          <p:nvPr/>
        </p:nvSpPr>
        <p:spPr>
          <a:xfrm>
            <a:off x="6245352" y="1371600"/>
            <a:ext cx="5394960" cy="73152"/>
          </a:xfrm>
          <a:prstGeom prst="rect">
            <a:avLst/>
          </a:prstGeom>
          <a:solidFill>
            <a:srgbClr val="10B981"/>
          </a:solidFill>
          <a:ln w="12700">
            <a:solidFill>
              <a:srgbClr val="10B981"/>
            </a:solidFill>
            <a:prstDash val="solid"/>
          </a:ln>
        </p:spPr>
      </p:sp>
      <p:sp>
        <p:nvSpPr>
          <p:cNvPr id="15" name="Text 13"/>
          <p:cNvSpPr/>
          <p:nvPr/>
        </p:nvSpPr>
        <p:spPr>
          <a:xfrm>
            <a:off x="6519672" y="1554480"/>
            <a:ext cx="4846320" cy="32004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AUTONOMOUS AI AGENTS (AGENTFORCE)</a:t>
            </a:r>
            <a:endParaRPr lang="en-US" sz="1100" dirty="0"/>
          </a:p>
        </p:txBody>
      </p:sp>
      <p:sp>
        <p:nvSpPr>
          <p:cNvPr id="16" name="Text 14"/>
          <p:cNvSpPr/>
          <p:nvPr/>
        </p:nvSpPr>
        <p:spPr>
          <a:xfrm>
            <a:off x="6519672" y="1874520"/>
            <a:ext cx="4846320" cy="36576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Atlas Reasoning Engine &amp; Dynamic ReAct Loops</a:t>
            </a:r>
            <a:endParaRPr lang="en-US" sz="1600" dirty="0"/>
          </a:p>
        </p:txBody>
      </p:sp>
      <p:sp>
        <p:nvSpPr>
          <p:cNvPr id="17" name="Text 15"/>
          <p:cNvSpPr/>
          <p:nvPr/>
        </p:nvSpPr>
        <p:spPr>
          <a:xfrm>
            <a:off x="6519672" y="2331720"/>
            <a:ext cx="4846320" cy="3657600"/>
          </a:xfrm>
          <a:prstGeom prst="rect">
            <a:avLst/>
          </a:prstGeom>
          <a:noFill/>
          <a:ln/>
        </p:spPr>
        <p:txBody>
          <a:bodyPr wrap="square" rtlCol="0" anchor="ctr"/>
          <a:lstStyle/>
          <a:p>
            <a:pPr indent="0" marL="0">
              <a:lnSpc>
                <a:spcPts val="1800"/>
              </a:lnSpc>
              <a:buNone/>
            </a:pPr>
            <a:r>
              <a:rPr lang="en-US" sz="1100" dirty="0">
                <a:solidFill>
                  <a:srgbClr val="E2E8F0"/>
                </a:solidFill>
                <a:latin typeface="Arial" pitchFamily="34" charset="0"/>
                <a:ea typeface="Arial" pitchFamily="34" charset="-122"/>
                <a:cs typeface="Arial" pitchFamily="34" charset="-120"/>
              </a:rPr>
              <a:t>✅  Dynamic Cognitive Loop: Reasons through complex, multi-turn human goals using the ReAct cognitive architecture.</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Arial" pitchFamily="34" charset="0"/>
                <a:ea typeface="Arial" pitchFamily="34" charset="-122"/>
                <a:cs typeface="Arial" pitchFamily="34" charset="-120"/>
              </a:rPr>
              <a:t>✅  Semantic Intent Resolution: Comprehends nuances, context, and unstructured intent without hardcoded keywords.</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Arial" pitchFamily="34" charset="0"/>
                <a:ea typeface="Arial" pitchFamily="34" charset="-122"/>
                <a:cs typeface="Arial" pitchFamily="34" charset="-120"/>
              </a:rPr>
              <a:t>✅  Autonomous Tool Orchestration: Dynamically discovers, chains, and executes Flows, Apex, and APIs as needed.</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Arial" pitchFamily="34" charset="0"/>
                <a:ea typeface="Arial" pitchFamily="34" charset="-122"/>
                <a:cs typeface="Arial" pitchFamily="34" charset="-120"/>
              </a:rPr>
              <a:t>✅  Grounded in CRM &amp; Data 360: Synthesizes real-time enterprise data into tailored, personalized answers.</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Arial" pitchFamily="34" charset="0"/>
                <a:ea typeface="Arial" pitchFamily="34" charset="-122"/>
                <a:cs typeface="Arial" pitchFamily="34" charset="-120"/>
              </a:rPr>
              <a:t>✅  Extensible Micro-Topic Design: New capabilities are simply added as modular Actions; Atlas automatically routes to them.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20040"/>
            <a:ext cx="1371600" cy="36576"/>
          </a:xfrm>
          <a:prstGeom prst="rect">
            <a:avLst/>
          </a:prstGeom>
          <a:solidFill>
            <a:srgbClr val="00A1E0"/>
          </a:solidFill>
          <a:ln w="12700">
            <a:solidFill>
              <a:srgbClr val="00A1E0"/>
            </a:solidFill>
            <a:prstDash val="solid"/>
          </a:ln>
        </p:spPr>
      </p:sp>
      <p:sp>
        <p:nvSpPr>
          <p:cNvPr id="3" name="Text 1"/>
          <p:cNvSpPr/>
          <p:nvPr/>
        </p:nvSpPr>
        <p:spPr>
          <a:xfrm>
            <a:off x="548640" y="411480"/>
            <a:ext cx="9144000" cy="22860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COGNITIVE ARCHITECTURE</a:t>
            </a:r>
            <a:endParaRPr lang="en-US" sz="1000" dirty="0"/>
          </a:p>
        </p:txBody>
      </p:sp>
      <p:sp>
        <p:nvSpPr>
          <p:cNvPr id="4" name="Text 2"/>
          <p:cNvSpPr/>
          <p:nvPr/>
        </p:nvSpPr>
        <p:spPr>
          <a:xfrm>
            <a:off x="548640" y="658368"/>
            <a:ext cx="96012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The Atlas Reasoning Engine: The 4-Phase ReAct Loop</a:t>
            </a:r>
            <a:endParaRPr lang="en-US" sz="2200" dirty="0"/>
          </a:p>
        </p:txBody>
      </p:sp>
      <p:sp>
        <p:nvSpPr>
          <p:cNvPr id="5" name="Shape 3"/>
          <p:cNvSpPr/>
          <p:nvPr/>
        </p:nvSpPr>
        <p:spPr>
          <a:xfrm>
            <a:off x="548640" y="1170432"/>
            <a:ext cx="11091672" cy="0"/>
          </a:xfrm>
          <a:prstGeom prst="line">
            <a:avLst/>
          </a:prstGeom>
          <a:noFill/>
          <a:ln w="12700">
            <a:solidFill>
              <a:srgbClr val="1E293B"/>
            </a:solidFill>
            <a:prstDash val="solid"/>
          </a:ln>
        </p:spPr>
      </p:sp>
      <p:sp>
        <p:nvSpPr>
          <p:cNvPr id="6"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Salesforce Agentforce &amp; Data 360 Enablement  •  Day 1: Atlas Reasoning Engine</a:t>
            </a:r>
            <a:endParaRPr lang="en-US" sz="900" dirty="0"/>
          </a:p>
        </p:txBody>
      </p:sp>
      <p:sp>
        <p:nvSpPr>
          <p:cNvPr id="7" name="Text 5"/>
          <p:cNvSpPr/>
          <p:nvPr/>
        </p:nvSpPr>
        <p:spPr>
          <a:xfrm>
            <a:off x="10515600" y="6492240"/>
            <a:ext cx="1124712" cy="274320"/>
          </a:xfrm>
          <a:prstGeom prst="rect">
            <a:avLst/>
          </a:prstGeom>
          <a:noFill/>
          <a:ln/>
        </p:spPr>
        <p:txBody>
          <a:bodyPr wrap="square" rtlCol="0" anchor="ctr"/>
          <a:lstStyle/>
          <a:p>
            <a:pPr algn="r" indent="0" marL="0">
              <a:buNone/>
            </a:pPr>
            <a:r>
              <a:rPr lang="en-US" sz="900" b="1" dirty="0">
                <a:solidFill>
                  <a:srgbClr val="00A1E0"/>
                </a:solidFill>
                <a:latin typeface="Arial" pitchFamily="34" charset="0"/>
                <a:ea typeface="Arial" pitchFamily="34" charset="-122"/>
                <a:cs typeface="Arial" pitchFamily="34" charset="-120"/>
              </a:rPr>
              <a:t>4 / 12</a:t>
            </a:r>
            <a:endParaRPr lang="en-US" sz="900" dirty="0"/>
          </a:p>
        </p:txBody>
      </p:sp>
      <p:sp>
        <p:nvSpPr>
          <p:cNvPr id="8" name="Shape 6"/>
          <p:cNvSpPr/>
          <p:nvPr/>
        </p:nvSpPr>
        <p:spPr>
          <a:xfrm>
            <a:off x="548640" y="1417320"/>
            <a:ext cx="2697480" cy="3200400"/>
          </a:xfrm>
          <a:prstGeom prst="roundRect">
            <a:avLst>
              <a:gd name="adj" fmla="val 3390"/>
            </a:avLst>
          </a:prstGeom>
          <a:solidFill>
            <a:srgbClr val="131B2E"/>
          </a:solidFill>
          <a:ln w="15240">
            <a:solidFill>
              <a:srgbClr val="00A1E0"/>
            </a:solidFill>
            <a:prstDash val="solid"/>
          </a:ln>
        </p:spPr>
      </p:sp>
      <p:sp>
        <p:nvSpPr>
          <p:cNvPr id="9" name="Text 7"/>
          <p:cNvSpPr/>
          <p:nvPr/>
        </p:nvSpPr>
        <p:spPr>
          <a:xfrm>
            <a:off x="731520" y="1554480"/>
            <a:ext cx="914400" cy="365760"/>
          </a:xfrm>
          <a:prstGeom prst="rect">
            <a:avLst/>
          </a:prstGeom>
          <a:noFill/>
          <a:ln/>
        </p:spPr>
        <p:txBody>
          <a:bodyPr wrap="square" rtlCol="0" anchor="ctr"/>
          <a:lstStyle/>
          <a:p>
            <a:pPr indent="0" marL="0">
              <a:buNone/>
            </a:pPr>
            <a:r>
              <a:rPr lang="en-US" sz="2200" b="1" dirty="0">
                <a:solidFill>
                  <a:srgbClr val="00A1E0"/>
                </a:solidFill>
                <a:latin typeface="Arial" pitchFamily="34" charset="0"/>
                <a:ea typeface="Arial" pitchFamily="34" charset="-122"/>
                <a:cs typeface="Arial" pitchFamily="34" charset="-120"/>
              </a:rPr>
              <a:t>01</a:t>
            </a:r>
            <a:endParaRPr lang="en-US" sz="2200" dirty="0"/>
          </a:p>
        </p:txBody>
      </p:sp>
      <p:sp>
        <p:nvSpPr>
          <p:cNvPr id="10" name="Text 8"/>
          <p:cNvSpPr/>
          <p:nvPr/>
        </p:nvSpPr>
        <p:spPr>
          <a:xfrm>
            <a:off x="731520" y="2011680"/>
            <a:ext cx="233172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INTENT EVALUATION</a:t>
            </a:r>
            <a:endParaRPr lang="en-US" sz="1000" dirty="0"/>
          </a:p>
        </p:txBody>
      </p:sp>
      <p:sp>
        <p:nvSpPr>
          <p:cNvPr id="11" name="Text 9"/>
          <p:cNvSpPr/>
          <p:nvPr/>
        </p:nvSpPr>
        <p:spPr>
          <a:xfrm>
            <a:off x="731520" y="2331720"/>
            <a:ext cx="2331720" cy="3200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Classify User Goal</a:t>
            </a:r>
            <a:endParaRPr lang="en-US" sz="1400" dirty="0"/>
          </a:p>
        </p:txBody>
      </p:sp>
      <p:sp>
        <p:nvSpPr>
          <p:cNvPr id="12" name="Text 10"/>
          <p:cNvSpPr/>
          <p:nvPr/>
        </p:nvSpPr>
        <p:spPr>
          <a:xfrm>
            <a:off x="731520" y="2743200"/>
            <a:ext cx="2331720" cy="164592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Ingests user utterance and full session conversation history. Matches against Topic boundaries to select the active domain.</a:t>
            </a:r>
            <a:endParaRPr lang="en-US" sz="1050" dirty="0"/>
          </a:p>
        </p:txBody>
      </p:sp>
      <p:sp>
        <p:nvSpPr>
          <p:cNvPr id="13" name="Shape 11"/>
          <p:cNvSpPr/>
          <p:nvPr/>
        </p:nvSpPr>
        <p:spPr>
          <a:xfrm>
            <a:off x="3364992" y="1417320"/>
            <a:ext cx="2697480" cy="3200400"/>
          </a:xfrm>
          <a:prstGeom prst="roundRect">
            <a:avLst>
              <a:gd name="adj" fmla="val 3390"/>
            </a:avLst>
          </a:prstGeom>
          <a:solidFill>
            <a:srgbClr val="131B2E"/>
          </a:solidFill>
          <a:ln w="15240">
            <a:solidFill>
              <a:srgbClr val="8B5CF6"/>
            </a:solidFill>
            <a:prstDash val="solid"/>
          </a:ln>
        </p:spPr>
      </p:sp>
      <p:sp>
        <p:nvSpPr>
          <p:cNvPr id="14" name="Text 12"/>
          <p:cNvSpPr/>
          <p:nvPr/>
        </p:nvSpPr>
        <p:spPr>
          <a:xfrm>
            <a:off x="3547872" y="1554480"/>
            <a:ext cx="914400" cy="365760"/>
          </a:xfrm>
          <a:prstGeom prst="rect">
            <a:avLst/>
          </a:prstGeom>
          <a:noFill/>
          <a:ln/>
        </p:spPr>
        <p:txBody>
          <a:bodyPr wrap="square" rtlCol="0" anchor="ctr"/>
          <a:lstStyle/>
          <a:p>
            <a:pPr indent="0" marL="0">
              <a:buNone/>
            </a:pPr>
            <a:r>
              <a:rPr lang="en-US" sz="2200" b="1" dirty="0">
                <a:solidFill>
                  <a:srgbClr val="8B5CF6"/>
                </a:solidFill>
                <a:latin typeface="Arial" pitchFamily="34" charset="0"/>
                <a:ea typeface="Arial" pitchFamily="34" charset="-122"/>
                <a:cs typeface="Arial" pitchFamily="34" charset="-120"/>
              </a:rPr>
              <a:t>02</a:t>
            </a:r>
            <a:endParaRPr lang="en-US" sz="2200" dirty="0"/>
          </a:p>
        </p:txBody>
      </p:sp>
      <p:sp>
        <p:nvSpPr>
          <p:cNvPr id="15" name="Text 13"/>
          <p:cNvSpPr/>
          <p:nvPr/>
        </p:nvSpPr>
        <p:spPr>
          <a:xfrm>
            <a:off x="3547872" y="2011680"/>
            <a:ext cx="233172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REASON &amp; PLAN</a:t>
            </a:r>
            <a:endParaRPr lang="en-US" sz="1000" dirty="0"/>
          </a:p>
        </p:txBody>
      </p:sp>
      <p:sp>
        <p:nvSpPr>
          <p:cNvPr id="16" name="Text 14"/>
          <p:cNvSpPr/>
          <p:nvPr/>
        </p:nvSpPr>
        <p:spPr>
          <a:xfrm>
            <a:off x="3547872" y="2331720"/>
            <a:ext cx="2331720" cy="3200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Formulate "Thought"</a:t>
            </a:r>
            <a:endParaRPr lang="en-US" sz="1400" dirty="0"/>
          </a:p>
        </p:txBody>
      </p:sp>
      <p:sp>
        <p:nvSpPr>
          <p:cNvPr id="17" name="Text 15"/>
          <p:cNvSpPr/>
          <p:nvPr/>
        </p:nvSpPr>
        <p:spPr>
          <a:xfrm>
            <a:off x="3547872" y="2743200"/>
            <a:ext cx="2331720" cy="164592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Determines what information or action is required. Evaluates available Actions within the Topic and builds an execution plan.</a:t>
            </a:r>
            <a:endParaRPr lang="en-US" sz="1050" dirty="0"/>
          </a:p>
        </p:txBody>
      </p:sp>
      <p:sp>
        <p:nvSpPr>
          <p:cNvPr id="18" name="Shape 16"/>
          <p:cNvSpPr/>
          <p:nvPr/>
        </p:nvSpPr>
        <p:spPr>
          <a:xfrm>
            <a:off x="6181344" y="1417320"/>
            <a:ext cx="2697480" cy="3200400"/>
          </a:xfrm>
          <a:prstGeom prst="roundRect">
            <a:avLst>
              <a:gd name="adj" fmla="val 3390"/>
            </a:avLst>
          </a:prstGeom>
          <a:solidFill>
            <a:srgbClr val="131B2E"/>
          </a:solidFill>
          <a:ln w="15240">
            <a:solidFill>
              <a:srgbClr val="F59E0B"/>
            </a:solidFill>
            <a:prstDash val="solid"/>
          </a:ln>
        </p:spPr>
      </p:sp>
      <p:sp>
        <p:nvSpPr>
          <p:cNvPr id="19" name="Text 17"/>
          <p:cNvSpPr/>
          <p:nvPr/>
        </p:nvSpPr>
        <p:spPr>
          <a:xfrm>
            <a:off x="6364224" y="1554480"/>
            <a:ext cx="914400" cy="365760"/>
          </a:xfrm>
          <a:prstGeom prst="rect">
            <a:avLst/>
          </a:prstGeom>
          <a:noFill/>
          <a:ln/>
        </p:spPr>
        <p:txBody>
          <a:bodyPr wrap="square" rtlCol="0" anchor="ctr"/>
          <a:lstStyle/>
          <a:p>
            <a:pPr indent="0" marL="0">
              <a:buNone/>
            </a:pPr>
            <a:r>
              <a:rPr lang="en-US" sz="2200" b="1" dirty="0">
                <a:solidFill>
                  <a:srgbClr val="F59E0B"/>
                </a:solidFill>
                <a:latin typeface="Arial" pitchFamily="34" charset="0"/>
                <a:ea typeface="Arial" pitchFamily="34" charset="-122"/>
                <a:cs typeface="Arial" pitchFamily="34" charset="-120"/>
              </a:rPr>
              <a:t>03</a:t>
            </a:r>
            <a:endParaRPr lang="en-US" sz="2200" dirty="0"/>
          </a:p>
        </p:txBody>
      </p:sp>
      <p:sp>
        <p:nvSpPr>
          <p:cNvPr id="20" name="Text 18"/>
          <p:cNvSpPr/>
          <p:nvPr/>
        </p:nvSpPr>
        <p:spPr>
          <a:xfrm>
            <a:off x="6364224" y="2011680"/>
            <a:ext cx="233172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ACT &amp; EXECUTE</a:t>
            </a:r>
            <a:endParaRPr lang="en-US" sz="1000" dirty="0"/>
          </a:p>
        </p:txBody>
      </p:sp>
      <p:sp>
        <p:nvSpPr>
          <p:cNvPr id="21" name="Text 19"/>
          <p:cNvSpPr/>
          <p:nvPr/>
        </p:nvSpPr>
        <p:spPr>
          <a:xfrm>
            <a:off x="6364224" y="2331720"/>
            <a:ext cx="2331720" cy="3200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Invoke Bound Tools</a:t>
            </a:r>
            <a:endParaRPr lang="en-US" sz="1400" dirty="0"/>
          </a:p>
        </p:txBody>
      </p:sp>
      <p:sp>
        <p:nvSpPr>
          <p:cNvPr id="22" name="Text 20"/>
          <p:cNvSpPr/>
          <p:nvPr/>
        </p:nvSpPr>
        <p:spPr>
          <a:xfrm>
            <a:off x="6364224" y="2743200"/>
            <a:ext cx="2331720" cy="164592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Executes the chosen tool (Flow, Apex @InvocableMethod, or External API) with parameters extracted from the user utterance.</a:t>
            </a:r>
            <a:endParaRPr lang="en-US" sz="1050" dirty="0"/>
          </a:p>
        </p:txBody>
      </p:sp>
      <p:sp>
        <p:nvSpPr>
          <p:cNvPr id="23" name="Shape 21"/>
          <p:cNvSpPr/>
          <p:nvPr/>
        </p:nvSpPr>
        <p:spPr>
          <a:xfrm>
            <a:off x="8997696" y="1417320"/>
            <a:ext cx="2697480" cy="3200400"/>
          </a:xfrm>
          <a:prstGeom prst="roundRect">
            <a:avLst>
              <a:gd name="adj" fmla="val 3390"/>
            </a:avLst>
          </a:prstGeom>
          <a:solidFill>
            <a:srgbClr val="131B2E"/>
          </a:solidFill>
          <a:ln w="15240">
            <a:solidFill>
              <a:srgbClr val="10B981"/>
            </a:solidFill>
            <a:prstDash val="solid"/>
          </a:ln>
        </p:spPr>
      </p:sp>
      <p:sp>
        <p:nvSpPr>
          <p:cNvPr id="24" name="Text 22"/>
          <p:cNvSpPr/>
          <p:nvPr/>
        </p:nvSpPr>
        <p:spPr>
          <a:xfrm>
            <a:off x="9180576" y="1554480"/>
            <a:ext cx="914400" cy="365760"/>
          </a:xfrm>
          <a:prstGeom prst="rect">
            <a:avLst/>
          </a:prstGeom>
          <a:noFill/>
          <a:ln/>
        </p:spPr>
        <p:txBody>
          <a:bodyPr wrap="square" rtlCol="0" anchor="ctr"/>
          <a:lstStyle/>
          <a:p>
            <a:pPr indent="0" marL="0">
              <a:buNone/>
            </a:pPr>
            <a:r>
              <a:rPr lang="en-US" sz="2200" b="1" dirty="0">
                <a:solidFill>
                  <a:srgbClr val="10B981"/>
                </a:solidFill>
                <a:latin typeface="Arial" pitchFamily="34" charset="0"/>
                <a:ea typeface="Arial" pitchFamily="34" charset="-122"/>
                <a:cs typeface="Arial" pitchFamily="34" charset="-120"/>
              </a:rPr>
              <a:t>04</a:t>
            </a:r>
            <a:endParaRPr lang="en-US" sz="2200" dirty="0"/>
          </a:p>
        </p:txBody>
      </p:sp>
      <p:sp>
        <p:nvSpPr>
          <p:cNvPr id="25" name="Text 23"/>
          <p:cNvSpPr/>
          <p:nvPr/>
        </p:nvSpPr>
        <p:spPr>
          <a:xfrm>
            <a:off x="9180576" y="2011680"/>
            <a:ext cx="233172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OBSERVE &amp; ITERATE</a:t>
            </a:r>
            <a:endParaRPr lang="en-US" sz="1000" dirty="0"/>
          </a:p>
        </p:txBody>
      </p:sp>
      <p:sp>
        <p:nvSpPr>
          <p:cNvPr id="26" name="Text 24"/>
          <p:cNvSpPr/>
          <p:nvPr/>
        </p:nvSpPr>
        <p:spPr>
          <a:xfrm>
            <a:off x="9180576" y="2331720"/>
            <a:ext cx="2331720" cy="3200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Evaluate &amp; Synthesize</a:t>
            </a:r>
            <a:endParaRPr lang="en-US" sz="1400" dirty="0"/>
          </a:p>
        </p:txBody>
      </p:sp>
      <p:sp>
        <p:nvSpPr>
          <p:cNvPr id="27" name="Text 25"/>
          <p:cNvSpPr/>
          <p:nvPr/>
        </p:nvSpPr>
        <p:spPr>
          <a:xfrm>
            <a:off x="9180576" y="2743200"/>
            <a:ext cx="2331720" cy="164592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Ingests the tool output payload. If the goal is satisfied, generates natural language response; otherwise, loops back to Phase 2.</a:t>
            </a:r>
            <a:endParaRPr lang="en-US" sz="1050" dirty="0"/>
          </a:p>
        </p:txBody>
      </p:sp>
      <p:sp>
        <p:nvSpPr>
          <p:cNvPr id="28" name="Shape 26"/>
          <p:cNvSpPr/>
          <p:nvPr/>
        </p:nvSpPr>
        <p:spPr>
          <a:xfrm>
            <a:off x="548640" y="4846320"/>
            <a:ext cx="11091672" cy="1417320"/>
          </a:xfrm>
          <a:prstGeom prst="roundRect">
            <a:avLst>
              <a:gd name="adj" fmla="val 5161"/>
            </a:avLst>
          </a:prstGeom>
          <a:solidFill>
            <a:srgbClr val="080C14"/>
          </a:solidFill>
          <a:ln w="12700">
            <a:solidFill>
              <a:srgbClr val="233354"/>
            </a:solidFill>
            <a:prstDash val="solid"/>
          </a:ln>
        </p:spPr>
      </p:sp>
      <p:sp>
        <p:nvSpPr>
          <p:cNvPr id="29" name="Text 27"/>
          <p:cNvSpPr/>
          <p:nvPr/>
        </p:nvSpPr>
        <p:spPr>
          <a:xfrm>
            <a:off x="822960" y="4956048"/>
            <a:ext cx="4572000" cy="228600"/>
          </a:xfrm>
          <a:prstGeom prst="rect">
            <a:avLst/>
          </a:prstGeom>
          <a:noFill/>
          <a:ln/>
        </p:spPr>
        <p:txBody>
          <a:bodyPr wrap="square" rtlCol="0" anchor="ctr"/>
          <a:lstStyle/>
          <a:p>
            <a:pPr indent="0" marL="0">
              <a:buNone/>
            </a:pPr>
            <a:r>
              <a:rPr lang="en-US" sz="900" b="1" dirty="0">
                <a:solidFill>
                  <a:srgbClr val="00A1E0"/>
                </a:solidFill>
                <a:latin typeface="Arial" pitchFamily="34" charset="0"/>
                <a:ea typeface="Arial" pitchFamily="34" charset="-122"/>
                <a:cs typeface="Arial" pitchFamily="34" charset="-120"/>
              </a:rPr>
              <a:t>REAL-WORLD REACT LOG TRACE IN ACTION:</a:t>
            </a:r>
            <a:endParaRPr lang="en-US" sz="900" dirty="0"/>
          </a:p>
        </p:txBody>
      </p:sp>
      <p:sp>
        <p:nvSpPr>
          <p:cNvPr id="30" name="Text 28"/>
          <p:cNvSpPr/>
          <p:nvPr/>
        </p:nvSpPr>
        <p:spPr>
          <a:xfrm>
            <a:off x="822960" y="5212080"/>
            <a:ext cx="10515600" cy="960120"/>
          </a:xfrm>
          <a:prstGeom prst="rect">
            <a:avLst/>
          </a:prstGeom>
          <a:noFill/>
          <a:ln/>
        </p:spPr>
        <p:txBody>
          <a:bodyPr wrap="square" rtlCol="0" anchor="ctr"/>
          <a:lstStyle/>
          <a:p>
            <a:pPr indent="0" marL="0">
              <a:lnSpc>
                <a:spcPts val="1200"/>
              </a:lnSpc>
              <a:buNone/>
            </a:pPr>
            <a:r>
              <a:rPr lang="en-US" sz="850" dirty="0">
                <a:solidFill>
                  <a:srgbClr val="CBD5E1"/>
                </a:solidFill>
                <a:latin typeface="Consolas" pitchFamily="34" charset="0"/>
                <a:ea typeface="Consolas" pitchFamily="34" charset="-122"/>
                <a:cs typeface="Consolas" pitchFamily="34" charset="-120"/>
              </a:rPr>
              <a:t>[USER]: "What's the status of case #0001024 and can you bump it to High priority?"</a:t>
            </a:r>
            <a:endParaRPr lang="en-US" sz="850" dirty="0"/>
          </a:p>
          <a:p>
            <a:pPr indent="0" marL="0">
              <a:lnSpc>
                <a:spcPts val="1200"/>
              </a:lnSpc>
              <a:buNone/>
            </a:pPr>
            <a:r>
              <a:rPr lang="en-US" sz="850" dirty="0">
                <a:solidFill>
                  <a:srgbClr val="CBD5E1"/>
                </a:solidFill>
                <a:latin typeface="Consolas" pitchFamily="34" charset="0"/>
                <a:ea typeface="Consolas" pitchFamily="34" charset="-122"/>
                <a:cs typeface="Consolas" pitchFamily="34" charset="-120"/>
              </a:rPr>
              <a:t>[THOUGHT]: User wants Case 0001024 status and priority change. I must query Case 0001024 first to inspect current status.</a:t>
            </a:r>
            <a:endParaRPr lang="en-US" sz="850" dirty="0"/>
          </a:p>
          <a:p>
            <a:pPr indent="0" marL="0">
              <a:lnSpc>
                <a:spcPts val="1200"/>
              </a:lnSpc>
              <a:buNone/>
            </a:pPr>
            <a:r>
              <a:rPr lang="en-US" sz="850" dirty="0">
                <a:solidFill>
                  <a:srgbClr val="CBD5E1"/>
                </a:solidFill>
                <a:latin typeface="Consolas" pitchFamily="34" charset="0"/>
                <a:ea typeface="Consolas" pitchFamily="34" charset="-122"/>
                <a:cs typeface="Consolas" pitchFamily="34" charset="-120"/>
              </a:rPr>
              <a:t>[ACTION]: Invoke Flow "Get_Case_Details" with argument { caseNumber: "0001024" }</a:t>
            </a:r>
            <a:endParaRPr lang="en-US" sz="850" dirty="0"/>
          </a:p>
          <a:p>
            <a:pPr indent="0" marL="0">
              <a:lnSpc>
                <a:spcPts val="1200"/>
              </a:lnSpc>
              <a:buNone/>
            </a:pPr>
            <a:r>
              <a:rPr lang="en-US" sz="850" dirty="0">
                <a:solidFill>
                  <a:srgbClr val="CBD5E1"/>
                </a:solidFill>
                <a:latin typeface="Consolas" pitchFamily="34" charset="0"/>
                <a:ea typeface="Consolas" pitchFamily="34" charset="-122"/>
                <a:cs typeface="Consolas" pitchFamily="34" charset="-120"/>
              </a:rPr>
              <a:t>[OBSERVATION]: Case found: { Subject: "Server Down", Status: "New", Priority: "Medium" }</a:t>
            </a:r>
            <a:endParaRPr lang="en-US" sz="850" dirty="0"/>
          </a:p>
          <a:p>
            <a:pPr indent="0" marL="0">
              <a:lnSpc>
                <a:spcPts val="1200"/>
              </a:lnSpc>
              <a:buNone/>
            </a:pPr>
            <a:r>
              <a:rPr lang="en-US" sz="850" dirty="0">
                <a:solidFill>
                  <a:srgbClr val="CBD5E1"/>
                </a:solidFill>
                <a:latin typeface="Consolas" pitchFamily="34" charset="0"/>
                <a:ea typeface="Consolas" pitchFamily="34" charset="-122"/>
                <a:cs typeface="Consolas" pitchFamily="34" charset="-120"/>
              </a:rPr>
              <a:t>[THOUGHT]: Status is "New". Now I must update Priority to "High" using the Update_Case_Priority action.</a:t>
            </a:r>
            <a:endParaRPr lang="en-US" sz="850" dirty="0"/>
          </a:p>
          <a:p>
            <a:pPr indent="0" marL="0">
              <a:lnSpc>
                <a:spcPts val="1200"/>
              </a:lnSpc>
              <a:buNone/>
            </a:pPr>
            <a:r>
              <a:rPr lang="en-US" sz="850" dirty="0">
                <a:solidFill>
                  <a:srgbClr val="CBD5E1"/>
                </a:solidFill>
                <a:latin typeface="Consolas" pitchFamily="34" charset="0"/>
                <a:ea typeface="Consolas" pitchFamily="34" charset="-122"/>
                <a:cs typeface="Consolas" pitchFamily="34" charset="-120"/>
              </a:rPr>
              <a:t>[ACTION]: Invoke Flow "Update_Case_Priority" with argument { caseId: "500xx...", priority: "High" }</a:t>
            </a:r>
            <a:endParaRPr lang="en-US" sz="850" dirty="0"/>
          </a:p>
          <a:p>
            <a:pPr indent="0" marL="0">
              <a:lnSpc>
                <a:spcPts val="1200"/>
              </a:lnSpc>
              <a:buNone/>
            </a:pPr>
            <a:r>
              <a:rPr lang="en-US" sz="850" dirty="0">
                <a:solidFill>
                  <a:srgbClr val="CBD5E1"/>
                </a:solidFill>
                <a:latin typeface="Consolas" pitchFamily="34" charset="0"/>
                <a:ea typeface="Consolas" pitchFamily="34" charset="-122"/>
                <a:cs typeface="Consolas" pitchFamily="34" charset="-120"/>
              </a:rPr>
              <a:t>[RESPONSE]: "Case #0001024 ('Server Down') is currently New. I have escalated the priority to High as requested."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20040"/>
            <a:ext cx="1371600" cy="36576"/>
          </a:xfrm>
          <a:prstGeom prst="rect">
            <a:avLst/>
          </a:prstGeom>
          <a:solidFill>
            <a:srgbClr val="00A1E0"/>
          </a:solidFill>
          <a:ln w="12700">
            <a:solidFill>
              <a:srgbClr val="00A1E0"/>
            </a:solidFill>
            <a:prstDash val="solid"/>
          </a:ln>
        </p:spPr>
      </p:sp>
      <p:sp>
        <p:nvSpPr>
          <p:cNvPr id="3" name="Text 1"/>
          <p:cNvSpPr/>
          <p:nvPr/>
        </p:nvSpPr>
        <p:spPr>
          <a:xfrm>
            <a:off x="548640" y="411480"/>
            <a:ext cx="9144000" cy="22860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CORE TAXONOMY</a:t>
            </a:r>
            <a:endParaRPr lang="en-US" sz="1000" dirty="0"/>
          </a:p>
        </p:txBody>
      </p:sp>
      <p:sp>
        <p:nvSpPr>
          <p:cNvPr id="4" name="Text 2"/>
          <p:cNvSpPr/>
          <p:nvPr/>
        </p:nvSpPr>
        <p:spPr>
          <a:xfrm>
            <a:off x="548640" y="658368"/>
            <a:ext cx="96012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The 3 Architecture Pillars: Agent, Topic, and Action</a:t>
            </a:r>
            <a:endParaRPr lang="en-US" sz="2200" dirty="0"/>
          </a:p>
        </p:txBody>
      </p:sp>
      <p:sp>
        <p:nvSpPr>
          <p:cNvPr id="5" name="Shape 3"/>
          <p:cNvSpPr/>
          <p:nvPr/>
        </p:nvSpPr>
        <p:spPr>
          <a:xfrm>
            <a:off x="548640" y="1170432"/>
            <a:ext cx="11091672" cy="0"/>
          </a:xfrm>
          <a:prstGeom prst="line">
            <a:avLst/>
          </a:prstGeom>
          <a:noFill/>
          <a:ln w="12700">
            <a:solidFill>
              <a:srgbClr val="1E293B"/>
            </a:solidFill>
            <a:prstDash val="solid"/>
          </a:ln>
        </p:spPr>
      </p:sp>
      <p:sp>
        <p:nvSpPr>
          <p:cNvPr id="6"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Salesforce Agentforce &amp; Data 360 Enablement  •  Day 1: Atlas Reasoning Engine</a:t>
            </a:r>
            <a:endParaRPr lang="en-US" sz="900" dirty="0"/>
          </a:p>
        </p:txBody>
      </p:sp>
      <p:sp>
        <p:nvSpPr>
          <p:cNvPr id="7" name="Text 5"/>
          <p:cNvSpPr/>
          <p:nvPr/>
        </p:nvSpPr>
        <p:spPr>
          <a:xfrm>
            <a:off x="10515600" y="6492240"/>
            <a:ext cx="1124712" cy="274320"/>
          </a:xfrm>
          <a:prstGeom prst="rect">
            <a:avLst/>
          </a:prstGeom>
          <a:noFill/>
          <a:ln/>
        </p:spPr>
        <p:txBody>
          <a:bodyPr wrap="square" rtlCol="0" anchor="ctr"/>
          <a:lstStyle/>
          <a:p>
            <a:pPr algn="r" indent="0" marL="0">
              <a:buNone/>
            </a:pPr>
            <a:r>
              <a:rPr lang="en-US" sz="900" b="1" dirty="0">
                <a:solidFill>
                  <a:srgbClr val="00A1E0"/>
                </a:solidFill>
                <a:latin typeface="Arial" pitchFamily="34" charset="0"/>
                <a:ea typeface="Arial" pitchFamily="34" charset="-122"/>
                <a:cs typeface="Arial" pitchFamily="34" charset="-120"/>
              </a:rPr>
              <a:t>5 / 12</a:t>
            </a:r>
            <a:endParaRPr lang="en-US" sz="900" dirty="0"/>
          </a:p>
        </p:txBody>
      </p:sp>
      <p:sp>
        <p:nvSpPr>
          <p:cNvPr id="8" name="Shape 6"/>
          <p:cNvSpPr/>
          <p:nvPr/>
        </p:nvSpPr>
        <p:spPr>
          <a:xfrm>
            <a:off x="548640" y="1417320"/>
            <a:ext cx="3611880" cy="4800600"/>
          </a:xfrm>
          <a:prstGeom prst="roundRect">
            <a:avLst>
              <a:gd name="adj" fmla="val 2532"/>
            </a:avLst>
          </a:prstGeom>
          <a:solidFill>
            <a:srgbClr val="131B2E"/>
          </a:solidFill>
          <a:ln w="15240">
            <a:solidFill>
              <a:srgbClr val="00A1E0"/>
            </a:solidFill>
            <a:prstDash val="solid"/>
          </a:ln>
        </p:spPr>
      </p:sp>
      <p:sp>
        <p:nvSpPr>
          <p:cNvPr id="9" name="Shape 7"/>
          <p:cNvSpPr/>
          <p:nvPr/>
        </p:nvSpPr>
        <p:spPr>
          <a:xfrm>
            <a:off x="548640" y="1417320"/>
            <a:ext cx="3611880" cy="73152"/>
          </a:xfrm>
          <a:prstGeom prst="rect">
            <a:avLst/>
          </a:prstGeom>
          <a:solidFill>
            <a:srgbClr val="00A1E0"/>
          </a:solidFill>
          <a:ln w="12700">
            <a:solidFill>
              <a:srgbClr val="00A1E0"/>
            </a:solidFill>
            <a:prstDash val="solid"/>
          </a:ln>
        </p:spPr>
      </p:sp>
      <p:sp>
        <p:nvSpPr>
          <p:cNvPr id="10" name="Text 8"/>
          <p:cNvSpPr/>
          <p:nvPr/>
        </p:nvSpPr>
        <p:spPr>
          <a:xfrm>
            <a:off x="777240" y="1600200"/>
            <a:ext cx="3154680" cy="32004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1. The Agent (Persona)</a:t>
            </a:r>
            <a:endParaRPr lang="en-US" sz="1600" dirty="0"/>
          </a:p>
        </p:txBody>
      </p:sp>
      <p:sp>
        <p:nvSpPr>
          <p:cNvPr id="11" name="Text 9"/>
          <p:cNvSpPr/>
          <p:nvPr/>
        </p:nvSpPr>
        <p:spPr>
          <a:xfrm>
            <a:off x="777240" y="1920240"/>
            <a:ext cx="3154680" cy="228600"/>
          </a:xfrm>
          <a:prstGeom prst="rect">
            <a:avLst/>
          </a:prstGeom>
          <a:noFill/>
          <a:ln/>
        </p:spPr>
        <p:txBody>
          <a:bodyPr wrap="square" rtlCol="0" anchor="ctr"/>
          <a:lstStyle/>
          <a:p>
            <a:pPr indent="0" marL="0">
              <a:buNone/>
            </a:pPr>
            <a:r>
              <a:rPr lang="en-US" sz="900" b="1" dirty="0">
                <a:solidFill>
                  <a:srgbClr val="00A1E0"/>
                </a:solidFill>
                <a:latin typeface="Arial" pitchFamily="34" charset="0"/>
                <a:ea typeface="Arial" pitchFamily="34" charset="-122"/>
                <a:cs typeface="Arial" pitchFamily="34" charset="-120"/>
              </a:rPr>
              <a:t>GLOBAL IDENTITY &amp; BOUNDARIES</a:t>
            </a:r>
            <a:endParaRPr lang="en-US" sz="900" dirty="0"/>
          </a:p>
        </p:txBody>
      </p:sp>
      <p:sp>
        <p:nvSpPr>
          <p:cNvPr id="12" name="Text 10"/>
          <p:cNvSpPr/>
          <p:nvPr/>
        </p:nvSpPr>
        <p:spPr>
          <a:xfrm>
            <a:off x="777240" y="2240280"/>
            <a:ext cx="3154680" cy="685800"/>
          </a:xfrm>
          <a:prstGeom prst="rect">
            <a:avLst/>
          </a:prstGeom>
          <a:noFill/>
          <a:ln/>
        </p:spPr>
        <p:txBody>
          <a:bodyPr wrap="square" rtlCol="0" anchor="ctr"/>
          <a:lstStyle/>
          <a:p>
            <a:pPr indent="0" marL="0">
              <a:lnSpc>
                <a:spcPts val="1600"/>
              </a:lnSpc>
              <a:buNone/>
            </a:pPr>
            <a:r>
              <a:rPr lang="en-US" sz="1100" dirty="0">
                <a:solidFill>
                  <a:srgbClr val="94A3B8"/>
                </a:solidFill>
                <a:latin typeface="Arial" pitchFamily="34" charset="0"/>
                <a:ea typeface="Arial" pitchFamily="34" charset="-122"/>
                <a:cs typeface="Arial" pitchFamily="34" charset="-120"/>
              </a:rPr>
              <a:t>Represents the master autonomous entity deployed across channels (Service Cloud, Messaging, Experience Cloud).</a:t>
            </a:r>
            <a:endParaRPr lang="en-US" sz="1100" dirty="0"/>
          </a:p>
        </p:txBody>
      </p:sp>
      <p:sp>
        <p:nvSpPr>
          <p:cNvPr id="13" name="Shape 11"/>
          <p:cNvSpPr/>
          <p:nvPr/>
        </p:nvSpPr>
        <p:spPr>
          <a:xfrm>
            <a:off x="777240" y="3017520"/>
            <a:ext cx="3154680" cy="0"/>
          </a:xfrm>
          <a:prstGeom prst="line">
            <a:avLst/>
          </a:prstGeom>
          <a:noFill/>
          <a:ln w="12700">
            <a:solidFill>
              <a:srgbClr val="233354"/>
            </a:solidFill>
            <a:prstDash val="solid"/>
          </a:ln>
        </p:spPr>
      </p:sp>
      <p:sp>
        <p:nvSpPr>
          <p:cNvPr id="14" name="Text 12"/>
          <p:cNvSpPr/>
          <p:nvPr/>
        </p:nvSpPr>
        <p:spPr>
          <a:xfrm>
            <a:off x="777240" y="3154680"/>
            <a:ext cx="315468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KEY ARCHITECTURAL ELEMENTS:</a:t>
            </a:r>
            <a:endParaRPr lang="en-US" sz="900" dirty="0"/>
          </a:p>
        </p:txBody>
      </p:sp>
      <p:sp>
        <p:nvSpPr>
          <p:cNvPr id="15" name="Text 13"/>
          <p:cNvSpPr/>
          <p:nvPr/>
        </p:nvSpPr>
        <p:spPr>
          <a:xfrm>
            <a:off x="777240" y="3474720"/>
            <a:ext cx="3154680" cy="256032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  Agent Name &amp; Role Description (e.g. "Customer Support Specialist")</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Global Persona &amp; Tone Rules (Professional, concise, empathetic)</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Strict Enterprise Guardrails (What the agent must NEVER do)</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Multi-language &amp; Session context parameters</a:t>
            </a:r>
            <a:endParaRPr lang="en-US" sz="1050" dirty="0"/>
          </a:p>
        </p:txBody>
      </p:sp>
      <p:sp>
        <p:nvSpPr>
          <p:cNvPr id="16" name="Shape 14"/>
          <p:cNvSpPr/>
          <p:nvPr/>
        </p:nvSpPr>
        <p:spPr>
          <a:xfrm>
            <a:off x="4343400" y="1417320"/>
            <a:ext cx="3611880" cy="4800600"/>
          </a:xfrm>
          <a:prstGeom prst="roundRect">
            <a:avLst>
              <a:gd name="adj" fmla="val 2532"/>
            </a:avLst>
          </a:prstGeom>
          <a:solidFill>
            <a:srgbClr val="131B2E"/>
          </a:solidFill>
          <a:ln w="15240">
            <a:solidFill>
              <a:srgbClr val="8B5CF6"/>
            </a:solidFill>
            <a:prstDash val="solid"/>
          </a:ln>
        </p:spPr>
      </p:sp>
      <p:sp>
        <p:nvSpPr>
          <p:cNvPr id="17" name="Shape 15"/>
          <p:cNvSpPr/>
          <p:nvPr/>
        </p:nvSpPr>
        <p:spPr>
          <a:xfrm>
            <a:off x="4343400" y="1417320"/>
            <a:ext cx="3611880" cy="73152"/>
          </a:xfrm>
          <a:prstGeom prst="rect">
            <a:avLst/>
          </a:prstGeom>
          <a:solidFill>
            <a:srgbClr val="8B5CF6"/>
          </a:solidFill>
          <a:ln w="12700">
            <a:solidFill>
              <a:srgbClr val="8B5CF6"/>
            </a:solidFill>
            <a:prstDash val="solid"/>
          </a:ln>
        </p:spPr>
      </p:sp>
      <p:sp>
        <p:nvSpPr>
          <p:cNvPr id="18" name="Text 16"/>
          <p:cNvSpPr/>
          <p:nvPr/>
        </p:nvSpPr>
        <p:spPr>
          <a:xfrm>
            <a:off x="4572000" y="1600200"/>
            <a:ext cx="3154680" cy="32004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2. The Topic (Boundary)</a:t>
            </a:r>
            <a:endParaRPr lang="en-US" sz="1600" dirty="0"/>
          </a:p>
        </p:txBody>
      </p:sp>
      <p:sp>
        <p:nvSpPr>
          <p:cNvPr id="19" name="Text 17"/>
          <p:cNvSpPr/>
          <p:nvPr/>
        </p:nvSpPr>
        <p:spPr>
          <a:xfrm>
            <a:off x="4572000" y="1920240"/>
            <a:ext cx="3154680" cy="228600"/>
          </a:xfrm>
          <a:prstGeom prst="rect">
            <a:avLst/>
          </a:prstGeom>
          <a:noFill/>
          <a:ln/>
        </p:spPr>
        <p:txBody>
          <a:bodyPr wrap="square" rtlCol="0" anchor="ctr"/>
          <a:lstStyle/>
          <a:p>
            <a:pPr indent="0" marL="0">
              <a:buNone/>
            </a:pPr>
            <a:r>
              <a:rPr lang="en-US" sz="900" b="1" dirty="0">
                <a:solidFill>
                  <a:srgbClr val="8B5CF6"/>
                </a:solidFill>
                <a:latin typeface="Arial" pitchFamily="34" charset="0"/>
                <a:ea typeface="Arial" pitchFamily="34" charset="-122"/>
                <a:cs typeface="Arial" pitchFamily="34" charset="-120"/>
              </a:rPr>
              <a:t>DOMAIN BOUNDARIES &amp; SCOPES</a:t>
            </a:r>
            <a:endParaRPr lang="en-US" sz="900" dirty="0"/>
          </a:p>
        </p:txBody>
      </p:sp>
      <p:sp>
        <p:nvSpPr>
          <p:cNvPr id="20" name="Text 18"/>
          <p:cNvSpPr/>
          <p:nvPr/>
        </p:nvSpPr>
        <p:spPr>
          <a:xfrm>
            <a:off x="4572000" y="2240280"/>
            <a:ext cx="3154680" cy="685800"/>
          </a:xfrm>
          <a:prstGeom prst="rect">
            <a:avLst/>
          </a:prstGeom>
          <a:noFill/>
          <a:ln/>
        </p:spPr>
        <p:txBody>
          <a:bodyPr wrap="square" rtlCol="0" anchor="ctr"/>
          <a:lstStyle/>
          <a:p>
            <a:pPr indent="0" marL="0">
              <a:lnSpc>
                <a:spcPts val="1600"/>
              </a:lnSpc>
              <a:buNone/>
            </a:pPr>
            <a:r>
              <a:rPr lang="en-US" sz="1100" dirty="0">
                <a:solidFill>
                  <a:srgbClr val="94A3B8"/>
                </a:solidFill>
                <a:latin typeface="Arial" pitchFamily="34" charset="0"/>
                <a:ea typeface="Arial" pitchFamily="34" charset="-122"/>
                <a:cs typeface="Arial" pitchFamily="34" charset="-120"/>
              </a:rPr>
              <a:t>Logical separation of business domains. Atlas switches between Topics dynamically based on user utterances.</a:t>
            </a:r>
            <a:endParaRPr lang="en-US" sz="1100" dirty="0"/>
          </a:p>
        </p:txBody>
      </p:sp>
      <p:sp>
        <p:nvSpPr>
          <p:cNvPr id="21" name="Shape 19"/>
          <p:cNvSpPr/>
          <p:nvPr/>
        </p:nvSpPr>
        <p:spPr>
          <a:xfrm>
            <a:off x="4572000" y="3017520"/>
            <a:ext cx="3154680" cy="0"/>
          </a:xfrm>
          <a:prstGeom prst="line">
            <a:avLst/>
          </a:prstGeom>
          <a:noFill/>
          <a:ln w="12700">
            <a:solidFill>
              <a:srgbClr val="233354"/>
            </a:solidFill>
            <a:prstDash val="solid"/>
          </a:ln>
        </p:spPr>
      </p:sp>
      <p:sp>
        <p:nvSpPr>
          <p:cNvPr id="22" name="Text 20"/>
          <p:cNvSpPr/>
          <p:nvPr/>
        </p:nvSpPr>
        <p:spPr>
          <a:xfrm>
            <a:off x="4572000" y="3154680"/>
            <a:ext cx="315468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KEY ARCHITECTURAL ELEMENTS:</a:t>
            </a:r>
            <a:endParaRPr lang="en-US" sz="900" dirty="0"/>
          </a:p>
        </p:txBody>
      </p:sp>
      <p:sp>
        <p:nvSpPr>
          <p:cNvPr id="23" name="Text 21"/>
          <p:cNvSpPr/>
          <p:nvPr/>
        </p:nvSpPr>
        <p:spPr>
          <a:xfrm>
            <a:off x="4572000" y="3474720"/>
            <a:ext cx="3154680" cy="256032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  Topic Name &amp; High-Precision Semantic Classification Description</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Scope Boundaries: Explicitly defines what is IN and OUT of scope</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Topic-specific instructions &amp; procedural rules</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Best Practice: 3 to 7 focused Topics per Agent for peak accuracy</a:t>
            </a:r>
            <a:endParaRPr lang="en-US" sz="1050" dirty="0"/>
          </a:p>
        </p:txBody>
      </p:sp>
      <p:sp>
        <p:nvSpPr>
          <p:cNvPr id="24" name="Shape 22"/>
          <p:cNvSpPr/>
          <p:nvPr/>
        </p:nvSpPr>
        <p:spPr>
          <a:xfrm>
            <a:off x="8138160" y="1417320"/>
            <a:ext cx="3611880" cy="4800600"/>
          </a:xfrm>
          <a:prstGeom prst="roundRect">
            <a:avLst>
              <a:gd name="adj" fmla="val 2532"/>
            </a:avLst>
          </a:prstGeom>
          <a:solidFill>
            <a:srgbClr val="131B2E"/>
          </a:solidFill>
          <a:ln w="15240">
            <a:solidFill>
              <a:srgbClr val="10B981"/>
            </a:solidFill>
            <a:prstDash val="solid"/>
          </a:ln>
        </p:spPr>
      </p:sp>
      <p:sp>
        <p:nvSpPr>
          <p:cNvPr id="25" name="Shape 23"/>
          <p:cNvSpPr/>
          <p:nvPr/>
        </p:nvSpPr>
        <p:spPr>
          <a:xfrm>
            <a:off x="8138160" y="1417320"/>
            <a:ext cx="3611880" cy="73152"/>
          </a:xfrm>
          <a:prstGeom prst="rect">
            <a:avLst/>
          </a:prstGeom>
          <a:solidFill>
            <a:srgbClr val="10B981"/>
          </a:solidFill>
          <a:ln w="12700">
            <a:solidFill>
              <a:srgbClr val="10B981"/>
            </a:solidFill>
            <a:prstDash val="solid"/>
          </a:ln>
        </p:spPr>
      </p:sp>
      <p:sp>
        <p:nvSpPr>
          <p:cNvPr id="26" name="Text 24"/>
          <p:cNvSpPr/>
          <p:nvPr/>
        </p:nvSpPr>
        <p:spPr>
          <a:xfrm>
            <a:off x="8366760" y="1600200"/>
            <a:ext cx="3154680" cy="32004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3. The Action (Tool)</a:t>
            </a:r>
            <a:endParaRPr lang="en-US" sz="1600" dirty="0"/>
          </a:p>
        </p:txBody>
      </p:sp>
      <p:sp>
        <p:nvSpPr>
          <p:cNvPr id="27" name="Text 25"/>
          <p:cNvSpPr/>
          <p:nvPr/>
        </p:nvSpPr>
        <p:spPr>
          <a:xfrm>
            <a:off x="8366760" y="1920240"/>
            <a:ext cx="3154680" cy="228600"/>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EXECUTABLE INTEGRATIONS &amp; TOOLS</a:t>
            </a:r>
            <a:endParaRPr lang="en-US" sz="900" dirty="0"/>
          </a:p>
        </p:txBody>
      </p:sp>
      <p:sp>
        <p:nvSpPr>
          <p:cNvPr id="28" name="Text 26"/>
          <p:cNvSpPr/>
          <p:nvPr/>
        </p:nvSpPr>
        <p:spPr>
          <a:xfrm>
            <a:off x="8366760" y="2240280"/>
            <a:ext cx="3154680" cy="685800"/>
          </a:xfrm>
          <a:prstGeom prst="rect">
            <a:avLst/>
          </a:prstGeom>
          <a:noFill/>
          <a:ln/>
        </p:spPr>
        <p:txBody>
          <a:bodyPr wrap="square" rtlCol="0" anchor="ctr"/>
          <a:lstStyle/>
          <a:p>
            <a:pPr indent="0" marL="0">
              <a:lnSpc>
                <a:spcPts val="1600"/>
              </a:lnSpc>
              <a:buNone/>
            </a:pPr>
            <a:r>
              <a:rPr lang="en-US" sz="1100" dirty="0">
                <a:solidFill>
                  <a:srgbClr val="94A3B8"/>
                </a:solidFill>
                <a:latin typeface="Arial" pitchFamily="34" charset="0"/>
                <a:ea typeface="Arial" pitchFamily="34" charset="-122"/>
                <a:cs typeface="Arial" pitchFamily="34" charset="-120"/>
              </a:rPr>
              <a:t>The concrete capabilities bound to a Topic that execute business logic inside or outside Salesforce.</a:t>
            </a:r>
            <a:endParaRPr lang="en-US" sz="1100" dirty="0"/>
          </a:p>
        </p:txBody>
      </p:sp>
      <p:sp>
        <p:nvSpPr>
          <p:cNvPr id="29" name="Shape 27"/>
          <p:cNvSpPr/>
          <p:nvPr/>
        </p:nvSpPr>
        <p:spPr>
          <a:xfrm>
            <a:off x="8366760" y="3017520"/>
            <a:ext cx="3154680" cy="0"/>
          </a:xfrm>
          <a:prstGeom prst="line">
            <a:avLst/>
          </a:prstGeom>
          <a:noFill/>
          <a:ln w="12700">
            <a:solidFill>
              <a:srgbClr val="233354"/>
            </a:solidFill>
            <a:prstDash val="solid"/>
          </a:ln>
        </p:spPr>
      </p:sp>
      <p:sp>
        <p:nvSpPr>
          <p:cNvPr id="30" name="Text 28"/>
          <p:cNvSpPr/>
          <p:nvPr/>
        </p:nvSpPr>
        <p:spPr>
          <a:xfrm>
            <a:off x="8366760" y="3154680"/>
            <a:ext cx="3154680" cy="228600"/>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KEY ARCHITECTURAL ELEMENTS:</a:t>
            </a:r>
            <a:endParaRPr lang="en-US" sz="900" dirty="0"/>
          </a:p>
        </p:txBody>
      </p:sp>
      <p:sp>
        <p:nvSpPr>
          <p:cNvPr id="31" name="Text 29"/>
          <p:cNvSpPr/>
          <p:nvPr/>
        </p:nvSpPr>
        <p:spPr>
          <a:xfrm>
            <a:off x="8366760" y="3474720"/>
            <a:ext cx="3154680" cy="256032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  Autolaunched Flows (Point-and-click CRM operations)</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Apex @InvocableMethod (Complex algorithms, heavy governor limits)</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Prompt Templates (Grounding LLM prompts with CRM data)</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External Services &amp; MuleSoft APIs (Legacy &amp; 3rd-party ERPs)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20040"/>
            <a:ext cx="1371600" cy="36576"/>
          </a:xfrm>
          <a:prstGeom prst="rect">
            <a:avLst/>
          </a:prstGeom>
          <a:solidFill>
            <a:srgbClr val="00A1E0"/>
          </a:solidFill>
          <a:ln w="12700">
            <a:solidFill>
              <a:srgbClr val="00A1E0"/>
            </a:solidFill>
            <a:prstDash val="solid"/>
          </a:ln>
        </p:spPr>
      </p:sp>
      <p:sp>
        <p:nvSpPr>
          <p:cNvPr id="3" name="Text 1"/>
          <p:cNvSpPr/>
          <p:nvPr/>
        </p:nvSpPr>
        <p:spPr>
          <a:xfrm>
            <a:off x="548640" y="411480"/>
            <a:ext cx="9144000" cy="22860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SECURITY &amp; COMPLIANCE</a:t>
            </a:r>
            <a:endParaRPr lang="en-US" sz="1000" dirty="0"/>
          </a:p>
        </p:txBody>
      </p:sp>
      <p:sp>
        <p:nvSpPr>
          <p:cNvPr id="4" name="Text 2"/>
          <p:cNvSpPr/>
          <p:nvPr/>
        </p:nvSpPr>
        <p:spPr>
          <a:xfrm>
            <a:off x="548640" y="658368"/>
            <a:ext cx="96012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Enterprise Security: Foundation LLMs &amp; Einstein Trust Layer</a:t>
            </a:r>
            <a:endParaRPr lang="en-US" sz="2200" dirty="0"/>
          </a:p>
        </p:txBody>
      </p:sp>
      <p:sp>
        <p:nvSpPr>
          <p:cNvPr id="5" name="Shape 3"/>
          <p:cNvSpPr/>
          <p:nvPr/>
        </p:nvSpPr>
        <p:spPr>
          <a:xfrm>
            <a:off x="548640" y="1170432"/>
            <a:ext cx="11091672" cy="0"/>
          </a:xfrm>
          <a:prstGeom prst="line">
            <a:avLst/>
          </a:prstGeom>
          <a:noFill/>
          <a:ln w="12700">
            <a:solidFill>
              <a:srgbClr val="1E293B"/>
            </a:solidFill>
            <a:prstDash val="solid"/>
          </a:ln>
        </p:spPr>
      </p:sp>
      <p:sp>
        <p:nvSpPr>
          <p:cNvPr id="6"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Salesforce Agentforce &amp; Data 360 Enablement  •  Day 1: Atlas Reasoning Engine</a:t>
            </a:r>
            <a:endParaRPr lang="en-US" sz="900" dirty="0"/>
          </a:p>
        </p:txBody>
      </p:sp>
      <p:sp>
        <p:nvSpPr>
          <p:cNvPr id="7" name="Text 5"/>
          <p:cNvSpPr/>
          <p:nvPr/>
        </p:nvSpPr>
        <p:spPr>
          <a:xfrm>
            <a:off x="10515600" y="6492240"/>
            <a:ext cx="1124712" cy="274320"/>
          </a:xfrm>
          <a:prstGeom prst="rect">
            <a:avLst/>
          </a:prstGeom>
          <a:noFill/>
          <a:ln/>
        </p:spPr>
        <p:txBody>
          <a:bodyPr wrap="square" rtlCol="0" anchor="ctr"/>
          <a:lstStyle/>
          <a:p>
            <a:pPr algn="r" indent="0" marL="0">
              <a:buNone/>
            </a:pPr>
            <a:r>
              <a:rPr lang="en-US" sz="900" b="1" dirty="0">
                <a:solidFill>
                  <a:srgbClr val="00A1E0"/>
                </a:solidFill>
                <a:latin typeface="Arial" pitchFamily="34" charset="0"/>
                <a:ea typeface="Arial" pitchFamily="34" charset="-122"/>
                <a:cs typeface="Arial" pitchFamily="34" charset="-120"/>
              </a:rPr>
              <a:t>6 / 12</a:t>
            </a:r>
            <a:endParaRPr lang="en-US" sz="900" dirty="0"/>
          </a:p>
        </p:txBody>
      </p:sp>
      <p:sp>
        <p:nvSpPr>
          <p:cNvPr id="8" name="Shape 6"/>
          <p:cNvSpPr/>
          <p:nvPr/>
        </p:nvSpPr>
        <p:spPr>
          <a:xfrm>
            <a:off x="548640" y="1417320"/>
            <a:ext cx="5440680" cy="2240280"/>
          </a:xfrm>
          <a:prstGeom prst="roundRect">
            <a:avLst>
              <a:gd name="adj" fmla="val 4082"/>
            </a:avLst>
          </a:prstGeom>
          <a:solidFill>
            <a:srgbClr val="131B2E"/>
          </a:solidFill>
          <a:ln w="15240">
            <a:solidFill>
              <a:srgbClr val="10B981"/>
            </a:solidFill>
            <a:prstDash val="solid"/>
          </a:ln>
        </p:spPr>
      </p:sp>
      <p:sp>
        <p:nvSpPr>
          <p:cNvPr id="9" name="Shape 7"/>
          <p:cNvSpPr/>
          <p:nvPr/>
        </p:nvSpPr>
        <p:spPr>
          <a:xfrm>
            <a:off x="777240" y="1600200"/>
            <a:ext cx="1645920" cy="256032"/>
          </a:xfrm>
          <a:prstGeom prst="roundRect">
            <a:avLst>
              <a:gd name="adj" fmla="val 21429"/>
            </a:avLst>
          </a:prstGeom>
          <a:solidFill>
            <a:srgbClr val="1E293B"/>
          </a:solidFill>
          <a:ln w="12700">
            <a:solidFill>
              <a:srgbClr val="10B981"/>
            </a:solidFill>
            <a:prstDash val="solid"/>
          </a:ln>
        </p:spPr>
      </p:sp>
      <p:sp>
        <p:nvSpPr>
          <p:cNvPr id="10" name="Text 8"/>
          <p:cNvSpPr/>
          <p:nvPr/>
        </p:nvSpPr>
        <p:spPr>
          <a:xfrm>
            <a:off x="777240" y="1600200"/>
            <a:ext cx="1645920" cy="256032"/>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DATA PRIVACY</a:t>
            </a:r>
            <a:endParaRPr lang="en-US" sz="850" dirty="0"/>
          </a:p>
        </p:txBody>
      </p:sp>
      <p:sp>
        <p:nvSpPr>
          <p:cNvPr id="11" name="Text 9"/>
          <p:cNvSpPr/>
          <p:nvPr/>
        </p:nvSpPr>
        <p:spPr>
          <a:xfrm>
            <a:off x="2560320" y="1600200"/>
            <a:ext cx="3200400" cy="27432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Zero Data Retention (ZDR)</a:t>
            </a:r>
            <a:endParaRPr lang="en-US" sz="1400" dirty="0"/>
          </a:p>
        </p:txBody>
      </p:sp>
      <p:sp>
        <p:nvSpPr>
          <p:cNvPr id="12" name="Text 10"/>
          <p:cNvSpPr/>
          <p:nvPr/>
        </p:nvSpPr>
        <p:spPr>
          <a:xfrm>
            <a:off x="777240" y="2011680"/>
            <a:ext cx="4983480" cy="86868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Strict contractual &amp; architectural guarantee that foundational LLM vendors (OpenAI, Anthropic, Google) NEVER store, retain, or use enterprise customer data to train models.</a:t>
            </a:r>
            <a:endParaRPr lang="en-US" sz="1050" dirty="0"/>
          </a:p>
        </p:txBody>
      </p:sp>
      <p:sp>
        <p:nvSpPr>
          <p:cNvPr id="13" name="Shape 11"/>
          <p:cNvSpPr/>
          <p:nvPr/>
        </p:nvSpPr>
        <p:spPr>
          <a:xfrm>
            <a:off x="777240" y="2971800"/>
            <a:ext cx="4983480" cy="502920"/>
          </a:xfrm>
          <a:prstGeom prst="roundRect">
            <a:avLst>
              <a:gd name="adj" fmla="val 10909"/>
            </a:avLst>
          </a:prstGeom>
          <a:solidFill>
            <a:srgbClr val="0D1527"/>
          </a:solidFill>
          <a:ln w="12700">
            <a:solidFill>
              <a:srgbClr val="233354"/>
            </a:solidFill>
            <a:prstDash val="solid"/>
          </a:ln>
        </p:spPr>
      </p:sp>
      <p:sp>
        <p:nvSpPr>
          <p:cNvPr id="14" name="Text 12"/>
          <p:cNvSpPr/>
          <p:nvPr/>
        </p:nvSpPr>
        <p:spPr>
          <a:xfrm>
            <a:off x="914400" y="3017520"/>
            <a:ext cx="4709160" cy="41148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  Architecture Note: Salesforce Private Gateway enforces stateless transient inference.</a:t>
            </a:r>
            <a:endParaRPr lang="en-US" sz="950" dirty="0"/>
          </a:p>
        </p:txBody>
      </p:sp>
      <p:sp>
        <p:nvSpPr>
          <p:cNvPr id="15" name="Shape 13"/>
          <p:cNvSpPr/>
          <p:nvPr/>
        </p:nvSpPr>
        <p:spPr>
          <a:xfrm>
            <a:off x="6217920" y="1417320"/>
            <a:ext cx="5440680" cy="2240280"/>
          </a:xfrm>
          <a:prstGeom prst="roundRect">
            <a:avLst>
              <a:gd name="adj" fmla="val 4082"/>
            </a:avLst>
          </a:prstGeom>
          <a:solidFill>
            <a:srgbClr val="131B2E"/>
          </a:solidFill>
          <a:ln w="15240">
            <a:solidFill>
              <a:srgbClr val="00A1E0"/>
            </a:solidFill>
            <a:prstDash val="solid"/>
          </a:ln>
        </p:spPr>
      </p:sp>
      <p:sp>
        <p:nvSpPr>
          <p:cNvPr id="16" name="Shape 14"/>
          <p:cNvSpPr/>
          <p:nvPr/>
        </p:nvSpPr>
        <p:spPr>
          <a:xfrm>
            <a:off x="6446520" y="1600200"/>
            <a:ext cx="1645920" cy="256032"/>
          </a:xfrm>
          <a:prstGeom prst="roundRect">
            <a:avLst>
              <a:gd name="adj" fmla="val 21429"/>
            </a:avLst>
          </a:prstGeom>
          <a:solidFill>
            <a:srgbClr val="1E293B"/>
          </a:solidFill>
          <a:ln w="12700">
            <a:solidFill>
              <a:srgbClr val="00A1E0"/>
            </a:solidFill>
            <a:prstDash val="solid"/>
          </a:ln>
        </p:spPr>
      </p:sp>
      <p:sp>
        <p:nvSpPr>
          <p:cNvPr id="17" name="Text 15"/>
          <p:cNvSpPr/>
          <p:nvPr/>
        </p:nvSpPr>
        <p:spPr>
          <a:xfrm>
            <a:off x="6446520" y="1600200"/>
            <a:ext cx="1645920" cy="256032"/>
          </a:xfrm>
          <a:prstGeom prst="rect">
            <a:avLst/>
          </a:prstGeom>
          <a:noFill/>
          <a:ln/>
        </p:spPr>
        <p:txBody>
          <a:bodyPr wrap="square" rtlCol="0" anchor="ctr"/>
          <a:lstStyle/>
          <a:p>
            <a:pPr algn="ctr" indent="0" marL="0">
              <a:buNone/>
            </a:pPr>
            <a:r>
              <a:rPr lang="en-US" sz="850" b="1" dirty="0">
                <a:solidFill>
                  <a:srgbClr val="00A1E0"/>
                </a:solidFill>
                <a:latin typeface="Arial" pitchFamily="34" charset="0"/>
                <a:ea typeface="Arial" pitchFamily="34" charset="-122"/>
                <a:cs typeface="Arial" pitchFamily="34" charset="-120"/>
              </a:rPr>
              <a:t>DATA ANONYMIZATION</a:t>
            </a:r>
            <a:endParaRPr lang="en-US" sz="850" dirty="0"/>
          </a:p>
        </p:txBody>
      </p:sp>
      <p:sp>
        <p:nvSpPr>
          <p:cNvPr id="18" name="Text 16"/>
          <p:cNvSpPr/>
          <p:nvPr/>
        </p:nvSpPr>
        <p:spPr>
          <a:xfrm>
            <a:off x="8229600" y="1600200"/>
            <a:ext cx="3200400" cy="27432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Dynamic PII Masking</a:t>
            </a:r>
            <a:endParaRPr lang="en-US" sz="1400" dirty="0"/>
          </a:p>
        </p:txBody>
      </p:sp>
      <p:sp>
        <p:nvSpPr>
          <p:cNvPr id="19" name="Text 17"/>
          <p:cNvSpPr/>
          <p:nvPr/>
        </p:nvSpPr>
        <p:spPr>
          <a:xfrm>
            <a:off x="6446520" y="2011680"/>
            <a:ext cx="4983480" cy="86868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Automatically scans and replaces sensitive customer data (SSNs, credit card numbers, email addresses, phone numbers) with synthetic tokens prior to LLM dispatch.</a:t>
            </a:r>
            <a:endParaRPr lang="en-US" sz="1050" dirty="0"/>
          </a:p>
        </p:txBody>
      </p:sp>
      <p:sp>
        <p:nvSpPr>
          <p:cNvPr id="20" name="Shape 18"/>
          <p:cNvSpPr/>
          <p:nvPr/>
        </p:nvSpPr>
        <p:spPr>
          <a:xfrm>
            <a:off x="6446520" y="2971800"/>
            <a:ext cx="4983480" cy="502920"/>
          </a:xfrm>
          <a:prstGeom prst="roundRect">
            <a:avLst>
              <a:gd name="adj" fmla="val 10909"/>
            </a:avLst>
          </a:prstGeom>
          <a:solidFill>
            <a:srgbClr val="0D1527"/>
          </a:solidFill>
          <a:ln w="12700">
            <a:solidFill>
              <a:srgbClr val="233354"/>
            </a:solidFill>
            <a:prstDash val="solid"/>
          </a:ln>
        </p:spPr>
      </p:sp>
      <p:sp>
        <p:nvSpPr>
          <p:cNvPr id="21" name="Text 19"/>
          <p:cNvSpPr/>
          <p:nvPr/>
        </p:nvSpPr>
        <p:spPr>
          <a:xfrm>
            <a:off x="6583680" y="3017520"/>
            <a:ext cx="4709160" cy="41148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  Architecture Note: Masks reversed automatically when response re-enters Salesforce.</a:t>
            </a:r>
            <a:endParaRPr lang="en-US" sz="950" dirty="0"/>
          </a:p>
        </p:txBody>
      </p:sp>
      <p:sp>
        <p:nvSpPr>
          <p:cNvPr id="22" name="Shape 20"/>
          <p:cNvSpPr/>
          <p:nvPr/>
        </p:nvSpPr>
        <p:spPr>
          <a:xfrm>
            <a:off x="548640" y="3840480"/>
            <a:ext cx="5440680" cy="2240280"/>
          </a:xfrm>
          <a:prstGeom prst="roundRect">
            <a:avLst>
              <a:gd name="adj" fmla="val 4082"/>
            </a:avLst>
          </a:prstGeom>
          <a:solidFill>
            <a:srgbClr val="131B2E"/>
          </a:solidFill>
          <a:ln w="15240">
            <a:solidFill>
              <a:srgbClr val="8B5CF6"/>
            </a:solidFill>
            <a:prstDash val="solid"/>
          </a:ln>
        </p:spPr>
      </p:sp>
      <p:sp>
        <p:nvSpPr>
          <p:cNvPr id="23" name="Shape 21"/>
          <p:cNvSpPr/>
          <p:nvPr/>
        </p:nvSpPr>
        <p:spPr>
          <a:xfrm>
            <a:off x="777240" y="4023360"/>
            <a:ext cx="1645920" cy="256032"/>
          </a:xfrm>
          <a:prstGeom prst="roundRect">
            <a:avLst>
              <a:gd name="adj" fmla="val 21429"/>
            </a:avLst>
          </a:prstGeom>
          <a:solidFill>
            <a:srgbClr val="1E293B"/>
          </a:solidFill>
          <a:ln w="12700">
            <a:solidFill>
              <a:srgbClr val="8B5CF6"/>
            </a:solidFill>
            <a:prstDash val="solid"/>
          </a:ln>
        </p:spPr>
      </p:sp>
      <p:sp>
        <p:nvSpPr>
          <p:cNvPr id="24" name="Text 22"/>
          <p:cNvSpPr/>
          <p:nvPr/>
        </p:nvSpPr>
        <p:spPr>
          <a:xfrm>
            <a:off x="777240" y="4023360"/>
            <a:ext cx="1645920" cy="256032"/>
          </a:xfrm>
          <a:prstGeom prst="rect">
            <a:avLst/>
          </a:prstGeom>
          <a:noFill/>
          <a:ln/>
        </p:spPr>
        <p:txBody>
          <a:bodyPr wrap="square" rtlCol="0" anchor="ctr"/>
          <a:lstStyle/>
          <a:p>
            <a:pPr algn="ctr" indent="0" marL="0">
              <a:buNone/>
            </a:pPr>
            <a:r>
              <a:rPr lang="en-US" sz="850" b="1" dirty="0">
                <a:solidFill>
                  <a:srgbClr val="8B5CF6"/>
                </a:solidFill>
                <a:latin typeface="Arial" pitchFamily="34" charset="0"/>
                <a:ea typeface="Arial" pitchFamily="34" charset="-122"/>
                <a:cs typeface="Arial" pitchFamily="34" charset="-120"/>
              </a:rPr>
              <a:t>POLICY ENFORCEMENT</a:t>
            </a:r>
            <a:endParaRPr lang="en-US" sz="850" dirty="0"/>
          </a:p>
        </p:txBody>
      </p:sp>
      <p:sp>
        <p:nvSpPr>
          <p:cNvPr id="25" name="Text 23"/>
          <p:cNvSpPr/>
          <p:nvPr/>
        </p:nvSpPr>
        <p:spPr>
          <a:xfrm>
            <a:off x="2560320" y="4023360"/>
            <a:ext cx="3200400" cy="27432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Toxicity &amp; Guardrails</a:t>
            </a:r>
            <a:endParaRPr lang="en-US" sz="1400" dirty="0"/>
          </a:p>
        </p:txBody>
      </p:sp>
      <p:sp>
        <p:nvSpPr>
          <p:cNvPr id="26" name="Text 24"/>
          <p:cNvSpPr/>
          <p:nvPr/>
        </p:nvSpPr>
        <p:spPr>
          <a:xfrm>
            <a:off x="777240" y="4434840"/>
            <a:ext cx="4983480" cy="86868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Real-time safety classifiers evaluate both incoming user prompts and outgoing LLM responses for toxicity, hate speech, bias, prompt injection attacks, and hallucination.</a:t>
            </a:r>
            <a:endParaRPr lang="en-US" sz="1050" dirty="0"/>
          </a:p>
        </p:txBody>
      </p:sp>
      <p:sp>
        <p:nvSpPr>
          <p:cNvPr id="27" name="Shape 25"/>
          <p:cNvSpPr/>
          <p:nvPr/>
        </p:nvSpPr>
        <p:spPr>
          <a:xfrm>
            <a:off x="777240" y="5394960"/>
            <a:ext cx="4983480" cy="502920"/>
          </a:xfrm>
          <a:prstGeom prst="roundRect">
            <a:avLst>
              <a:gd name="adj" fmla="val 10909"/>
            </a:avLst>
          </a:prstGeom>
          <a:solidFill>
            <a:srgbClr val="0D1527"/>
          </a:solidFill>
          <a:ln w="12700">
            <a:solidFill>
              <a:srgbClr val="233354"/>
            </a:solidFill>
            <a:prstDash val="solid"/>
          </a:ln>
        </p:spPr>
      </p:sp>
      <p:sp>
        <p:nvSpPr>
          <p:cNvPr id="28" name="Text 26"/>
          <p:cNvSpPr/>
          <p:nvPr/>
        </p:nvSpPr>
        <p:spPr>
          <a:xfrm>
            <a:off x="914400" y="5440680"/>
            <a:ext cx="4709160" cy="41148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  Architecture Note: Scoring threshold automatically suppresses violating responses.</a:t>
            </a:r>
            <a:endParaRPr lang="en-US" sz="950" dirty="0"/>
          </a:p>
        </p:txBody>
      </p:sp>
      <p:sp>
        <p:nvSpPr>
          <p:cNvPr id="29" name="Shape 27"/>
          <p:cNvSpPr/>
          <p:nvPr/>
        </p:nvSpPr>
        <p:spPr>
          <a:xfrm>
            <a:off x="6217920" y="3840480"/>
            <a:ext cx="5440680" cy="2240280"/>
          </a:xfrm>
          <a:prstGeom prst="roundRect">
            <a:avLst>
              <a:gd name="adj" fmla="val 4082"/>
            </a:avLst>
          </a:prstGeom>
          <a:solidFill>
            <a:srgbClr val="131B2E"/>
          </a:solidFill>
          <a:ln w="15240">
            <a:solidFill>
              <a:srgbClr val="F59E0B"/>
            </a:solidFill>
            <a:prstDash val="solid"/>
          </a:ln>
        </p:spPr>
      </p:sp>
      <p:sp>
        <p:nvSpPr>
          <p:cNvPr id="30" name="Shape 28"/>
          <p:cNvSpPr/>
          <p:nvPr/>
        </p:nvSpPr>
        <p:spPr>
          <a:xfrm>
            <a:off x="6446520" y="4023360"/>
            <a:ext cx="1645920" cy="256032"/>
          </a:xfrm>
          <a:prstGeom prst="roundRect">
            <a:avLst>
              <a:gd name="adj" fmla="val 21429"/>
            </a:avLst>
          </a:prstGeom>
          <a:solidFill>
            <a:srgbClr val="1E293B"/>
          </a:solidFill>
          <a:ln w="12700">
            <a:solidFill>
              <a:srgbClr val="F59E0B"/>
            </a:solidFill>
            <a:prstDash val="solid"/>
          </a:ln>
        </p:spPr>
      </p:sp>
      <p:sp>
        <p:nvSpPr>
          <p:cNvPr id="31" name="Text 29"/>
          <p:cNvSpPr/>
          <p:nvPr/>
        </p:nvSpPr>
        <p:spPr>
          <a:xfrm>
            <a:off x="6446520" y="4023360"/>
            <a:ext cx="1645920" cy="256032"/>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ENTERPRISE AUDIT</a:t>
            </a:r>
            <a:endParaRPr lang="en-US" sz="850" dirty="0"/>
          </a:p>
        </p:txBody>
      </p:sp>
      <p:sp>
        <p:nvSpPr>
          <p:cNvPr id="32" name="Text 30"/>
          <p:cNvSpPr/>
          <p:nvPr/>
        </p:nvSpPr>
        <p:spPr>
          <a:xfrm>
            <a:off x="8229600" y="4023360"/>
            <a:ext cx="3200400" cy="27432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Immutable Audit Trail</a:t>
            </a:r>
            <a:endParaRPr lang="en-US" sz="1400" dirty="0"/>
          </a:p>
        </p:txBody>
      </p:sp>
      <p:sp>
        <p:nvSpPr>
          <p:cNvPr id="33" name="Text 31"/>
          <p:cNvSpPr/>
          <p:nvPr/>
        </p:nvSpPr>
        <p:spPr>
          <a:xfrm>
            <a:off x="6446520" y="4434840"/>
            <a:ext cx="4983480" cy="86868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Every single prompt payload, masked entity, generated response, toxicity score, and execution timestamp is securely logged for compliance auditing.</a:t>
            </a:r>
            <a:endParaRPr lang="en-US" sz="1050" dirty="0"/>
          </a:p>
        </p:txBody>
      </p:sp>
      <p:sp>
        <p:nvSpPr>
          <p:cNvPr id="34" name="Shape 32"/>
          <p:cNvSpPr/>
          <p:nvPr/>
        </p:nvSpPr>
        <p:spPr>
          <a:xfrm>
            <a:off x="6446520" y="5394960"/>
            <a:ext cx="4983480" cy="502920"/>
          </a:xfrm>
          <a:prstGeom prst="roundRect">
            <a:avLst>
              <a:gd name="adj" fmla="val 10909"/>
            </a:avLst>
          </a:prstGeom>
          <a:solidFill>
            <a:srgbClr val="0D1527"/>
          </a:solidFill>
          <a:ln w="12700">
            <a:solidFill>
              <a:srgbClr val="233354"/>
            </a:solidFill>
            <a:prstDash val="solid"/>
          </a:ln>
        </p:spPr>
      </p:sp>
      <p:sp>
        <p:nvSpPr>
          <p:cNvPr id="35" name="Text 33"/>
          <p:cNvSpPr/>
          <p:nvPr/>
        </p:nvSpPr>
        <p:spPr>
          <a:xfrm>
            <a:off x="6583680" y="5440680"/>
            <a:ext cx="4709160" cy="41148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  Architecture Note: Exportable directly to Data Cloud or external SIEM platforms.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20040"/>
            <a:ext cx="1371600" cy="36576"/>
          </a:xfrm>
          <a:prstGeom prst="rect">
            <a:avLst/>
          </a:prstGeom>
          <a:solidFill>
            <a:srgbClr val="00A1E0"/>
          </a:solidFill>
          <a:ln w="12700">
            <a:solidFill>
              <a:srgbClr val="00A1E0"/>
            </a:solidFill>
            <a:prstDash val="solid"/>
          </a:ln>
        </p:spPr>
      </p:sp>
      <p:sp>
        <p:nvSpPr>
          <p:cNvPr id="3" name="Text 1"/>
          <p:cNvSpPr/>
          <p:nvPr/>
        </p:nvSpPr>
        <p:spPr>
          <a:xfrm>
            <a:off x="548640" y="411480"/>
            <a:ext cx="9144000" cy="22860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IMPLEMENTATION BLUEPRINT</a:t>
            </a:r>
            <a:endParaRPr lang="en-US" sz="1000" dirty="0"/>
          </a:p>
        </p:txBody>
      </p:sp>
      <p:sp>
        <p:nvSpPr>
          <p:cNvPr id="4" name="Text 2"/>
          <p:cNvSpPr/>
          <p:nvPr/>
        </p:nvSpPr>
        <p:spPr>
          <a:xfrm>
            <a:off x="548640" y="658368"/>
            <a:ext cx="96012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Salesforce Setup Walkthrough: Screen-by-Screen Setup</a:t>
            </a:r>
            <a:endParaRPr lang="en-US" sz="2200" dirty="0"/>
          </a:p>
        </p:txBody>
      </p:sp>
      <p:sp>
        <p:nvSpPr>
          <p:cNvPr id="5" name="Shape 3"/>
          <p:cNvSpPr/>
          <p:nvPr/>
        </p:nvSpPr>
        <p:spPr>
          <a:xfrm>
            <a:off x="548640" y="1170432"/>
            <a:ext cx="11091672" cy="0"/>
          </a:xfrm>
          <a:prstGeom prst="line">
            <a:avLst/>
          </a:prstGeom>
          <a:noFill/>
          <a:ln w="12700">
            <a:solidFill>
              <a:srgbClr val="1E293B"/>
            </a:solidFill>
            <a:prstDash val="solid"/>
          </a:ln>
        </p:spPr>
      </p:sp>
      <p:sp>
        <p:nvSpPr>
          <p:cNvPr id="6"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Salesforce Agentforce &amp; Data 360 Enablement  •  Day 1: Atlas Reasoning Engine</a:t>
            </a:r>
            <a:endParaRPr lang="en-US" sz="900" dirty="0"/>
          </a:p>
        </p:txBody>
      </p:sp>
      <p:sp>
        <p:nvSpPr>
          <p:cNvPr id="7" name="Text 5"/>
          <p:cNvSpPr/>
          <p:nvPr/>
        </p:nvSpPr>
        <p:spPr>
          <a:xfrm>
            <a:off x="10515600" y="6492240"/>
            <a:ext cx="1124712" cy="274320"/>
          </a:xfrm>
          <a:prstGeom prst="rect">
            <a:avLst/>
          </a:prstGeom>
          <a:noFill/>
          <a:ln/>
        </p:spPr>
        <p:txBody>
          <a:bodyPr wrap="square" rtlCol="0" anchor="ctr"/>
          <a:lstStyle/>
          <a:p>
            <a:pPr algn="r" indent="0" marL="0">
              <a:buNone/>
            </a:pPr>
            <a:r>
              <a:rPr lang="en-US" sz="900" b="1" dirty="0">
                <a:solidFill>
                  <a:srgbClr val="00A1E0"/>
                </a:solidFill>
                <a:latin typeface="Arial" pitchFamily="34" charset="0"/>
                <a:ea typeface="Arial" pitchFamily="34" charset="-122"/>
                <a:cs typeface="Arial" pitchFamily="34" charset="-120"/>
              </a:rPr>
              <a:t>7 / 12</a:t>
            </a:r>
            <a:endParaRPr lang="en-US" sz="900" dirty="0"/>
          </a:p>
        </p:txBody>
      </p:sp>
      <p:sp>
        <p:nvSpPr>
          <p:cNvPr id="8" name="Shape 6"/>
          <p:cNvSpPr/>
          <p:nvPr/>
        </p:nvSpPr>
        <p:spPr>
          <a:xfrm>
            <a:off x="548640" y="1417320"/>
            <a:ext cx="11091672" cy="868680"/>
          </a:xfrm>
          <a:prstGeom prst="roundRect">
            <a:avLst>
              <a:gd name="adj" fmla="val 8421"/>
            </a:avLst>
          </a:prstGeom>
          <a:solidFill>
            <a:srgbClr val="131B2E"/>
          </a:solidFill>
          <a:ln w="15240">
            <a:solidFill>
              <a:srgbClr val="233354"/>
            </a:solidFill>
            <a:prstDash val="solid"/>
          </a:ln>
        </p:spPr>
      </p:sp>
      <p:sp>
        <p:nvSpPr>
          <p:cNvPr id="9" name="Shape 7"/>
          <p:cNvSpPr/>
          <p:nvPr/>
        </p:nvSpPr>
        <p:spPr>
          <a:xfrm>
            <a:off x="685800" y="1554480"/>
            <a:ext cx="1005840" cy="594360"/>
          </a:xfrm>
          <a:prstGeom prst="roundRect">
            <a:avLst>
              <a:gd name="adj" fmla="val 9231"/>
            </a:avLst>
          </a:prstGeom>
          <a:solidFill>
            <a:srgbClr val="1E293B"/>
          </a:solidFill>
          <a:ln w="15240">
            <a:solidFill>
              <a:srgbClr val="00A1E0"/>
            </a:solidFill>
            <a:prstDash val="solid"/>
          </a:ln>
        </p:spPr>
      </p:sp>
      <p:sp>
        <p:nvSpPr>
          <p:cNvPr id="10" name="Text 8"/>
          <p:cNvSpPr/>
          <p:nvPr/>
        </p:nvSpPr>
        <p:spPr>
          <a:xfrm>
            <a:off x="685800" y="1673352"/>
            <a:ext cx="1005840" cy="365760"/>
          </a:xfrm>
          <a:prstGeom prst="rect">
            <a:avLst/>
          </a:prstGeom>
          <a:noFill/>
          <a:ln/>
        </p:spPr>
        <p:txBody>
          <a:bodyPr wrap="square" rtlCol="0" anchor="ctr"/>
          <a:lstStyle/>
          <a:p>
            <a:pPr algn="ctr" indent="0" marL="0">
              <a:buNone/>
            </a:pPr>
            <a:r>
              <a:rPr lang="en-US" sz="1100" b="1" dirty="0">
                <a:solidFill>
                  <a:srgbClr val="00A1E0"/>
                </a:solidFill>
                <a:latin typeface="Arial" pitchFamily="34" charset="0"/>
                <a:ea typeface="Arial" pitchFamily="34" charset="-122"/>
                <a:cs typeface="Arial" pitchFamily="34" charset="-120"/>
              </a:rPr>
              <a:t>Step 1</a:t>
            </a:r>
            <a:endParaRPr lang="en-US" sz="1100" dirty="0"/>
          </a:p>
        </p:txBody>
      </p:sp>
      <p:sp>
        <p:nvSpPr>
          <p:cNvPr id="11" name="Text 9"/>
          <p:cNvSpPr/>
          <p:nvPr/>
        </p:nvSpPr>
        <p:spPr>
          <a:xfrm>
            <a:off x="1874520" y="1527048"/>
            <a:ext cx="292608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Turn On Einstein</a:t>
            </a:r>
            <a:endParaRPr lang="en-US" sz="1300" dirty="0"/>
          </a:p>
        </p:txBody>
      </p:sp>
      <p:sp>
        <p:nvSpPr>
          <p:cNvPr id="12" name="Text 10"/>
          <p:cNvSpPr/>
          <p:nvPr/>
        </p:nvSpPr>
        <p:spPr>
          <a:xfrm>
            <a:off x="1874520" y="1856232"/>
            <a:ext cx="4389120" cy="320040"/>
          </a:xfrm>
          <a:prstGeom prst="rect">
            <a:avLst/>
          </a:prstGeom>
          <a:noFill/>
          <a:ln/>
        </p:spPr>
        <p:txBody>
          <a:bodyPr wrap="square" rtlCol="0" anchor="ctr"/>
          <a:lstStyle/>
          <a:p>
            <a:pPr indent="0" marL="0">
              <a:buNone/>
            </a:pPr>
            <a:r>
              <a:rPr lang="en-US" sz="1000" b="1" dirty="0">
                <a:solidFill>
                  <a:srgbClr val="38BDF8"/>
                </a:solidFill>
                <a:latin typeface="Consolas" pitchFamily="34" charset="0"/>
                <a:ea typeface="Consolas" pitchFamily="34" charset="-122"/>
                <a:cs typeface="Consolas" pitchFamily="34" charset="-120"/>
              </a:rPr>
              <a:t>Setup  ➜  Quick Find: "Einstein Setup"  ➜  Toggle "Turn on Einstein"</a:t>
            </a:r>
            <a:endParaRPr lang="en-US" sz="1000" dirty="0"/>
          </a:p>
        </p:txBody>
      </p:sp>
      <p:sp>
        <p:nvSpPr>
          <p:cNvPr id="13" name="Text 11"/>
          <p:cNvSpPr/>
          <p:nvPr/>
        </p:nvSpPr>
        <p:spPr>
          <a:xfrm>
            <a:off x="6400800" y="1554480"/>
            <a:ext cx="5029200" cy="594360"/>
          </a:xfrm>
          <a:prstGeom prst="rect">
            <a:avLst/>
          </a:prstGeom>
          <a:noFill/>
          <a:ln/>
        </p:spPr>
        <p:txBody>
          <a:bodyPr wrap="square" rtlCol="0" anchor="ctr"/>
          <a:lstStyle/>
          <a:p>
            <a:pPr indent="0" marL="0">
              <a:lnSpc>
                <a:spcPts val="1500"/>
              </a:lnSpc>
              <a:buNone/>
            </a:pPr>
            <a:r>
              <a:rPr lang="en-US" sz="1000" dirty="0">
                <a:solidFill>
                  <a:srgbClr val="E2E8F0"/>
                </a:solidFill>
                <a:latin typeface="Arial" pitchFamily="34" charset="0"/>
                <a:ea typeface="Arial" pitchFamily="34" charset="-122"/>
                <a:cs typeface="Arial" pitchFamily="34" charset="-120"/>
              </a:rPr>
              <a:t>Provisions the tenant on the Einstein Platform and enables generative AI foundation APIs and Trust Layer.</a:t>
            </a:r>
            <a:endParaRPr lang="en-US" sz="1000" dirty="0"/>
          </a:p>
        </p:txBody>
      </p:sp>
      <p:sp>
        <p:nvSpPr>
          <p:cNvPr id="14" name="Shape 12"/>
          <p:cNvSpPr/>
          <p:nvPr/>
        </p:nvSpPr>
        <p:spPr>
          <a:xfrm>
            <a:off x="548640" y="2377440"/>
            <a:ext cx="11091672" cy="868680"/>
          </a:xfrm>
          <a:prstGeom prst="roundRect">
            <a:avLst>
              <a:gd name="adj" fmla="val 8421"/>
            </a:avLst>
          </a:prstGeom>
          <a:solidFill>
            <a:srgbClr val="131B2E"/>
          </a:solidFill>
          <a:ln w="15240">
            <a:solidFill>
              <a:srgbClr val="233354"/>
            </a:solidFill>
            <a:prstDash val="solid"/>
          </a:ln>
        </p:spPr>
      </p:sp>
      <p:sp>
        <p:nvSpPr>
          <p:cNvPr id="15" name="Shape 13"/>
          <p:cNvSpPr/>
          <p:nvPr/>
        </p:nvSpPr>
        <p:spPr>
          <a:xfrm>
            <a:off x="685800" y="2514600"/>
            <a:ext cx="1005840" cy="594360"/>
          </a:xfrm>
          <a:prstGeom prst="roundRect">
            <a:avLst>
              <a:gd name="adj" fmla="val 9231"/>
            </a:avLst>
          </a:prstGeom>
          <a:solidFill>
            <a:srgbClr val="1E293B"/>
          </a:solidFill>
          <a:ln w="15240">
            <a:solidFill>
              <a:srgbClr val="00A1E0"/>
            </a:solidFill>
            <a:prstDash val="solid"/>
          </a:ln>
        </p:spPr>
      </p:sp>
      <p:sp>
        <p:nvSpPr>
          <p:cNvPr id="16" name="Text 14"/>
          <p:cNvSpPr/>
          <p:nvPr/>
        </p:nvSpPr>
        <p:spPr>
          <a:xfrm>
            <a:off x="685800" y="2633472"/>
            <a:ext cx="1005840" cy="365760"/>
          </a:xfrm>
          <a:prstGeom prst="rect">
            <a:avLst/>
          </a:prstGeom>
          <a:noFill/>
          <a:ln/>
        </p:spPr>
        <p:txBody>
          <a:bodyPr wrap="square" rtlCol="0" anchor="ctr"/>
          <a:lstStyle/>
          <a:p>
            <a:pPr algn="ctr" indent="0" marL="0">
              <a:buNone/>
            </a:pPr>
            <a:r>
              <a:rPr lang="en-US" sz="1100" b="1" dirty="0">
                <a:solidFill>
                  <a:srgbClr val="00A1E0"/>
                </a:solidFill>
                <a:latin typeface="Arial" pitchFamily="34" charset="0"/>
                <a:ea typeface="Arial" pitchFamily="34" charset="-122"/>
                <a:cs typeface="Arial" pitchFamily="34" charset="-120"/>
              </a:rPr>
              <a:t>Step 2</a:t>
            </a:r>
            <a:endParaRPr lang="en-US" sz="1100" dirty="0"/>
          </a:p>
        </p:txBody>
      </p:sp>
      <p:sp>
        <p:nvSpPr>
          <p:cNvPr id="17" name="Text 15"/>
          <p:cNvSpPr/>
          <p:nvPr/>
        </p:nvSpPr>
        <p:spPr>
          <a:xfrm>
            <a:off x="1874520" y="2487168"/>
            <a:ext cx="292608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Enable Agentforce</a:t>
            </a:r>
            <a:endParaRPr lang="en-US" sz="1300" dirty="0"/>
          </a:p>
        </p:txBody>
      </p:sp>
      <p:sp>
        <p:nvSpPr>
          <p:cNvPr id="18" name="Text 16"/>
          <p:cNvSpPr/>
          <p:nvPr/>
        </p:nvSpPr>
        <p:spPr>
          <a:xfrm>
            <a:off x="1874520" y="2816352"/>
            <a:ext cx="4389120" cy="320040"/>
          </a:xfrm>
          <a:prstGeom prst="rect">
            <a:avLst/>
          </a:prstGeom>
          <a:noFill/>
          <a:ln/>
        </p:spPr>
        <p:txBody>
          <a:bodyPr wrap="square" rtlCol="0" anchor="ctr"/>
          <a:lstStyle/>
          <a:p>
            <a:pPr indent="0" marL="0">
              <a:buNone/>
            </a:pPr>
            <a:r>
              <a:rPr lang="en-US" sz="1000" b="1" dirty="0">
                <a:solidFill>
                  <a:srgbClr val="38BDF8"/>
                </a:solidFill>
                <a:latin typeface="Consolas" pitchFamily="34" charset="0"/>
                <a:ea typeface="Consolas" pitchFamily="34" charset="-122"/>
                <a:cs typeface="Consolas" pitchFamily="34" charset="-120"/>
              </a:rPr>
              <a:t>Setup  ➜  Quick Find: "Agents"  ➜  Toggle "Turn on Agentforce"</a:t>
            </a:r>
            <a:endParaRPr lang="en-US" sz="1000" dirty="0"/>
          </a:p>
        </p:txBody>
      </p:sp>
      <p:sp>
        <p:nvSpPr>
          <p:cNvPr id="19" name="Text 17"/>
          <p:cNvSpPr/>
          <p:nvPr/>
        </p:nvSpPr>
        <p:spPr>
          <a:xfrm>
            <a:off x="6400800" y="2514600"/>
            <a:ext cx="5029200" cy="594360"/>
          </a:xfrm>
          <a:prstGeom prst="rect">
            <a:avLst/>
          </a:prstGeom>
          <a:noFill/>
          <a:ln/>
        </p:spPr>
        <p:txBody>
          <a:bodyPr wrap="square" rtlCol="0" anchor="ctr"/>
          <a:lstStyle/>
          <a:p>
            <a:pPr indent="0" marL="0">
              <a:lnSpc>
                <a:spcPts val="1500"/>
              </a:lnSpc>
              <a:buNone/>
            </a:pPr>
            <a:r>
              <a:rPr lang="en-US" sz="1000" dirty="0">
                <a:solidFill>
                  <a:srgbClr val="E2E8F0"/>
                </a:solidFill>
                <a:latin typeface="Arial" pitchFamily="34" charset="0"/>
                <a:ea typeface="Arial" pitchFamily="34" charset="-122"/>
                <a:cs typeface="Arial" pitchFamily="34" charset="-120"/>
              </a:rPr>
              <a:t>Initializes the Atlas Reasoning Engine runtime inside the Salesforce org and unlocks Agentforce Studio.</a:t>
            </a:r>
            <a:endParaRPr lang="en-US" sz="1000" dirty="0"/>
          </a:p>
        </p:txBody>
      </p:sp>
      <p:sp>
        <p:nvSpPr>
          <p:cNvPr id="20" name="Shape 18"/>
          <p:cNvSpPr/>
          <p:nvPr/>
        </p:nvSpPr>
        <p:spPr>
          <a:xfrm>
            <a:off x="548640" y="3337560"/>
            <a:ext cx="11091672" cy="868680"/>
          </a:xfrm>
          <a:prstGeom prst="roundRect">
            <a:avLst>
              <a:gd name="adj" fmla="val 8421"/>
            </a:avLst>
          </a:prstGeom>
          <a:solidFill>
            <a:srgbClr val="131B2E"/>
          </a:solidFill>
          <a:ln w="15240">
            <a:solidFill>
              <a:srgbClr val="233354"/>
            </a:solidFill>
            <a:prstDash val="solid"/>
          </a:ln>
        </p:spPr>
      </p:sp>
      <p:sp>
        <p:nvSpPr>
          <p:cNvPr id="21" name="Shape 19"/>
          <p:cNvSpPr/>
          <p:nvPr/>
        </p:nvSpPr>
        <p:spPr>
          <a:xfrm>
            <a:off x="685800" y="3474720"/>
            <a:ext cx="1005840" cy="594360"/>
          </a:xfrm>
          <a:prstGeom prst="roundRect">
            <a:avLst>
              <a:gd name="adj" fmla="val 9231"/>
            </a:avLst>
          </a:prstGeom>
          <a:solidFill>
            <a:srgbClr val="1E293B"/>
          </a:solidFill>
          <a:ln w="15240">
            <a:solidFill>
              <a:srgbClr val="8B5CF6"/>
            </a:solidFill>
            <a:prstDash val="solid"/>
          </a:ln>
        </p:spPr>
      </p:sp>
      <p:sp>
        <p:nvSpPr>
          <p:cNvPr id="22" name="Text 20"/>
          <p:cNvSpPr/>
          <p:nvPr/>
        </p:nvSpPr>
        <p:spPr>
          <a:xfrm>
            <a:off x="685800" y="3593592"/>
            <a:ext cx="1005840" cy="365760"/>
          </a:xfrm>
          <a:prstGeom prst="rect">
            <a:avLst/>
          </a:prstGeom>
          <a:noFill/>
          <a:ln/>
        </p:spPr>
        <p:txBody>
          <a:bodyPr wrap="square" rtlCol="0" anchor="ctr"/>
          <a:lstStyle/>
          <a:p>
            <a:pPr algn="ctr" indent="0" marL="0">
              <a:buNone/>
            </a:pPr>
            <a:r>
              <a:rPr lang="en-US" sz="1100" b="1" dirty="0">
                <a:solidFill>
                  <a:srgbClr val="8B5CF6"/>
                </a:solidFill>
                <a:latin typeface="Arial" pitchFamily="34" charset="0"/>
                <a:ea typeface="Arial" pitchFamily="34" charset="-122"/>
                <a:cs typeface="Arial" pitchFamily="34" charset="-120"/>
              </a:rPr>
              <a:t>Step 3</a:t>
            </a:r>
            <a:endParaRPr lang="en-US" sz="1100" dirty="0"/>
          </a:p>
        </p:txBody>
      </p:sp>
      <p:sp>
        <p:nvSpPr>
          <p:cNvPr id="23" name="Text 21"/>
          <p:cNvSpPr/>
          <p:nvPr/>
        </p:nvSpPr>
        <p:spPr>
          <a:xfrm>
            <a:off x="1874520" y="3447288"/>
            <a:ext cx="292608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Create New Agent</a:t>
            </a:r>
            <a:endParaRPr lang="en-US" sz="1300" dirty="0"/>
          </a:p>
        </p:txBody>
      </p:sp>
      <p:sp>
        <p:nvSpPr>
          <p:cNvPr id="24" name="Text 22"/>
          <p:cNvSpPr/>
          <p:nvPr/>
        </p:nvSpPr>
        <p:spPr>
          <a:xfrm>
            <a:off x="1874520" y="3776472"/>
            <a:ext cx="4389120" cy="320040"/>
          </a:xfrm>
          <a:prstGeom prst="rect">
            <a:avLst/>
          </a:prstGeom>
          <a:noFill/>
          <a:ln/>
        </p:spPr>
        <p:txBody>
          <a:bodyPr wrap="square" rtlCol="0" anchor="ctr"/>
          <a:lstStyle/>
          <a:p>
            <a:pPr indent="0" marL="0">
              <a:buNone/>
            </a:pPr>
            <a:r>
              <a:rPr lang="en-US" sz="1000" b="1" dirty="0">
                <a:solidFill>
                  <a:srgbClr val="38BDF8"/>
                </a:solidFill>
                <a:latin typeface="Consolas" pitchFamily="34" charset="0"/>
                <a:ea typeface="Consolas" pitchFamily="34" charset="-122"/>
                <a:cs typeface="Consolas" pitchFamily="34" charset="-120"/>
              </a:rPr>
              <a:t>Agents  ➜  Click "New Agent"  ➜  Select Type (Service / Sales)</a:t>
            </a:r>
            <a:endParaRPr lang="en-US" sz="1000" dirty="0"/>
          </a:p>
        </p:txBody>
      </p:sp>
      <p:sp>
        <p:nvSpPr>
          <p:cNvPr id="25" name="Text 23"/>
          <p:cNvSpPr/>
          <p:nvPr/>
        </p:nvSpPr>
        <p:spPr>
          <a:xfrm>
            <a:off x="6400800" y="3474720"/>
            <a:ext cx="5029200" cy="594360"/>
          </a:xfrm>
          <a:prstGeom prst="rect">
            <a:avLst/>
          </a:prstGeom>
          <a:noFill/>
          <a:ln/>
        </p:spPr>
        <p:txBody>
          <a:bodyPr wrap="square" rtlCol="0" anchor="ctr"/>
          <a:lstStyle/>
          <a:p>
            <a:pPr indent="0" marL="0">
              <a:lnSpc>
                <a:spcPts val="1500"/>
              </a:lnSpc>
              <a:buNone/>
            </a:pPr>
            <a:r>
              <a:rPr lang="en-US" sz="1000" dirty="0">
                <a:solidFill>
                  <a:srgbClr val="E2E8F0"/>
                </a:solidFill>
                <a:latin typeface="Arial" pitchFamily="34" charset="0"/>
                <a:ea typeface="Arial" pitchFamily="34" charset="-122"/>
                <a:cs typeface="Arial" pitchFamily="34" charset="-120"/>
              </a:rPr>
              <a:t>Defines master persona, corporate role ("Tier 1 Support Agent"), tone guidelines, and operational guardrails.</a:t>
            </a:r>
            <a:endParaRPr lang="en-US" sz="1000" dirty="0"/>
          </a:p>
        </p:txBody>
      </p:sp>
      <p:sp>
        <p:nvSpPr>
          <p:cNvPr id="26" name="Shape 24"/>
          <p:cNvSpPr/>
          <p:nvPr/>
        </p:nvSpPr>
        <p:spPr>
          <a:xfrm>
            <a:off x="548640" y="4297680"/>
            <a:ext cx="11091672" cy="868680"/>
          </a:xfrm>
          <a:prstGeom prst="roundRect">
            <a:avLst>
              <a:gd name="adj" fmla="val 8421"/>
            </a:avLst>
          </a:prstGeom>
          <a:solidFill>
            <a:srgbClr val="131B2E"/>
          </a:solidFill>
          <a:ln w="15240">
            <a:solidFill>
              <a:srgbClr val="233354"/>
            </a:solidFill>
            <a:prstDash val="solid"/>
          </a:ln>
        </p:spPr>
      </p:sp>
      <p:sp>
        <p:nvSpPr>
          <p:cNvPr id="27" name="Shape 25"/>
          <p:cNvSpPr/>
          <p:nvPr/>
        </p:nvSpPr>
        <p:spPr>
          <a:xfrm>
            <a:off x="685800" y="4434840"/>
            <a:ext cx="1005840" cy="594360"/>
          </a:xfrm>
          <a:prstGeom prst="roundRect">
            <a:avLst>
              <a:gd name="adj" fmla="val 9231"/>
            </a:avLst>
          </a:prstGeom>
          <a:solidFill>
            <a:srgbClr val="1E293B"/>
          </a:solidFill>
          <a:ln w="15240">
            <a:solidFill>
              <a:srgbClr val="F59E0B"/>
            </a:solidFill>
            <a:prstDash val="solid"/>
          </a:ln>
        </p:spPr>
      </p:sp>
      <p:sp>
        <p:nvSpPr>
          <p:cNvPr id="28" name="Text 26"/>
          <p:cNvSpPr/>
          <p:nvPr/>
        </p:nvSpPr>
        <p:spPr>
          <a:xfrm>
            <a:off x="685800" y="4553712"/>
            <a:ext cx="1005840" cy="365760"/>
          </a:xfrm>
          <a:prstGeom prst="rect">
            <a:avLst/>
          </a:prstGeom>
          <a:noFill/>
          <a:ln/>
        </p:spPr>
        <p:txBody>
          <a:bodyPr wrap="square" rtlCol="0" anchor="ctr"/>
          <a:lstStyle/>
          <a:p>
            <a:pPr algn="ctr" indent="0" marL="0">
              <a:buNone/>
            </a:pPr>
            <a:r>
              <a:rPr lang="en-US" sz="1100" b="1" dirty="0">
                <a:solidFill>
                  <a:srgbClr val="F59E0B"/>
                </a:solidFill>
                <a:latin typeface="Arial" pitchFamily="34" charset="0"/>
                <a:ea typeface="Arial" pitchFamily="34" charset="-122"/>
                <a:cs typeface="Arial" pitchFamily="34" charset="-120"/>
              </a:rPr>
              <a:t>Step 4</a:t>
            </a:r>
            <a:endParaRPr lang="en-US" sz="1100" dirty="0"/>
          </a:p>
        </p:txBody>
      </p:sp>
      <p:sp>
        <p:nvSpPr>
          <p:cNvPr id="29" name="Text 27"/>
          <p:cNvSpPr/>
          <p:nvPr/>
        </p:nvSpPr>
        <p:spPr>
          <a:xfrm>
            <a:off x="1874520" y="4407408"/>
            <a:ext cx="292608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Topic &amp; Action Configuration</a:t>
            </a:r>
            <a:endParaRPr lang="en-US" sz="1300" dirty="0"/>
          </a:p>
        </p:txBody>
      </p:sp>
      <p:sp>
        <p:nvSpPr>
          <p:cNvPr id="30" name="Text 28"/>
          <p:cNvSpPr/>
          <p:nvPr/>
        </p:nvSpPr>
        <p:spPr>
          <a:xfrm>
            <a:off x="1874520" y="4736592"/>
            <a:ext cx="4389120" cy="320040"/>
          </a:xfrm>
          <a:prstGeom prst="rect">
            <a:avLst/>
          </a:prstGeom>
          <a:noFill/>
          <a:ln/>
        </p:spPr>
        <p:txBody>
          <a:bodyPr wrap="square" rtlCol="0" anchor="ctr"/>
          <a:lstStyle/>
          <a:p>
            <a:pPr indent="0" marL="0">
              <a:buNone/>
            </a:pPr>
            <a:r>
              <a:rPr lang="en-US" sz="1000" b="1" dirty="0">
                <a:solidFill>
                  <a:srgbClr val="38BDF8"/>
                </a:solidFill>
                <a:latin typeface="Consolas" pitchFamily="34" charset="0"/>
                <a:ea typeface="Consolas" pitchFamily="34" charset="-122"/>
                <a:cs typeface="Consolas" pitchFamily="34" charset="-120"/>
              </a:rPr>
              <a:t>Agent Builder  ➜  Topics Tab  ➜  "New Topic"  ➜  Bind Actions</a:t>
            </a:r>
            <a:endParaRPr lang="en-US" sz="1000" dirty="0"/>
          </a:p>
        </p:txBody>
      </p:sp>
      <p:sp>
        <p:nvSpPr>
          <p:cNvPr id="31" name="Text 29"/>
          <p:cNvSpPr/>
          <p:nvPr/>
        </p:nvSpPr>
        <p:spPr>
          <a:xfrm>
            <a:off x="6400800" y="4434840"/>
            <a:ext cx="5029200" cy="594360"/>
          </a:xfrm>
          <a:prstGeom prst="rect">
            <a:avLst/>
          </a:prstGeom>
          <a:noFill/>
          <a:ln/>
        </p:spPr>
        <p:txBody>
          <a:bodyPr wrap="square" rtlCol="0" anchor="ctr"/>
          <a:lstStyle/>
          <a:p>
            <a:pPr indent="0" marL="0">
              <a:lnSpc>
                <a:spcPts val="1500"/>
              </a:lnSpc>
              <a:buNone/>
            </a:pPr>
            <a:r>
              <a:rPr lang="en-US" sz="1000" dirty="0">
                <a:solidFill>
                  <a:srgbClr val="E2E8F0"/>
                </a:solidFill>
                <a:latin typeface="Arial" pitchFamily="34" charset="0"/>
                <a:ea typeface="Arial" pitchFamily="34" charset="-122"/>
                <a:cs typeface="Arial" pitchFamily="34" charset="-120"/>
              </a:rPr>
              <a:t>Write high-precision semantic topic descriptions. Attach autolaunched Flows or Apex @Invocables with clean input schemas.</a:t>
            </a:r>
            <a:endParaRPr lang="en-US" sz="1000" dirty="0"/>
          </a:p>
        </p:txBody>
      </p:sp>
      <p:sp>
        <p:nvSpPr>
          <p:cNvPr id="32" name="Shape 30"/>
          <p:cNvSpPr/>
          <p:nvPr/>
        </p:nvSpPr>
        <p:spPr>
          <a:xfrm>
            <a:off x="548640" y="5257800"/>
            <a:ext cx="11091672" cy="868680"/>
          </a:xfrm>
          <a:prstGeom prst="roundRect">
            <a:avLst>
              <a:gd name="adj" fmla="val 8421"/>
            </a:avLst>
          </a:prstGeom>
          <a:solidFill>
            <a:srgbClr val="131B2E"/>
          </a:solidFill>
          <a:ln w="15240">
            <a:solidFill>
              <a:srgbClr val="233354"/>
            </a:solidFill>
            <a:prstDash val="solid"/>
          </a:ln>
        </p:spPr>
      </p:sp>
      <p:sp>
        <p:nvSpPr>
          <p:cNvPr id="33" name="Shape 31"/>
          <p:cNvSpPr/>
          <p:nvPr/>
        </p:nvSpPr>
        <p:spPr>
          <a:xfrm>
            <a:off x="685800" y="5394960"/>
            <a:ext cx="1005840" cy="594360"/>
          </a:xfrm>
          <a:prstGeom prst="roundRect">
            <a:avLst>
              <a:gd name="adj" fmla="val 9231"/>
            </a:avLst>
          </a:prstGeom>
          <a:solidFill>
            <a:srgbClr val="1E293B"/>
          </a:solidFill>
          <a:ln w="15240">
            <a:solidFill>
              <a:srgbClr val="10B981"/>
            </a:solidFill>
            <a:prstDash val="solid"/>
          </a:ln>
        </p:spPr>
      </p:sp>
      <p:sp>
        <p:nvSpPr>
          <p:cNvPr id="34" name="Text 32"/>
          <p:cNvSpPr/>
          <p:nvPr/>
        </p:nvSpPr>
        <p:spPr>
          <a:xfrm>
            <a:off x="685800" y="5513832"/>
            <a:ext cx="1005840" cy="365760"/>
          </a:xfrm>
          <a:prstGeom prst="rect">
            <a:avLst/>
          </a:prstGeom>
          <a:noFill/>
          <a:ln/>
        </p:spPr>
        <p:txBody>
          <a:bodyPr wrap="square"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Step 5</a:t>
            </a:r>
            <a:endParaRPr lang="en-US" sz="1100" dirty="0"/>
          </a:p>
        </p:txBody>
      </p:sp>
      <p:sp>
        <p:nvSpPr>
          <p:cNvPr id="35" name="Text 33"/>
          <p:cNvSpPr/>
          <p:nvPr/>
        </p:nvSpPr>
        <p:spPr>
          <a:xfrm>
            <a:off x="1874520" y="5367528"/>
            <a:ext cx="292608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Testing &amp; Activation</a:t>
            </a:r>
            <a:endParaRPr lang="en-US" sz="1300" dirty="0"/>
          </a:p>
        </p:txBody>
      </p:sp>
      <p:sp>
        <p:nvSpPr>
          <p:cNvPr id="36" name="Text 34"/>
          <p:cNvSpPr/>
          <p:nvPr/>
        </p:nvSpPr>
        <p:spPr>
          <a:xfrm>
            <a:off x="1874520" y="5696712"/>
            <a:ext cx="4389120" cy="320040"/>
          </a:xfrm>
          <a:prstGeom prst="rect">
            <a:avLst/>
          </a:prstGeom>
          <a:noFill/>
          <a:ln/>
        </p:spPr>
        <p:txBody>
          <a:bodyPr wrap="square" rtlCol="0" anchor="ctr"/>
          <a:lstStyle/>
          <a:p>
            <a:pPr indent="0" marL="0">
              <a:buNone/>
            </a:pPr>
            <a:r>
              <a:rPr lang="en-US" sz="1000" b="1" dirty="0">
                <a:solidFill>
                  <a:srgbClr val="38BDF8"/>
                </a:solidFill>
                <a:latin typeface="Consolas" pitchFamily="34" charset="0"/>
                <a:ea typeface="Consolas" pitchFamily="34" charset="-122"/>
                <a:cs typeface="Consolas" pitchFamily="34" charset="-120"/>
              </a:rPr>
              <a:t>Builder Preview Console  ➜  Enter Test Utterance  ➜  Click "Activate"</a:t>
            </a:r>
            <a:endParaRPr lang="en-US" sz="1000" dirty="0"/>
          </a:p>
        </p:txBody>
      </p:sp>
      <p:sp>
        <p:nvSpPr>
          <p:cNvPr id="37" name="Text 35"/>
          <p:cNvSpPr/>
          <p:nvPr/>
        </p:nvSpPr>
        <p:spPr>
          <a:xfrm>
            <a:off x="6400800" y="5394960"/>
            <a:ext cx="5029200" cy="594360"/>
          </a:xfrm>
          <a:prstGeom prst="rect">
            <a:avLst/>
          </a:prstGeom>
          <a:noFill/>
          <a:ln/>
        </p:spPr>
        <p:txBody>
          <a:bodyPr wrap="square" rtlCol="0" anchor="ctr"/>
          <a:lstStyle/>
          <a:p>
            <a:pPr indent="0" marL="0">
              <a:lnSpc>
                <a:spcPts val="1500"/>
              </a:lnSpc>
              <a:buNone/>
            </a:pPr>
            <a:r>
              <a:rPr lang="en-US" sz="1000" dirty="0">
                <a:solidFill>
                  <a:srgbClr val="E2E8F0"/>
                </a:solidFill>
                <a:latin typeface="Arial" pitchFamily="34" charset="0"/>
                <a:ea typeface="Arial" pitchFamily="34" charset="-122"/>
                <a:cs typeface="Arial" pitchFamily="34" charset="-120"/>
              </a:rPr>
              <a:t>Inspect the live Reasoning Log trace. Confirm Topic switching and tool execution before making the agent available to channels.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20040"/>
            <a:ext cx="1371600" cy="36576"/>
          </a:xfrm>
          <a:prstGeom prst="rect">
            <a:avLst/>
          </a:prstGeom>
          <a:solidFill>
            <a:srgbClr val="00A1E0"/>
          </a:solidFill>
          <a:ln w="12700">
            <a:solidFill>
              <a:srgbClr val="00A1E0"/>
            </a:solidFill>
            <a:prstDash val="solid"/>
          </a:ln>
        </p:spPr>
      </p:sp>
      <p:sp>
        <p:nvSpPr>
          <p:cNvPr id="3" name="Text 1"/>
          <p:cNvSpPr/>
          <p:nvPr/>
        </p:nvSpPr>
        <p:spPr>
          <a:xfrm>
            <a:off x="548640" y="411480"/>
            <a:ext cx="9144000" cy="22860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DEBUGGING &amp; OBSERVABILITY</a:t>
            </a:r>
            <a:endParaRPr lang="en-US" sz="1000" dirty="0"/>
          </a:p>
        </p:txBody>
      </p:sp>
      <p:sp>
        <p:nvSpPr>
          <p:cNvPr id="4" name="Text 2"/>
          <p:cNvSpPr/>
          <p:nvPr/>
        </p:nvSpPr>
        <p:spPr>
          <a:xfrm>
            <a:off x="548640" y="658368"/>
            <a:ext cx="96012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Execution Tracing: Reading the Agentforce Reasoning Log</a:t>
            </a:r>
            <a:endParaRPr lang="en-US" sz="2200" dirty="0"/>
          </a:p>
        </p:txBody>
      </p:sp>
      <p:sp>
        <p:nvSpPr>
          <p:cNvPr id="5" name="Shape 3"/>
          <p:cNvSpPr/>
          <p:nvPr/>
        </p:nvSpPr>
        <p:spPr>
          <a:xfrm>
            <a:off x="548640" y="1170432"/>
            <a:ext cx="11091672" cy="0"/>
          </a:xfrm>
          <a:prstGeom prst="line">
            <a:avLst/>
          </a:prstGeom>
          <a:noFill/>
          <a:ln w="12700">
            <a:solidFill>
              <a:srgbClr val="1E293B"/>
            </a:solidFill>
            <a:prstDash val="solid"/>
          </a:ln>
        </p:spPr>
      </p:sp>
      <p:sp>
        <p:nvSpPr>
          <p:cNvPr id="6"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Salesforce Agentforce &amp; Data 360 Enablement  •  Day 1: Atlas Reasoning Engine</a:t>
            </a:r>
            <a:endParaRPr lang="en-US" sz="900" dirty="0"/>
          </a:p>
        </p:txBody>
      </p:sp>
      <p:sp>
        <p:nvSpPr>
          <p:cNvPr id="7" name="Text 5"/>
          <p:cNvSpPr/>
          <p:nvPr/>
        </p:nvSpPr>
        <p:spPr>
          <a:xfrm>
            <a:off x="10515600" y="6492240"/>
            <a:ext cx="1124712" cy="274320"/>
          </a:xfrm>
          <a:prstGeom prst="rect">
            <a:avLst/>
          </a:prstGeom>
          <a:noFill/>
          <a:ln/>
        </p:spPr>
        <p:txBody>
          <a:bodyPr wrap="square" rtlCol="0" anchor="ctr"/>
          <a:lstStyle/>
          <a:p>
            <a:pPr algn="r" indent="0" marL="0">
              <a:buNone/>
            </a:pPr>
            <a:r>
              <a:rPr lang="en-US" sz="900" b="1" dirty="0">
                <a:solidFill>
                  <a:srgbClr val="00A1E0"/>
                </a:solidFill>
                <a:latin typeface="Arial" pitchFamily="34" charset="0"/>
                <a:ea typeface="Arial" pitchFamily="34" charset="-122"/>
                <a:cs typeface="Arial" pitchFamily="34" charset="-120"/>
              </a:rPr>
              <a:t>8 / 12</a:t>
            </a:r>
            <a:endParaRPr lang="en-US" sz="900" dirty="0"/>
          </a:p>
        </p:txBody>
      </p:sp>
      <p:sp>
        <p:nvSpPr>
          <p:cNvPr id="8" name="Shape 6"/>
          <p:cNvSpPr/>
          <p:nvPr/>
        </p:nvSpPr>
        <p:spPr>
          <a:xfrm>
            <a:off x="548640" y="1417320"/>
            <a:ext cx="5943600" cy="4800600"/>
          </a:xfrm>
          <a:prstGeom prst="roundRect">
            <a:avLst>
              <a:gd name="adj" fmla="val 1905"/>
            </a:avLst>
          </a:prstGeom>
          <a:solidFill>
            <a:srgbClr val="080C14"/>
          </a:solidFill>
          <a:ln w="15240">
            <a:solidFill>
              <a:srgbClr val="00A1E0"/>
            </a:solidFill>
            <a:prstDash val="solid"/>
          </a:ln>
        </p:spPr>
      </p:sp>
      <p:sp>
        <p:nvSpPr>
          <p:cNvPr id="9" name="Text 7"/>
          <p:cNvSpPr/>
          <p:nvPr/>
        </p:nvSpPr>
        <p:spPr>
          <a:xfrm>
            <a:off x="822960" y="1600200"/>
            <a:ext cx="5303520" cy="27432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AGENTFORCE BUILDER REASONING LOG TRACE</a:t>
            </a:r>
            <a:endParaRPr lang="en-US" sz="1000" dirty="0"/>
          </a:p>
        </p:txBody>
      </p:sp>
      <p:sp>
        <p:nvSpPr>
          <p:cNvPr id="10" name="Text 8"/>
          <p:cNvSpPr/>
          <p:nvPr/>
        </p:nvSpPr>
        <p:spPr>
          <a:xfrm>
            <a:off x="822960" y="1965960"/>
            <a:ext cx="5394960" cy="4023360"/>
          </a:xfrm>
          <a:prstGeom prst="rect">
            <a:avLst/>
          </a:prstGeom>
          <a:noFill/>
          <a:ln/>
        </p:spPr>
        <p:txBody>
          <a:bodyPr wrap="square" rtlCol="0" anchor="ctr"/>
          <a:lstStyle/>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14:02:01.120 [INPUT] Utterance: "What is the status of case #0001024?"</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14:02:01.350 [CLASSIFIER] Topic Classification:</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-&gt; Selected Topic: "Case Management" (Score: 0.96)</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-&gt; Rejected Topic: "Billing Inquiry" (Score: 0.12)</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14:02:01.580 [REASONING] Thought:</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"User is inquiring about status of case #0001024.</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Action 'Get_Case_Details' matches input parameter</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'CaseNumber' -&gt; '0001024'."</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14:02:01.710 [ACTION CALL] Invoking Tool:</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-&gt; Tool: Autolaunched Flow 'Get_Case_Details'</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-&gt; Ingested Params: { CaseNumber: "0001024" }</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14:02:02.040 [OBSERVATION] Tool Execution Result:</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-&gt; Output: { Status: "New", Priority: "Medium",</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Subject: "System Access Issue" }</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14:02:02.320 [SYNTHESIS] Thought:</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"Goal satisfied. Formulating natural language reply."</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14:02:02.680 [AGENT OUTPUT]:</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"Case #0001024 ('System Access Issue') is currently New</a:t>
            </a:r>
            <a:endParaRPr lang="en-US" sz="900" dirty="0"/>
          </a:p>
          <a:p>
            <a:pPr indent="0" marL="0">
              <a:lnSpc>
                <a:spcPts val="1300"/>
              </a:lnSpc>
              <a:buNone/>
            </a:pPr>
            <a:r>
              <a:rPr lang="en-US" sz="900" dirty="0">
                <a:solidFill>
                  <a:srgbClr val="E2E8F0"/>
                </a:solidFill>
                <a:latin typeface="Consolas" pitchFamily="34" charset="0"/>
                <a:ea typeface="Consolas" pitchFamily="34" charset="-122"/>
                <a:cs typeface="Consolas" pitchFamily="34" charset="-120"/>
              </a:rPr>
              <a:t>              with Medium priority."</a:t>
            </a:r>
            <a:endParaRPr lang="en-US" sz="900" dirty="0"/>
          </a:p>
        </p:txBody>
      </p:sp>
      <p:sp>
        <p:nvSpPr>
          <p:cNvPr id="11" name="Shape 9"/>
          <p:cNvSpPr/>
          <p:nvPr/>
        </p:nvSpPr>
        <p:spPr>
          <a:xfrm>
            <a:off x="6675120" y="1417320"/>
            <a:ext cx="4965192" cy="4800600"/>
          </a:xfrm>
          <a:prstGeom prst="roundRect">
            <a:avLst>
              <a:gd name="adj" fmla="val 1905"/>
            </a:avLst>
          </a:prstGeom>
          <a:solidFill>
            <a:srgbClr val="131B2E"/>
          </a:solidFill>
          <a:ln w="15240">
            <a:solidFill>
              <a:srgbClr val="233354"/>
            </a:solidFill>
            <a:prstDash val="solid"/>
          </a:ln>
        </p:spPr>
      </p:sp>
      <p:sp>
        <p:nvSpPr>
          <p:cNvPr id="12" name="Shape 10"/>
          <p:cNvSpPr/>
          <p:nvPr/>
        </p:nvSpPr>
        <p:spPr>
          <a:xfrm>
            <a:off x="6675120" y="1417320"/>
            <a:ext cx="4965192" cy="73152"/>
          </a:xfrm>
          <a:prstGeom prst="rect">
            <a:avLst/>
          </a:prstGeom>
          <a:solidFill>
            <a:srgbClr val="F59E0B"/>
          </a:solidFill>
          <a:ln w="12700">
            <a:solidFill>
              <a:srgbClr val="F59E0B"/>
            </a:solidFill>
            <a:prstDash val="solid"/>
          </a:ln>
        </p:spPr>
      </p:sp>
      <p:sp>
        <p:nvSpPr>
          <p:cNvPr id="13" name="Text 11"/>
          <p:cNvSpPr/>
          <p:nvPr/>
        </p:nvSpPr>
        <p:spPr>
          <a:xfrm>
            <a:off x="6949440" y="1600200"/>
            <a:ext cx="4389120" cy="27432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ARCHITECTURAL AUDIT CHECKPOINTS</a:t>
            </a:r>
            <a:endParaRPr lang="en-US" sz="1000" dirty="0"/>
          </a:p>
        </p:txBody>
      </p:sp>
      <p:sp>
        <p:nvSpPr>
          <p:cNvPr id="14" name="Text 12"/>
          <p:cNvSpPr/>
          <p:nvPr/>
        </p:nvSpPr>
        <p:spPr>
          <a:xfrm>
            <a:off x="6949440" y="1920240"/>
            <a:ext cx="438912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What Every Architect Must Inspect in the Trace:</a:t>
            </a:r>
            <a:endParaRPr lang="en-US" sz="1300" dirty="0"/>
          </a:p>
        </p:txBody>
      </p:sp>
      <p:sp>
        <p:nvSpPr>
          <p:cNvPr id="15" name="Text 13"/>
          <p:cNvSpPr/>
          <p:nvPr/>
        </p:nvSpPr>
        <p:spPr>
          <a:xfrm>
            <a:off x="6949440" y="2331720"/>
            <a:ext cx="4389120" cy="256032"/>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1. Topic Classification Confidence</a:t>
            </a:r>
            <a:endParaRPr lang="en-US" sz="1100" dirty="0"/>
          </a:p>
        </p:txBody>
      </p:sp>
      <p:sp>
        <p:nvSpPr>
          <p:cNvPr id="16" name="Text 14"/>
          <p:cNvSpPr/>
          <p:nvPr/>
        </p:nvSpPr>
        <p:spPr>
          <a:xfrm>
            <a:off x="6949440" y="2587752"/>
            <a:ext cx="4389120" cy="594360"/>
          </a:xfrm>
          <a:prstGeom prst="rect">
            <a:avLst/>
          </a:prstGeom>
          <a:noFill/>
          <a:ln/>
        </p:spPr>
        <p:txBody>
          <a:bodyPr wrap="square" rtlCol="0" anchor="ctr"/>
          <a:lstStyle/>
          <a:p>
            <a:pPr indent="0" marL="0">
              <a:lnSpc>
                <a:spcPts val="1400"/>
              </a:lnSpc>
              <a:buNone/>
            </a:pPr>
            <a:r>
              <a:rPr lang="en-US" sz="950" dirty="0">
                <a:solidFill>
                  <a:srgbClr val="E2E8F0"/>
                </a:solidFill>
                <a:latin typeface="Arial" pitchFamily="34" charset="0"/>
                <a:ea typeface="Arial" pitchFamily="34" charset="-122"/>
                <a:cs typeface="Arial" pitchFamily="34" charset="-120"/>
              </a:rPr>
              <a:t>Did Atlas pick the intended Topic immediately? If score is below 0.85 or competing topics tie, sharpen the Topic description.</a:t>
            </a:r>
            <a:endParaRPr lang="en-US" sz="950" dirty="0"/>
          </a:p>
        </p:txBody>
      </p:sp>
      <p:sp>
        <p:nvSpPr>
          <p:cNvPr id="17" name="Text 15"/>
          <p:cNvSpPr/>
          <p:nvPr/>
        </p:nvSpPr>
        <p:spPr>
          <a:xfrm>
            <a:off x="6949440" y="3246120"/>
            <a:ext cx="4389120" cy="256032"/>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2. Parameter Extraction Accuracy</a:t>
            </a:r>
            <a:endParaRPr lang="en-US" sz="1100" dirty="0"/>
          </a:p>
        </p:txBody>
      </p:sp>
      <p:sp>
        <p:nvSpPr>
          <p:cNvPr id="18" name="Text 16"/>
          <p:cNvSpPr/>
          <p:nvPr/>
        </p:nvSpPr>
        <p:spPr>
          <a:xfrm>
            <a:off x="6949440" y="3502152"/>
            <a:ext cx="4389120" cy="594360"/>
          </a:xfrm>
          <a:prstGeom prst="rect">
            <a:avLst/>
          </a:prstGeom>
          <a:noFill/>
          <a:ln/>
        </p:spPr>
        <p:txBody>
          <a:bodyPr wrap="square" rtlCol="0" anchor="ctr"/>
          <a:lstStyle/>
          <a:p>
            <a:pPr indent="0" marL="0">
              <a:lnSpc>
                <a:spcPts val="1400"/>
              </a:lnSpc>
              <a:buNone/>
            </a:pPr>
            <a:r>
              <a:rPr lang="en-US" sz="950" dirty="0">
                <a:solidFill>
                  <a:srgbClr val="E2E8F0"/>
                </a:solidFill>
                <a:latin typeface="Arial" pitchFamily="34" charset="0"/>
                <a:ea typeface="Arial" pitchFamily="34" charset="-122"/>
                <a:cs typeface="Arial" pitchFamily="34" charset="-120"/>
              </a:rPr>
              <a:t>Verify that the LLM extracted parameter types correctly (e.g. stripping "#" from "0001024" so the Flow SOQL does not fail).</a:t>
            </a:r>
            <a:endParaRPr lang="en-US" sz="950" dirty="0"/>
          </a:p>
        </p:txBody>
      </p:sp>
      <p:sp>
        <p:nvSpPr>
          <p:cNvPr id="19" name="Text 17"/>
          <p:cNvSpPr/>
          <p:nvPr/>
        </p:nvSpPr>
        <p:spPr>
          <a:xfrm>
            <a:off x="6949440" y="4160520"/>
            <a:ext cx="4389120" cy="256032"/>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3. Tool Response Payload Size</a:t>
            </a:r>
            <a:endParaRPr lang="en-US" sz="1100" dirty="0"/>
          </a:p>
        </p:txBody>
      </p:sp>
      <p:sp>
        <p:nvSpPr>
          <p:cNvPr id="20" name="Text 18"/>
          <p:cNvSpPr/>
          <p:nvPr/>
        </p:nvSpPr>
        <p:spPr>
          <a:xfrm>
            <a:off x="6949440" y="4416552"/>
            <a:ext cx="4389120" cy="594360"/>
          </a:xfrm>
          <a:prstGeom prst="rect">
            <a:avLst/>
          </a:prstGeom>
          <a:noFill/>
          <a:ln/>
        </p:spPr>
        <p:txBody>
          <a:bodyPr wrap="square" rtlCol="0" anchor="ctr"/>
          <a:lstStyle/>
          <a:p>
            <a:pPr indent="0" marL="0">
              <a:lnSpc>
                <a:spcPts val="1400"/>
              </a:lnSpc>
              <a:buNone/>
            </a:pPr>
            <a:r>
              <a:rPr lang="en-US" sz="950" dirty="0">
                <a:solidFill>
                  <a:srgbClr val="E2E8F0"/>
                </a:solidFill>
                <a:latin typeface="Arial" pitchFamily="34" charset="0"/>
                <a:ea typeface="Arial" pitchFamily="34" charset="-122"/>
                <a:cs typeface="Arial" pitchFamily="34" charset="-120"/>
              </a:rPr>
              <a:t>Keep Action outputs concise. Returning 50 unneeded Case fields pollutes LLM context and drives up token latency.</a:t>
            </a:r>
            <a:endParaRPr lang="en-US" sz="950" dirty="0"/>
          </a:p>
        </p:txBody>
      </p:sp>
      <p:sp>
        <p:nvSpPr>
          <p:cNvPr id="21" name="Text 19"/>
          <p:cNvSpPr/>
          <p:nvPr/>
        </p:nvSpPr>
        <p:spPr>
          <a:xfrm>
            <a:off x="6949440" y="5074920"/>
            <a:ext cx="4389120" cy="256032"/>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4. Grounding Fidelity (Zero Hallucination)</a:t>
            </a:r>
            <a:endParaRPr lang="en-US" sz="1100" dirty="0"/>
          </a:p>
        </p:txBody>
      </p:sp>
      <p:sp>
        <p:nvSpPr>
          <p:cNvPr id="22" name="Text 20"/>
          <p:cNvSpPr/>
          <p:nvPr/>
        </p:nvSpPr>
        <p:spPr>
          <a:xfrm>
            <a:off x="6949440" y="5330952"/>
            <a:ext cx="4389120" cy="594360"/>
          </a:xfrm>
          <a:prstGeom prst="rect">
            <a:avLst/>
          </a:prstGeom>
          <a:noFill/>
          <a:ln/>
        </p:spPr>
        <p:txBody>
          <a:bodyPr wrap="square" rtlCol="0" anchor="ctr"/>
          <a:lstStyle/>
          <a:p>
            <a:pPr indent="0" marL="0">
              <a:lnSpc>
                <a:spcPts val="1400"/>
              </a:lnSpc>
              <a:buNone/>
            </a:pPr>
            <a:r>
              <a:rPr lang="en-US" sz="950" dirty="0">
                <a:solidFill>
                  <a:srgbClr val="E2E8F0"/>
                </a:solidFill>
                <a:latin typeface="Arial" pitchFamily="34" charset="0"/>
                <a:ea typeface="Arial" pitchFamily="34" charset="-122"/>
                <a:cs typeface="Arial" pitchFamily="34" charset="-120"/>
              </a:rPr>
              <a:t>Ensure the final agent message only states facts returned in the Observation payload without extrapolating assumptions.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20040"/>
            <a:ext cx="1371600" cy="36576"/>
          </a:xfrm>
          <a:prstGeom prst="rect">
            <a:avLst/>
          </a:prstGeom>
          <a:solidFill>
            <a:srgbClr val="00A1E0"/>
          </a:solidFill>
          <a:ln w="12700">
            <a:solidFill>
              <a:srgbClr val="00A1E0"/>
            </a:solidFill>
            <a:prstDash val="solid"/>
          </a:ln>
        </p:spPr>
      </p:sp>
      <p:sp>
        <p:nvSpPr>
          <p:cNvPr id="3" name="Text 1"/>
          <p:cNvSpPr/>
          <p:nvPr/>
        </p:nvSpPr>
        <p:spPr>
          <a:xfrm>
            <a:off x="548640" y="411480"/>
            <a:ext cx="9144000" cy="22860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PITFALLS &amp; ANTI-PATTERNS</a:t>
            </a:r>
            <a:endParaRPr lang="en-US" sz="1000" dirty="0"/>
          </a:p>
        </p:txBody>
      </p:sp>
      <p:sp>
        <p:nvSpPr>
          <p:cNvPr id="4" name="Text 2"/>
          <p:cNvSpPr/>
          <p:nvPr/>
        </p:nvSpPr>
        <p:spPr>
          <a:xfrm>
            <a:off x="548640" y="658368"/>
            <a:ext cx="96012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Critical Production Architecture Traps &amp; Hard Limits</a:t>
            </a:r>
            <a:endParaRPr lang="en-US" sz="2200" dirty="0"/>
          </a:p>
        </p:txBody>
      </p:sp>
      <p:sp>
        <p:nvSpPr>
          <p:cNvPr id="5" name="Shape 3"/>
          <p:cNvSpPr/>
          <p:nvPr/>
        </p:nvSpPr>
        <p:spPr>
          <a:xfrm>
            <a:off x="548640" y="1170432"/>
            <a:ext cx="11091672" cy="0"/>
          </a:xfrm>
          <a:prstGeom prst="line">
            <a:avLst/>
          </a:prstGeom>
          <a:noFill/>
          <a:ln w="12700">
            <a:solidFill>
              <a:srgbClr val="1E293B"/>
            </a:solidFill>
            <a:prstDash val="solid"/>
          </a:ln>
        </p:spPr>
      </p:sp>
      <p:sp>
        <p:nvSpPr>
          <p:cNvPr id="6"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Salesforce Agentforce &amp; Data 360 Enablement  •  Day 1: Atlas Reasoning Engine</a:t>
            </a:r>
            <a:endParaRPr lang="en-US" sz="900" dirty="0"/>
          </a:p>
        </p:txBody>
      </p:sp>
      <p:sp>
        <p:nvSpPr>
          <p:cNvPr id="7" name="Text 5"/>
          <p:cNvSpPr/>
          <p:nvPr/>
        </p:nvSpPr>
        <p:spPr>
          <a:xfrm>
            <a:off x="10515600" y="6492240"/>
            <a:ext cx="1124712" cy="274320"/>
          </a:xfrm>
          <a:prstGeom prst="rect">
            <a:avLst/>
          </a:prstGeom>
          <a:noFill/>
          <a:ln/>
        </p:spPr>
        <p:txBody>
          <a:bodyPr wrap="square" rtlCol="0" anchor="ctr"/>
          <a:lstStyle/>
          <a:p>
            <a:pPr algn="r" indent="0" marL="0">
              <a:buNone/>
            </a:pPr>
            <a:r>
              <a:rPr lang="en-US" sz="900" b="1" dirty="0">
                <a:solidFill>
                  <a:srgbClr val="00A1E0"/>
                </a:solidFill>
                <a:latin typeface="Arial" pitchFamily="34" charset="0"/>
                <a:ea typeface="Arial" pitchFamily="34" charset="-122"/>
                <a:cs typeface="Arial" pitchFamily="34" charset="-120"/>
              </a:rPr>
              <a:t>9 / 12</a:t>
            </a:r>
            <a:endParaRPr lang="en-US" sz="900" dirty="0"/>
          </a:p>
        </p:txBody>
      </p:sp>
      <p:sp>
        <p:nvSpPr>
          <p:cNvPr id="8" name="Shape 6"/>
          <p:cNvSpPr/>
          <p:nvPr/>
        </p:nvSpPr>
        <p:spPr>
          <a:xfrm>
            <a:off x="548640" y="1417320"/>
            <a:ext cx="5440680" cy="2240280"/>
          </a:xfrm>
          <a:prstGeom prst="roundRect">
            <a:avLst>
              <a:gd name="adj" fmla="val 4082"/>
            </a:avLst>
          </a:prstGeom>
          <a:solidFill>
            <a:srgbClr val="131B2E"/>
          </a:solidFill>
          <a:ln w="15240">
            <a:solidFill>
              <a:srgbClr val="F43F5E"/>
            </a:solidFill>
            <a:prstDash val="solid"/>
          </a:ln>
        </p:spPr>
      </p:sp>
      <p:sp>
        <p:nvSpPr>
          <p:cNvPr id="9" name="Shape 7"/>
          <p:cNvSpPr/>
          <p:nvPr/>
        </p:nvSpPr>
        <p:spPr>
          <a:xfrm>
            <a:off x="548640" y="1417320"/>
            <a:ext cx="5440680" cy="73152"/>
          </a:xfrm>
          <a:prstGeom prst="rect">
            <a:avLst/>
          </a:prstGeom>
          <a:solidFill>
            <a:srgbClr val="F43F5E"/>
          </a:solidFill>
          <a:ln w="12700">
            <a:solidFill>
              <a:srgbClr val="F43F5E"/>
            </a:solidFill>
            <a:prstDash val="solid"/>
          </a:ln>
        </p:spPr>
      </p:sp>
      <p:sp>
        <p:nvSpPr>
          <p:cNvPr id="10" name="Text 8"/>
          <p:cNvSpPr/>
          <p:nvPr/>
        </p:nvSpPr>
        <p:spPr>
          <a:xfrm>
            <a:off x="777240" y="1600200"/>
            <a:ext cx="498348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Trap 1: The Monolithic Topic Anti-Pattern</a:t>
            </a:r>
            <a:endParaRPr lang="en-US" sz="1300" dirty="0"/>
          </a:p>
        </p:txBody>
      </p:sp>
      <p:sp>
        <p:nvSpPr>
          <p:cNvPr id="11" name="Text 9"/>
          <p:cNvSpPr/>
          <p:nvPr/>
        </p:nvSpPr>
        <p:spPr>
          <a:xfrm>
            <a:off x="777240" y="1965960"/>
            <a:ext cx="4983480" cy="731520"/>
          </a:xfrm>
          <a:prstGeom prst="rect">
            <a:avLst/>
          </a:prstGeom>
          <a:noFill/>
          <a:ln/>
        </p:spPr>
        <p:txBody>
          <a:bodyPr wrap="square" rtlCol="0" anchor="ctr"/>
          <a:lstStyle/>
          <a:p>
            <a:pPr indent="0" marL="0">
              <a:lnSpc>
                <a:spcPts val="1400"/>
              </a:lnSpc>
              <a:buNone/>
            </a:pPr>
            <a:r>
              <a:rPr lang="en-US" sz="950" dirty="0">
                <a:solidFill>
                  <a:srgbClr val="FDA4AF"/>
                </a:solidFill>
                <a:latin typeface="Arial" pitchFamily="34" charset="0"/>
                <a:ea typeface="Arial" pitchFamily="34" charset="-122"/>
                <a:cs typeface="Arial" pitchFamily="34" charset="-120"/>
              </a:rPr>
              <a:t>❌ Pitfall: Stuffing 25+ Actions into a single generic Topic ("Customer Service"). Causes severe LLM choice paralysis, tool misfires, and high response latency.</a:t>
            </a:r>
            <a:endParaRPr lang="en-US" sz="950" dirty="0"/>
          </a:p>
        </p:txBody>
      </p:sp>
      <p:sp>
        <p:nvSpPr>
          <p:cNvPr id="12" name="Shape 10"/>
          <p:cNvSpPr/>
          <p:nvPr/>
        </p:nvSpPr>
        <p:spPr>
          <a:xfrm>
            <a:off x="777240" y="2743200"/>
            <a:ext cx="4983480" cy="731520"/>
          </a:xfrm>
          <a:prstGeom prst="roundRect">
            <a:avLst>
              <a:gd name="adj" fmla="val 7500"/>
            </a:avLst>
          </a:prstGeom>
          <a:solidFill>
            <a:srgbClr val="0D1527"/>
          </a:solidFill>
          <a:ln w="12700">
            <a:solidFill>
              <a:srgbClr val="233354"/>
            </a:solidFill>
            <a:prstDash val="solid"/>
          </a:ln>
        </p:spPr>
      </p:sp>
      <p:sp>
        <p:nvSpPr>
          <p:cNvPr id="13" name="Text 11"/>
          <p:cNvSpPr/>
          <p:nvPr/>
        </p:nvSpPr>
        <p:spPr>
          <a:xfrm>
            <a:off x="868680" y="2807208"/>
            <a:ext cx="4800600" cy="621792"/>
          </a:xfrm>
          <a:prstGeom prst="rect">
            <a:avLst/>
          </a:prstGeom>
          <a:noFill/>
          <a:ln/>
        </p:spPr>
        <p:txBody>
          <a:bodyPr wrap="square" rtlCol="0" anchor="ctr"/>
          <a:lstStyle/>
          <a:p>
            <a:pPr indent="0" marL="0">
              <a:lnSpc>
                <a:spcPts val="1400"/>
              </a:lnSpc>
              <a:buNone/>
            </a:pPr>
            <a:r>
              <a:rPr lang="en-US" sz="950" b="1" dirty="0">
                <a:solidFill>
                  <a:srgbClr val="E2E8F0"/>
                </a:solidFill>
                <a:latin typeface="Arial" pitchFamily="34" charset="0"/>
                <a:ea typeface="Arial" pitchFamily="34" charset="-122"/>
                <a:cs typeface="Arial" pitchFamily="34" charset="-120"/>
              </a:rPr>
              <a:t>✅ Architect Solution: Decompose into 3-7 sharply scoped micro-topics (e.g., "Case Inquiries", "Refund Escalations", "Account Updates") with mutually exclusive descriptions.</a:t>
            </a:r>
            <a:endParaRPr lang="en-US" sz="950" dirty="0"/>
          </a:p>
        </p:txBody>
      </p:sp>
      <p:sp>
        <p:nvSpPr>
          <p:cNvPr id="14" name="Shape 12"/>
          <p:cNvSpPr/>
          <p:nvPr/>
        </p:nvSpPr>
        <p:spPr>
          <a:xfrm>
            <a:off x="6217920" y="1417320"/>
            <a:ext cx="5440680" cy="2240280"/>
          </a:xfrm>
          <a:prstGeom prst="roundRect">
            <a:avLst>
              <a:gd name="adj" fmla="val 4082"/>
            </a:avLst>
          </a:prstGeom>
          <a:solidFill>
            <a:srgbClr val="131B2E"/>
          </a:solidFill>
          <a:ln w="15240">
            <a:solidFill>
              <a:srgbClr val="F59E0B"/>
            </a:solidFill>
            <a:prstDash val="solid"/>
          </a:ln>
        </p:spPr>
      </p:sp>
      <p:sp>
        <p:nvSpPr>
          <p:cNvPr id="15" name="Shape 13"/>
          <p:cNvSpPr/>
          <p:nvPr/>
        </p:nvSpPr>
        <p:spPr>
          <a:xfrm>
            <a:off x="6217920" y="1417320"/>
            <a:ext cx="5440680" cy="73152"/>
          </a:xfrm>
          <a:prstGeom prst="rect">
            <a:avLst/>
          </a:prstGeom>
          <a:solidFill>
            <a:srgbClr val="F59E0B"/>
          </a:solidFill>
          <a:ln w="12700">
            <a:solidFill>
              <a:srgbClr val="F59E0B"/>
            </a:solidFill>
            <a:prstDash val="solid"/>
          </a:ln>
        </p:spPr>
      </p:sp>
      <p:sp>
        <p:nvSpPr>
          <p:cNvPr id="16" name="Text 14"/>
          <p:cNvSpPr/>
          <p:nvPr/>
        </p:nvSpPr>
        <p:spPr>
          <a:xfrm>
            <a:off x="6446520" y="1600200"/>
            <a:ext cx="498348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Trap 2: Vague Action Descriptions</a:t>
            </a:r>
            <a:endParaRPr lang="en-US" sz="1300" dirty="0"/>
          </a:p>
        </p:txBody>
      </p:sp>
      <p:sp>
        <p:nvSpPr>
          <p:cNvPr id="17" name="Text 15"/>
          <p:cNvSpPr/>
          <p:nvPr/>
        </p:nvSpPr>
        <p:spPr>
          <a:xfrm>
            <a:off x="6446520" y="1965960"/>
            <a:ext cx="4983480" cy="731520"/>
          </a:xfrm>
          <a:prstGeom prst="rect">
            <a:avLst/>
          </a:prstGeom>
          <a:noFill/>
          <a:ln/>
        </p:spPr>
        <p:txBody>
          <a:bodyPr wrap="square" rtlCol="0" anchor="ctr"/>
          <a:lstStyle/>
          <a:p>
            <a:pPr indent="0" marL="0">
              <a:lnSpc>
                <a:spcPts val="1400"/>
              </a:lnSpc>
              <a:buNone/>
            </a:pPr>
            <a:r>
              <a:rPr lang="en-US" sz="950" dirty="0">
                <a:solidFill>
                  <a:srgbClr val="FDA4AF"/>
                </a:solidFill>
                <a:latin typeface="Arial" pitchFamily="34" charset="0"/>
                <a:ea typeface="Arial" pitchFamily="34" charset="-122"/>
                <a:cs typeface="Arial" pitchFamily="34" charset="-120"/>
              </a:rPr>
              <a:t>❌ Pitfall: Naming an Action "ProcessCase" with description "Processes cases". Atlas cannot decipher when, why, or with what inputs this action should be called.</a:t>
            </a:r>
            <a:endParaRPr lang="en-US" sz="950" dirty="0"/>
          </a:p>
        </p:txBody>
      </p:sp>
      <p:sp>
        <p:nvSpPr>
          <p:cNvPr id="18" name="Shape 16"/>
          <p:cNvSpPr/>
          <p:nvPr/>
        </p:nvSpPr>
        <p:spPr>
          <a:xfrm>
            <a:off x="6446520" y="2743200"/>
            <a:ext cx="4983480" cy="731520"/>
          </a:xfrm>
          <a:prstGeom prst="roundRect">
            <a:avLst>
              <a:gd name="adj" fmla="val 7500"/>
            </a:avLst>
          </a:prstGeom>
          <a:solidFill>
            <a:srgbClr val="0D1527"/>
          </a:solidFill>
          <a:ln w="12700">
            <a:solidFill>
              <a:srgbClr val="233354"/>
            </a:solidFill>
            <a:prstDash val="solid"/>
          </a:ln>
        </p:spPr>
      </p:sp>
      <p:sp>
        <p:nvSpPr>
          <p:cNvPr id="19" name="Text 17"/>
          <p:cNvSpPr/>
          <p:nvPr/>
        </p:nvSpPr>
        <p:spPr>
          <a:xfrm>
            <a:off x="6537960" y="2807208"/>
            <a:ext cx="4800600" cy="621792"/>
          </a:xfrm>
          <a:prstGeom prst="rect">
            <a:avLst/>
          </a:prstGeom>
          <a:noFill/>
          <a:ln/>
        </p:spPr>
        <p:txBody>
          <a:bodyPr wrap="square" rtlCol="0" anchor="ctr"/>
          <a:lstStyle/>
          <a:p>
            <a:pPr indent="0" marL="0">
              <a:lnSpc>
                <a:spcPts val="1400"/>
              </a:lnSpc>
              <a:buNone/>
            </a:pPr>
            <a:r>
              <a:rPr lang="en-US" sz="950" b="1" dirty="0">
                <a:solidFill>
                  <a:srgbClr val="E2E8F0"/>
                </a:solidFill>
                <a:latin typeface="Arial" pitchFamily="34" charset="0"/>
                <a:ea typeface="Arial" pitchFamily="34" charset="-122"/>
                <a:cs typeface="Arial" pitchFamily="34" charset="-120"/>
              </a:rPr>
              <a:t>✅ Architect Solution: Use high-precision semantic phrasing: "Invoked when user provides an existing 8-digit case number to query current status and priority."</a:t>
            </a:r>
            <a:endParaRPr lang="en-US" sz="950" dirty="0"/>
          </a:p>
        </p:txBody>
      </p:sp>
      <p:sp>
        <p:nvSpPr>
          <p:cNvPr id="20" name="Shape 18"/>
          <p:cNvSpPr/>
          <p:nvPr/>
        </p:nvSpPr>
        <p:spPr>
          <a:xfrm>
            <a:off x="548640" y="3840480"/>
            <a:ext cx="5440680" cy="2240280"/>
          </a:xfrm>
          <a:prstGeom prst="roundRect">
            <a:avLst>
              <a:gd name="adj" fmla="val 4082"/>
            </a:avLst>
          </a:prstGeom>
          <a:solidFill>
            <a:srgbClr val="131B2E"/>
          </a:solidFill>
          <a:ln w="15240">
            <a:solidFill>
              <a:srgbClr val="8B5CF6"/>
            </a:solidFill>
            <a:prstDash val="solid"/>
          </a:ln>
        </p:spPr>
      </p:sp>
      <p:sp>
        <p:nvSpPr>
          <p:cNvPr id="21" name="Shape 19"/>
          <p:cNvSpPr/>
          <p:nvPr/>
        </p:nvSpPr>
        <p:spPr>
          <a:xfrm>
            <a:off x="548640" y="3840480"/>
            <a:ext cx="5440680" cy="73152"/>
          </a:xfrm>
          <a:prstGeom prst="rect">
            <a:avLst/>
          </a:prstGeom>
          <a:solidFill>
            <a:srgbClr val="8B5CF6"/>
          </a:solidFill>
          <a:ln w="12700">
            <a:solidFill>
              <a:srgbClr val="8B5CF6"/>
            </a:solidFill>
            <a:prstDash val="solid"/>
          </a:ln>
        </p:spPr>
      </p:sp>
      <p:sp>
        <p:nvSpPr>
          <p:cNvPr id="22" name="Text 20"/>
          <p:cNvSpPr/>
          <p:nvPr/>
        </p:nvSpPr>
        <p:spPr>
          <a:xfrm>
            <a:off x="777240" y="4023360"/>
            <a:ext cx="498348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Trap 3: Unbounded ReAct Execution Loops</a:t>
            </a:r>
            <a:endParaRPr lang="en-US" sz="1300" dirty="0"/>
          </a:p>
        </p:txBody>
      </p:sp>
      <p:sp>
        <p:nvSpPr>
          <p:cNvPr id="23" name="Text 21"/>
          <p:cNvSpPr/>
          <p:nvPr/>
        </p:nvSpPr>
        <p:spPr>
          <a:xfrm>
            <a:off x="777240" y="4389120"/>
            <a:ext cx="4983480" cy="731520"/>
          </a:xfrm>
          <a:prstGeom prst="rect">
            <a:avLst/>
          </a:prstGeom>
          <a:noFill/>
          <a:ln/>
        </p:spPr>
        <p:txBody>
          <a:bodyPr wrap="square" rtlCol="0" anchor="ctr"/>
          <a:lstStyle/>
          <a:p>
            <a:pPr indent="0" marL="0">
              <a:lnSpc>
                <a:spcPts val="1400"/>
              </a:lnSpc>
              <a:buNone/>
            </a:pPr>
            <a:r>
              <a:rPr lang="en-US" sz="950" dirty="0">
                <a:solidFill>
                  <a:srgbClr val="FDA4AF"/>
                </a:solidFill>
                <a:latin typeface="Arial" pitchFamily="34" charset="0"/>
                <a:ea typeface="Arial" pitchFamily="34" charset="-122"/>
                <a:cs typeface="Arial" pitchFamily="34" charset="-120"/>
              </a:rPr>
              <a:t>❌ Pitfall: An Action fails to resolve the user goal, causing Atlas to repeatedly call the same action in an infinite loop, exhausting API limits.</a:t>
            </a:r>
            <a:endParaRPr lang="en-US" sz="950" dirty="0"/>
          </a:p>
        </p:txBody>
      </p:sp>
      <p:sp>
        <p:nvSpPr>
          <p:cNvPr id="24" name="Shape 22"/>
          <p:cNvSpPr/>
          <p:nvPr/>
        </p:nvSpPr>
        <p:spPr>
          <a:xfrm>
            <a:off x="777240" y="5166360"/>
            <a:ext cx="4983480" cy="731520"/>
          </a:xfrm>
          <a:prstGeom prst="roundRect">
            <a:avLst>
              <a:gd name="adj" fmla="val 7500"/>
            </a:avLst>
          </a:prstGeom>
          <a:solidFill>
            <a:srgbClr val="0D1527"/>
          </a:solidFill>
          <a:ln w="12700">
            <a:solidFill>
              <a:srgbClr val="233354"/>
            </a:solidFill>
            <a:prstDash val="solid"/>
          </a:ln>
        </p:spPr>
      </p:sp>
      <p:sp>
        <p:nvSpPr>
          <p:cNvPr id="25" name="Text 23"/>
          <p:cNvSpPr/>
          <p:nvPr/>
        </p:nvSpPr>
        <p:spPr>
          <a:xfrm>
            <a:off x="868680" y="5230368"/>
            <a:ext cx="4800600" cy="621792"/>
          </a:xfrm>
          <a:prstGeom prst="rect">
            <a:avLst/>
          </a:prstGeom>
          <a:noFill/>
          <a:ln/>
        </p:spPr>
        <p:txBody>
          <a:bodyPr wrap="square" rtlCol="0" anchor="ctr"/>
          <a:lstStyle/>
          <a:p>
            <a:pPr indent="0" marL="0">
              <a:lnSpc>
                <a:spcPts val="1400"/>
              </a:lnSpc>
              <a:buNone/>
            </a:pPr>
            <a:r>
              <a:rPr lang="en-US" sz="950" b="1" dirty="0">
                <a:solidFill>
                  <a:srgbClr val="E2E8F0"/>
                </a:solidFill>
                <a:latin typeface="Arial" pitchFamily="34" charset="0"/>
                <a:ea typeface="Arial" pitchFamily="34" charset="-122"/>
                <a:cs typeface="Arial" pitchFamily="34" charset="-120"/>
              </a:rPr>
              <a:t>✅ Architect Solution: Define explicit exit criteria in Topic instructions: "If the case number is not found after 1 search, inform user and do not retry."</a:t>
            </a:r>
            <a:endParaRPr lang="en-US" sz="950" dirty="0"/>
          </a:p>
        </p:txBody>
      </p:sp>
      <p:sp>
        <p:nvSpPr>
          <p:cNvPr id="26" name="Shape 24"/>
          <p:cNvSpPr/>
          <p:nvPr/>
        </p:nvSpPr>
        <p:spPr>
          <a:xfrm>
            <a:off x="6217920" y="3840480"/>
            <a:ext cx="5440680" cy="2240280"/>
          </a:xfrm>
          <a:prstGeom prst="roundRect">
            <a:avLst>
              <a:gd name="adj" fmla="val 4082"/>
            </a:avLst>
          </a:prstGeom>
          <a:solidFill>
            <a:srgbClr val="131B2E"/>
          </a:solidFill>
          <a:ln w="15240">
            <a:solidFill>
              <a:srgbClr val="00A1E0"/>
            </a:solidFill>
            <a:prstDash val="solid"/>
          </a:ln>
        </p:spPr>
      </p:sp>
      <p:sp>
        <p:nvSpPr>
          <p:cNvPr id="27" name="Shape 25"/>
          <p:cNvSpPr/>
          <p:nvPr/>
        </p:nvSpPr>
        <p:spPr>
          <a:xfrm>
            <a:off x="6217920" y="3840480"/>
            <a:ext cx="5440680" cy="73152"/>
          </a:xfrm>
          <a:prstGeom prst="rect">
            <a:avLst/>
          </a:prstGeom>
          <a:solidFill>
            <a:srgbClr val="00A1E0"/>
          </a:solidFill>
          <a:ln w="12700">
            <a:solidFill>
              <a:srgbClr val="00A1E0"/>
            </a:solidFill>
            <a:prstDash val="solid"/>
          </a:ln>
        </p:spPr>
      </p:sp>
      <p:sp>
        <p:nvSpPr>
          <p:cNvPr id="28" name="Text 26"/>
          <p:cNvSpPr/>
          <p:nvPr/>
        </p:nvSpPr>
        <p:spPr>
          <a:xfrm>
            <a:off x="6446520" y="4023360"/>
            <a:ext cx="498348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Trap 4: Context Pollution &amp; PII Leakage</a:t>
            </a:r>
            <a:endParaRPr lang="en-US" sz="1300" dirty="0"/>
          </a:p>
        </p:txBody>
      </p:sp>
      <p:sp>
        <p:nvSpPr>
          <p:cNvPr id="29" name="Text 27"/>
          <p:cNvSpPr/>
          <p:nvPr/>
        </p:nvSpPr>
        <p:spPr>
          <a:xfrm>
            <a:off x="6446520" y="4389120"/>
            <a:ext cx="4983480" cy="731520"/>
          </a:xfrm>
          <a:prstGeom prst="rect">
            <a:avLst/>
          </a:prstGeom>
          <a:noFill/>
          <a:ln/>
        </p:spPr>
        <p:txBody>
          <a:bodyPr wrap="square" rtlCol="0" anchor="ctr"/>
          <a:lstStyle/>
          <a:p>
            <a:pPr indent="0" marL="0">
              <a:lnSpc>
                <a:spcPts val="1400"/>
              </a:lnSpc>
              <a:buNone/>
            </a:pPr>
            <a:r>
              <a:rPr lang="en-US" sz="950" dirty="0">
                <a:solidFill>
                  <a:srgbClr val="FDA4AF"/>
                </a:solidFill>
                <a:latin typeface="Arial" pitchFamily="34" charset="0"/>
                <a:ea typeface="Arial" pitchFamily="34" charset="-122"/>
                <a:cs typeface="Arial" pitchFamily="34" charset="-120"/>
              </a:rPr>
              <a:t>❌ Pitfall: Returning raw Salesforce record objects containing sensitive internal fields, bypassing Field-Level Security (FLS) into LLM context.</a:t>
            </a:r>
            <a:endParaRPr lang="en-US" sz="950" dirty="0"/>
          </a:p>
        </p:txBody>
      </p:sp>
      <p:sp>
        <p:nvSpPr>
          <p:cNvPr id="30" name="Shape 28"/>
          <p:cNvSpPr/>
          <p:nvPr/>
        </p:nvSpPr>
        <p:spPr>
          <a:xfrm>
            <a:off x="6446520" y="5166360"/>
            <a:ext cx="4983480" cy="731520"/>
          </a:xfrm>
          <a:prstGeom prst="roundRect">
            <a:avLst>
              <a:gd name="adj" fmla="val 7500"/>
            </a:avLst>
          </a:prstGeom>
          <a:solidFill>
            <a:srgbClr val="0D1527"/>
          </a:solidFill>
          <a:ln w="12700">
            <a:solidFill>
              <a:srgbClr val="233354"/>
            </a:solidFill>
            <a:prstDash val="solid"/>
          </a:ln>
        </p:spPr>
      </p:sp>
      <p:sp>
        <p:nvSpPr>
          <p:cNvPr id="31" name="Text 29"/>
          <p:cNvSpPr/>
          <p:nvPr/>
        </p:nvSpPr>
        <p:spPr>
          <a:xfrm>
            <a:off x="6537960" y="5230368"/>
            <a:ext cx="4800600" cy="621792"/>
          </a:xfrm>
          <a:prstGeom prst="rect">
            <a:avLst/>
          </a:prstGeom>
          <a:noFill/>
          <a:ln/>
        </p:spPr>
        <p:txBody>
          <a:bodyPr wrap="square" rtlCol="0" anchor="ctr"/>
          <a:lstStyle/>
          <a:p>
            <a:pPr indent="0" marL="0">
              <a:lnSpc>
                <a:spcPts val="1400"/>
              </a:lnSpc>
              <a:buNone/>
            </a:pPr>
            <a:r>
              <a:rPr lang="en-US" sz="950" b="1" dirty="0">
                <a:solidFill>
                  <a:srgbClr val="E2E8F0"/>
                </a:solidFill>
                <a:latin typeface="Arial" pitchFamily="34" charset="0"/>
                <a:ea typeface="Arial" pitchFamily="34" charset="-122"/>
                <a:cs typeface="Arial" pitchFamily="34" charset="-120"/>
              </a:rPr>
              <a:t>✅ Architect Solution: Enforce strict output DTOs in Flows and Apex. Rely on Einstein Trust Layer dynamic masking to sanitize sensitive tokens before model inference.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20040"/>
            <a:ext cx="1371600" cy="36576"/>
          </a:xfrm>
          <a:prstGeom prst="rect">
            <a:avLst/>
          </a:prstGeom>
          <a:solidFill>
            <a:srgbClr val="00A1E0"/>
          </a:solidFill>
          <a:ln w="12700">
            <a:solidFill>
              <a:srgbClr val="00A1E0"/>
            </a:solidFill>
            <a:prstDash val="solid"/>
          </a:ln>
        </p:spPr>
      </p:sp>
      <p:sp>
        <p:nvSpPr>
          <p:cNvPr id="3" name="Text 1"/>
          <p:cNvSpPr/>
          <p:nvPr/>
        </p:nvSpPr>
        <p:spPr>
          <a:xfrm>
            <a:off x="548640" y="411480"/>
            <a:ext cx="9144000" cy="22860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INTERACTIVE WORKSHOP</a:t>
            </a:r>
            <a:endParaRPr lang="en-US" sz="1000" dirty="0"/>
          </a:p>
        </p:txBody>
      </p:sp>
      <p:sp>
        <p:nvSpPr>
          <p:cNvPr id="4" name="Text 2"/>
          <p:cNvSpPr/>
          <p:nvPr/>
        </p:nvSpPr>
        <p:spPr>
          <a:xfrm>
            <a:off x="548640" y="658368"/>
            <a:ext cx="96012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Hands-On Lab: First Contact with Agentforce Builder</a:t>
            </a:r>
            <a:endParaRPr lang="en-US" sz="2200" dirty="0"/>
          </a:p>
        </p:txBody>
      </p:sp>
      <p:sp>
        <p:nvSpPr>
          <p:cNvPr id="5" name="Shape 3"/>
          <p:cNvSpPr/>
          <p:nvPr/>
        </p:nvSpPr>
        <p:spPr>
          <a:xfrm>
            <a:off x="548640" y="1170432"/>
            <a:ext cx="11091672" cy="0"/>
          </a:xfrm>
          <a:prstGeom prst="line">
            <a:avLst/>
          </a:prstGeom>
          <a:noFill/>
          <a:ln w="12700">
            <a:solidFill>
              <a:srgbClr val="1E293B"/>
            </a:solidFill>
            <a:prstDash val="solid"/>
          </a:ln>
        </p:spPr>
      </p:sp>
      <p:sp>
        <p:nvSpPr>
          <p:cNvPr id="6"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Salesforce Agentforce &amp; Data 360 Enablement  •  Day 1: Atlas Reasoning Engine</a:t>
            </a:r>
            <a:endParaRPr lang="en-US" sz="900" dirty="0"/>
          </a:p>
        </p:txBody>
      </p:sp>
      <p:sp>
        <p:nvSpPr>
          <p:cNvPr id="7" name="Text 5"/>
          <p:cNvSpPr/>
          <p:nvPr/>
        </p:nvSpPr>
        <p:spPr>
          <a:xfrm>
            <a:off x="10515600" y="6492240"/>
            <a:ext cx="1124712" cy="274320"/>
          </a:xfrm>
          <a:prstGeom prst="rect">
            <a:avLst/>
          </a:prstGeom>
          <a:noFill/>
          <a:ln/>
        </p:spPr>
        <p:txBody>
          <a:bodyPr wrap="square" rtlCol="0" anchor="ctr"/>
          <a:lstStyle/>
          <a:p>
            <a:pPr algn="r" indent="0" marL="0">
              <a:buNone/>
            </a:pPr>
            <a:r>
              <a:rPr lang="en-US" sz="900" b="1" dirty="0">
                <a:solidFill>
                  <a:srgbClr val="00A1E0"/>
                </a:solidFill>
                <a:latin typeface="Arial" pitchFamily="34" charset="0"/>
                <a:ea typeface="Arial" pitchFamily="34" charset="-122"/>
                <a:cs typeface="Arial" pitchFamily="34" charset="-120"/>
              </a:rPr>
              <a:t>10 / 12</a:t>
            </a:r>
            <a:endParaRPr lang="en-US" sz="900" dirty="0"/>
          </a:p>
        </p:txBody>
      </p:sp>
      <p:sp>
        <p:nvSpPr>
          <p:cNvPr id="8" name="Shape 6"/>
          <p:cNvSpPr/>
          <p:nvPr/>
        </p:nvSpPr>
        <p:spPr>
          <a:xfrm>
            <a:off x="548640" y="1417320"/>
            <a:ext cx="11091672" cy="777240"/>
          </a:xfrm>
          <a:prstGeom prst="roundRect">
            <a:avLst>
              <a:gd name="adj" fmla="val 9412"/>
            </a:avLst>
          </a:prstGeom>
          <a:solidFill>
            <a:srgbClr val="162238"/>
          </a:solidFill>
          <a:ln w="15240">
            <a:solidFill>
              <a:srgbClr val="00A1E0"/>
            </a:solidFill>
            <a:prstDash val="solid"/>
          </a:ln>
        </p:spPr>
      </p:sp>
      <p:sp>
        <p:nvSpPr>
          <p:cNvPr id="9" name="Text 7"/>
          <p:cNvSpPr/>
          <p:nvPr/>
        </p:nvSpPr>
        <p:spPr>
          <a:xfrm>
            <a:off x="822960" y="1536192"/>
            <a:ext cx="10515600" cy="548640"/>
          </a:xfrm>
          <a:prstGeom prst="rect">
            <a:avLst/>
          </a:prstGeom>
          <a:noFill/>
          <a:ln/>
        </p:spPr>
        <p:txBody>
          <a:bodyPr wrap="square" rtlCol="0" anchor="ctr"/>
          <a:lstStyle/>
          <a:p>
            <a:pPr indent="0" marL="0">
              <a:lnSpc>
                <a:spcPts val="1700"/>
              </a:lnSpc>
              <a:buNone/>
            </a:pPr>
            <a:r>
              <a:rPr lang="en-US" sz="1150" b="1" dirty="0">
                <a:solidFill>
                  <a:srgbClr val="F8FAFC"/>
                </a:solidFill>
                <a:latin typeface="Arial" pitchFamily="34" charset="0"/>
                <a:ea typeface="Arial" pitchFamily="34" charset="-122"/>
                <a:cs typeface="Arial" pitchFamily="34" charset="-120"/>
              </a:rPr>
              <a:t>LAB OBJECTIVE: Build, configure, and verify your first autonomous Agent in Agentforce Studio within 30 minutes, handling case queries via dynamic ReAct execution without a single hardcoded decision tree.</a:t>
            </a:r>
            <a:endParaRPr lang="en-US" sz="1150" dirty="0"/>
          </a:p>
        </p:txBody>
      </p:sp>
      <p:sp>
        <p:nvSpPr>
          <p:cNvPr id="10" name="Shape 8"/>
          <p:cNvSpPr/>
          <p:nvPr/>
        </p:nvSpPr>
        <p:spPr>
          <a:xfrm>
            <a:off x="548640" y="2377440"/>
            <a:ext cx="2697480" cy="3840480"/>
          </a:xfrm>
          <a:prstGeom prst="roundRect">
            <a:avLst>
              <a:gd name="adj" fmla="val 3390"/>
            </a:avLst>
          </a:prstGeom>
          <a:solidFill>
            <a:srgbClr val="131B2E"/>
          </a:solidFill>
          <a:ln w="15240">
            <a:solidFill>
              <a:srgbClr val="00A1E0"/>
            </a:solidFill>
            <a:prstDash val="solid"/>
          </a:ln>
        </p:spPr>
      </p:sp>
      <p:sp>
        <p:nvSpPr>
          <p:cNvPr id="11" name="Shape 9"/>
          <p:cNvSpPr/>
          <p:nvPr/>
        </p:nvSpPr>
        <p:spPr>
          <a:xfrm>
            <a:off x="548640" y="2377440"/>
            <a:ext cx="2697480" cy="73152"/>
          </a:xfrm>
          <a:prstGeom prst="rect">
            <a:avLst/>
          </a:prstGeom>
          <a:solidFill>
            <a:srgbClr val="00A1E0"/>
          </a:solidFill>
          <a:ln w="12700">
            <a:solidFill>
              <a:srgbClr val="00A1E0"/>
            </a:solidFill>
            <a:prstDash val="solid"/>
          </a:ln>
        </p:spPr>
      </p:sp>
      <p:sp>
        <p:nvSpPr>
          <p:cNvPr id="12" name="Text 10"/>
          <p:cNvSpPr/>
          <p:nvPr/>
        </p:nvSpPr>
        <p:spPr>
          <a:xfrm>
            <a:off x="731520" y="2560320"/>
            <a:ext cx="2331720" cy="228600"/>
          </a:xfrm>
          <a:prstGeom prst="rect">
            <a:avLst/>
          </a:prstGeom>
          <a:noFill/>
          <a:ln/>
        </p:spPr>
        <p:txBody>
          <a:bodyPr wrap="square" rtlCol="0" anchor="ctr"/>
          <a:lstStyle/>
          <a:p>
            <a:pPr indent="0" marL="0">
              <a:buNone/>
            </a:pPr>
            <a:r>
              <a:rPr lang="en-US" sz="900" b="1" dirty="0">
                <a:solidFill>
                  <a:srgbClr val="00A1E0"/>
                </a:solidFill>
                <a:latin typeface="Arial" pitchFamily="34" charset="0"/>
                <a:ea typeface="Arial" pitchFamily="34" charset="-122"/>
                <a:cs typeface="Arial" pitchFamily="34" charset="-120"/>
              </a:rPr>
              <a:t>PHASE 1</a:t>
            </a:r>
            <a:endParaRPr lang="en-US" sz="900" dirty="0"/>
          </a:p>
        </p:txBody>
      </p:sp>
      <p:sp>
        <p:nvSpPr>
          <p:cNvPr id="13" name="Text 11"/>
          <p:cNvSpPr/>
          <p:nvPr/>
        </p:nvSpPr>
        <p:spPr>
          <a:xfrm>
            <a:off x="731520" y="2788920"/>
            <a:ext cx="233172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Agent Creation</a:t>
            </a:r>
            <a:endParaRPr lang="en-US" sz="1300" dirty="0"/>
          </a:p>
        </p:txBody>
      </p:sp>
      <p:sp>
        <p:nvSpPr>
          <p:cNvPr id="14" name="Text 12"/>
          <p:cNvSpPr/>
          <p:nvPr/>
        </p:nvSpPr>
        <p:spPr>
          <a:xfrm>
            <a:off x="731520" y="3200400"/>
            <a:ext cx="2331720" cy="2834640"/>
          </a:xfrm>
          <a:prstGeom prst="rect">
            <a:avLst/>
          </a:prstGeom>
          <a:noFill/>
          <a:ln/>
        </p:spPr>
        <p:txBody>
          <a:bodyPr wrap="square" rtlCol="0" anchor="ctr"/>
          <a:lstStyle/>
          <a:p>
            <a:pPr indent="0" marL="0">
              <a:lnSpc>
                <a:spcPts val="1600"/>
              </a:lnSpc>
              <a:buNone/>
            </a:pPr>
            <a:r>
              <a:rPr lang="en-US" sz="1000" dirty="0">
                <a:solidFill>
                  <a:srgbClr val="E2E8F0"/>
                </a:solidFill>
                <a:latin typeface="Arial" pitchFamily="34" charset="0"/>
                <a:ea typeface="Arial" pitchFamily="34" charset="-122"/>
                <a:cs typeface="Arial" pitchFamily="34" charset="-120"/>
              </a:rPr>
              <a:t>1.  Navigate to Setup ➜ Agents</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2.  Click New Agent ➜ Service Agent</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3.  Name: "Service Desk Agent"</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4.  Role: "Tier 1 Support Agent specializing in case management"</a:t>
            </a:r>
            <a:endParaRPr lang="en-US" sz="1000" dirty="0"/>
          </a:p>
        </p:txBody>
      </p:sp>
      <p:sp>
        <p:nvSpPr>
          <p:cNvPr id="15" name="Shape 13"/>
          <p:cNvSpPr/>
          <p:nvPr/>
        </p:nvSpPr>
        <p:spPr>
          <a:xfrm>
            <a:off x="3364992" y="2377440"/>
            <a:ext cx="2697480" cy="3840480"/>
          </a:xfrm>
          <a:prstGeom prst="roundRect">
            <a:avLst>
              <a:gd name="adj" fmla="val 3390"/>
            </a:avLst>
          </a:prstGeom>
          <a:solidFill>
            <a:srgbClr val="131B2E"/>
          </a:solidFill>
          <a:ln w="15240">
            <a:solidFill>
              <a:srgbClr val="8B5CF6"/>
            </a:solidFill>
            <a:prstDash val="solid"/>
          </a:ln>
        </p:spPr>
      </p:sp>
      <p:sp>
        <p:nvSpPr>
          <p:cNvPr id="16" name="Shape 14"/>
          <p:cNvSpPr/>
          <p:nvPr/>
        </p:nvSpPr>
        <p:spPr>
          <a:xfrm>
            <a:off x="3364992" y="2377440"/>
            <a:ext cx="2697480" cy="73152"/>
          </a:xfrm>
          <a:prstGeom prst="rect">
            <a:avLst/>
          </a:prstGeom>
          <a:solidFill>
            <a:srgbClr val="8B5CF6"/>
          </a:solidFill>
          <a:ln w="12700">
            <a:solidFill>
              <a:srgbClr val="8B5CF6"/>
            </a:solidFill>
            <a:prstDash val="solid"/>
          </a:ln>
        </p:spPr>
      </p:sp>
      <p:sp>
        <p:nvSpPr>
          <p:cNvPr id="17" name="Text 15"/>
          <p:cNvSpPr/>
          <p:nvPr/>
        </p:nvSpPr>
        <p:spPr>
          <a:xfrm>
            <a:off x="3547872" y="2560320"/>
            <a:ext cx="2331720" cy="228600"/>
          </a:xfrm>
          <a:prstGeom prst="rect">
            <a:avLst/>
          </a:prstGeom>
          <a:noFill/>
          <a:ln/>
        </p:spPr>
        <p:txBody>
          <a:bodyPr wrap="square" rtlCol="0" anchor="ctr"/>
          <a:lstStyle/>
          <a:p>
            <a:pPr indent="0" marL="0">
              <a:buNone/>
            </a:pPr>
            <a:r>
              <a:rPr lang="en-US" sz="900" b="1" dirty="0">
                <a:solidFill>
                  <a:srgbClr val="8B5CF6"/>
                </a:solidFill>
                <a:latin typeface="Arial" pitchFamily="34" charset="0"/>
                <a:ea typeface="Arial" pitchFamily="34" charset="-122"/>
                <a:cs typeface="Arial" pitchFamily="34" charset="-120"/>
              </a:rPr>
              <a:t>PHASE 2</a:t>
            </a:r>
            <a:endParaRPr lang="en-US" sz="900" dirty="0"/>
          </a:p>
        </p:txBody>
      </p:sp>
      <p:sp>
        <p:nvSpPr>
          <p:cNvPr id="18" name="Text 16"/>
          <p:cNvSpPr/>
          <p:nvPr/>
        </p:nvSpPr>
        <p:spPr>
          <a:xfrm>
            <a:off x="3547872" y="2788920"/>
            <a:ext cx="233172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Topic Configuration</a:t>
            </a:r>
            <a:endParaRPr lang="en-US" sz="1300" dirty="0"/>
          </a:p>
        </p:txBody>
      </p:sp>
      <p:sp>
        <p:nvSpPr>
          <p:cNvPr id="19" name="Text 17"/>
          <p:cNvSpPr/>
          <p:nvPr/>
        </p:nvSpPr>
        <p:spPr>
          <a:xfrm>
            <a:off x="3547872" y="3200400"/>
            <a:ext cx="2331720" cy="2834640"/>
          </a:xfrm>
          <a:prstGeom prst="rect">
            <a:avLst/>
          </a:prstGeom>
          <a:noFill/>
          <a:ln/>
        </p:spPr>
        <p:txBody>
          <a:bodyPr wrap="square" rtlCol="0" anchor="ctr"/>
          <a:lstStyle/>
          <a:p>
            <a:pPr indent="0" marL="0">
              <a:lnSpc>
                <a:spcPts val="1600"/>
              </a:lnSpc>
              <a:buNone/>
            </a:pPr>
            <a:r>
              <a:rPr lang="en-US" sz="1000" dirty="0">
                <a:solidFill>
                  <a:srgbClr val="E2E8F0"/>
                </a:solidFill>
                <a:latin typeface="Arial" pitchFamily="34" charset="0"/>
                <a:ea typeface="Arial" pitchFamily="34" charset="-122"/>
                <a:cs typeface="Arial" pitchFamily="34" charset="-120"/>
              </a:rPr>
              <a:t>1.  Create Topic: "Case Inquiry"</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2.  Set Description: "Help customers find and check the status of existing cases"</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3.  Add Scope: "Only lookup existing cases. Escalate if unassigned"</a:t>
            </a:r>
            <a:endParaRPr lang="en-US" sz="1000" dirty="0"/>
          </a:p>
        </p:txBody>
      </p:sp>
      <p:sp>
        <p:nvSpPr>
          <p:cNvPr id="20" name="Shape 18"/>
          <p:cNvSpPr/>
          <p:nvPr/>
        </p:nvSpPr>
        <p:spPr>
          <a:xfrm>
            <a:off x="6181344" y="2377440"/>
            <a:ext cx="2697480" cy="3840480"/>
          </a:xfrm>
          <a:prstGeom prst="roundRect">
            <a:avLst>
              <a:gd name="adj" fmla="val 3390"/>
            </a:avLst>
          </a:prstGeom>
          <a:solidFill>
            <a:srgbClr val="131B2E"/>
          </a:solidFill>
          <a:ln w="15240">
            <a:solidFill>
              <a:srgbClr val="F59E0B"/>
            </a:solidFill>
            <a:prstDash val="solid"/>
          </a:ln>
        </p:spPr>
      </p:sp>
      <p:sp>
        <p:nvSpPr>
          <p:cNvPr id="21" name="Shape 19"/>
          <p:cNvSpPr/>
          <p:nvPr/>
        </p:nvSpPr>
        <p:spPr>
          <a:xfrm>
            <a:off x="6181344" y="2377440"/>
            <a:ext cx="2697480" cy="73152"/>
          </a:xfrm>
          <a:prstGeom prst="rect">
            <a:avLst/>
          </a:prstGeom>
          <a:solidFill>
            <a:srgbClr val="F59E0B"/>
          </a:solidFill>
          <a:ln w="12700">
            <a:solidFill>
              <a:srgbClr val="F59E0B"/>
            </a:solidFill>
            <a:prstDash val="solid"/>
          </a:ln>
        </p:spPr>
      </p:sp>
      <p:sp>
        <p:nvSpPr>
          <p:cNvPr id="22" name="Text 20"/>
          <p:cNvSpPr/>
          <p:nvPr/>
        </p:nvSpPr>
        <p:spPr>
          <a:xfrm>
            <a:off x="6364224" y="2560320"/>
            <a:ext cx="2331720" cy="228600"/>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PHASE 3</a:t>
            </a:r>
            <a:endParaRPr lang="en-US" sz="900" dirty="0"/>
          </a:p>
        </p:txBody>
      </p:sp>
      <p:sp>
        <p:nvSpPr>
          <p:cNvPr id="23" name="Text 21"/>
          <p:cNvSpPr/>
          <p:nvPr/>
        </p:nvSpPr>
        <p:spPr>
          <a:xfrm>
            <a:off x="6364224" y="2788920"/>
            <a:ext cx="233172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Action Binding</a:t>
            </a:r>
            <a:endParaRPr lang="en-US" sz="1300" dirty="0"/>
          </a:p>
        </p:txBody>
      </p:sp>
      <p:sp>
        <p:nvSpPr>
          <p:cNvPr id="24" name="Text 22"/>
          <p:cNvSpPr/>
          <p:nvPr/>
        </p:nvSpPr>
        <p:spPr>
          <a:xfrm>
            <a:off x="6364224" y="3200400"/>
            <a:ext cx="2331720" cy="2834640"/>
          </a:xfrm>
          <a:prstGeom prst="rect">
            <a:avLst/>
          </a:prstGeom>
          <a:noFill/>
          <a:ln/>
        </p:spPr>
        <p:txBody>
          <a:bodyPr wrap="square" rtlCol="0" anchor="ctr"/>
          <a:lstStyle/>
          <a:p>
            <a:pPr indent="0" marL="0">
              <a:lnSpc>
                <a:spcPts val="1600"/>
              </a:lnSpc>
              <a:buNone/>
            </a:pPr>
            <a:r>
              <a:rPr lang="en-US" sz="1000" dirty="0">
                <a:solidFill>
                  <a:srgbClr val="E2E8F0"/>
                </a:solidFill>
                <a:latin typeface="Arial" pitchFamily="34" charset="0"/>
                <a:ea typeface="Arial" pitchFamily="34" charset="-122"/>
                <a:cs typeface="Arial" pitchFamily="34" charset="-120"/>
              </a:rPr>
              <a:t>1.  Attach standard Flow Action: "Get Case By Number"</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2.  Map Input: CaseNumber (String)</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3.  Map Outputs: Subject, Status, Priority</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4.  Save Topic configuration</a:t>
            </a:r>
            <a:endParaRPr lang="en-US" sz="1000" dirty="0"/>
          </a:p>
        </p:txBody>
      </p:sp>
      <p:sp>
        <p:nvSpPr>
          <p:cNvPr id="25" name="Shape 23"/>
          <p:cNvSpPr/>
          <p:nvPr/>
        </p:nvSpPr>
        <p:spPr>
          <a:xfrm>
            <a:off x="8997696" y="2377440"/>
            <a:ext cx="2697480" cy="3840480"/>
          </a:xfrm>
          <a:prstGeom prst="roundRect">
            <a:avLst>
              <a:gd name="adj" fmla="val 3390"/>
            </a:avLst>
          </a:prstGeom>
          <a:solidFill>
            <a:srgbClr val="131B2E"/>
          </a:solidFill>
          <a:ln w="15240">
            <a:solidFill>
              <a:srgbClr val="10B981"/>
            </a:solidFill>
            <a:prstDash val="solid"/>
          </a:ln>
        </p:spPr>
      </p:sp>
      <p:sp>
        <p:nvSpPr>
          <p:cNvPr id="26" name="Shape 24"/>
          <p:cNvSpPr/>
          <p:nvPr/>
        </p:nvSpPr>
        <p:spPr>
          <a:xfrm>
            <a:off x="8997696" y="2377440"/>
            <a:ext cx="2697480" cy="73152"/>
          </a:xfrm>
          <a:prstGeom prst="rect">
            <a:avLst/>
          </a:prstGeom>
          <a:solidFill>
            <a:srgbClr val="10B981"/>
          </a:solidFill>
          <a:ln w="12700">
            <a:solidFill>
              <a:srgbClr val="10B981"/>
            </a:solidFill>
            <a:prstDash val="solid"/>
          </a:ln>
        </p:spPr>
      </p:sp>
      <p:sp>
        <p:nvSpPr>
          <p:cNvPr id="27" name="Text 25"/>
          <p:cNvSpPr/>
          <p:nvPr/>
        </p:nvSpPr>
        <p:spPr>
          <a:xfrm>
            <a:off x="9180576" y="2560320"/>
            <a:ext cx="2331720" cy="228600"/>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PHASE 4</a:t>
            </a:r>
            <a:endParaRPr lang="en-US" sz="900" dirty="0"/>
          </a:p>
        </p:txBody>
      </p:sp>
      <p:sp>
        <p:nvSpPr>
          <p:cNvPr id="28" name="Text 26"/>
          <p:cNvSpPr/>
          <p:nvPr/>
        </p:nvSpPr>
        <p:spPr>
          <a:xfrm>
            <a:off x="9180576" y="2788920"/>
            <a:ext cx="2331720" cy="32004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Reasoning Verification</a:t>
            </a:r>
            <a:endParaRPr lang="en-US" sz="1300" dirty="0"/>
          </a:p>
        </p:txBody>
      </p:sp>
      <p:sp>
        <p:nvSpPr>
          <p:cNvPr id="29" name="Text 27"/>
          <p:cNvSpPr/>
          <p:nvPr/>
        </p:nvSpPr>
        <p:spPr>
          <a:xfrm>
            <a:off x="9180576" y="3200400"/>
            <a:ext cx="2331720" cy="2834640"/>
          </a:xfrm>
          <a:prstGeom prst="rect">
            <a:avLst/>
          </a:prstGeom>
          <a:noFill/>
          <a:ln/>
        </p:spPr>
        <p:txBody>
          <a:bodyPr wrap="square" rtlCol="0" anchor="ctr"/>
          <a:lstStyle/>
          <a:p>
            <a:pPr indent="0" marL="0">
              <a:lnSpc>
                <a:spcPts val="1600"/>
              </a:lnSpc>
              <a:buNone/>
            </a:pPr>
            <a:r>
              <a:rPr lang="en-US" sz="1000" dirty="0">
                <a:solidFill>
                  <a:srgbClr val="E2E8F0"/>
                </a:solidFill>
                <a:latin typeface="Arial" pitchFamily="34" charset="0"/>
                <a:ea typeface="Arial" pitchFamily="34" charset="-122"/>
                <a:cs typeface="Arial" pitchFamily="34" charset="-120"/>
              </a:rPr>
              <a:t>1.  Open Builder Preview Console</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2.  Test Utterance: "Status of #0001024?"</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3.  Open Reasoning Log trace</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4.  Verify Topic score &amp; Flow execution</a:t>
            </a:r>
            <a:endParaRPr lang="en-US" sz="1000" dirty="0"/>
          </a:p>
          <a:p>
            <a:pPr indent="0" marL="0">
              <a:lnSpc>
                <a:spcPts val="1600"/>
              </a:lnSpc>
              <a:buNone/>
            </a:pPr>
            <a:endParaRPr lang="en-US" sz="1000" dirty="0"/>
          </a:p>
          <a:p>
            <a:pPr indent="0" marL="0">
              <a:lnSpc>
                <a:spcPts val="1600"/>
              </a:lnSpc>
              <a:buNone/>
            </a:pPr>
            <a:r>
              <a:rPr lang="en-US" sz="1000" dirty="0">
                <a:solidFill>
                  <a:srgbClr val="E2E8F0"/>
                </a:solidFill>
                <a:latin typeface="Arial" pitchFamily="34" charset="0"/>
                <a:ea typeface="Arial" pitchFamily="34" charset="-122"/>
                <a:cs typeface="Arial" pitchFamily="34" charset="-120"/>
              </a:rPr>
              <a:t>5.  Click Activate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20040"/>
            <a:ext cx="1371600" cy="36576"/>
          </a:xfrm>
          <a:prstGeom prst="rect">
            <a:avLst/>
          </a:prstGeom>
          <a:solidFill>
            <a:srgbClr val="00A1E0"/>
          </a:solidFill>
          <a:ln w="12700">
            <a:solidFill>
              <a:srgbClr val="00A1E0"/>
            </a:solidFill>
            <a:prstDash val="solid"/>
          </a:ln>
        </p:spPr>
      </p:sp>
      <p:sp>
        <p:nvSpPr>
          <p:cNvPr id="3" name="Text 1"/>
          <p:cNvSpPr/>
          <p:nvPr/>
        </p:nvSpPr>
        <p:spPr>
          <a:xfrm>
            <a:off x="548640" y="411480"/>
            <a:ext cx="9144000" cy="22860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KNOWLEDGE VERIFICATION</a:t>
            </a:r>
            <a:endParaRPr lang="en-US" sz="1000" dirty="0"/>
          </a:p>
        </p:txBody>
      </p:sp>
      <p:sp>
        <p:nvSpPr>
          <p:cNvPr id="4" name="Text 2"/>
          <p:cNvSpPr/>
          <p:nvPr/>
        </p:nvSpPr>
        <p:spPr>
          <a:xfrm>
            <a:off x="548640" y="658368"/>
            <a:ext cx="96012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Day 1 Checkpoint Quiz: Architecture Verification</a:t>
            </a:r>
            <a:endParaRPr lang="en-US" sz="2200" dirty="0"/>
          </a:p>
        </p:txBody>
      </p:sp>
      <p:sp>
        <p:nvSpPr>
          <p:cNvPr id="5" name="Shape 3"/>
          <p:cNvSpPr/>
          <p:nvPr/>
        </p:nvSpPr>
        <p:spPr>
          <a:xfrm>
            <a:off x="548640" y="1170432"/>
            <a:ext cx="11091672" cy="0"/>
          </a:xfrm>
          <a:prstGeom prst="line">
            <a:avLst/>
          </a:prstGeom>
          <a:noFill/>
          <a:ln w="12700">
            <a:solidFill>
              <a:srgbClr val="1E293B"/>
            </a:solidFill>
            <a:prstDash val="solid"/>
          </a:ln>
        </p:spPr>
      </p:sp>
      <p:sp>
        <p:nvSpPr>
          <p:cNvPr id="6"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Salesforce Agentforce &amp; Data 360 Enablement  •  Day 1: Atlas Reasoning Engine</a:t>
            </a:r>
            <a:endParaRPr lang="en-US" sz="900" dirty="0"/>
          </a:p>
        </p:txBody>
      </p:sp>
      <p:sp>
        <p:nvSpPr>
          <p:cNvPr id="7" name="Text 5"/>
          <p:cNvSpPr/>
          <p:nvPr/>
        </p:nvSpPr>
        <p:spPr>
          <a:xfrm>
            <a:off x="10515600" y="6492240"/>
            <a:ext cx="1124712" cy="274320"/>
          </a:xfrm>
          <a:prstGeom prst="rect">
            <a:avLst/>
          </a:prstGeom>
          <a:noFill/>
          <a:ln/>
        </p:spPr>
        <p:txBody>
          <a:bodyPr wrap="square" rtlCol="0" anchor="ctr"/>
          <a:lstStyle/>
          <a:p>
            <a:pPr algn="r" indent="0" marL="0">
              <a:buNone/>
            </a:pPr>
            <a:r>
              <a:rPr lang="en-US" sz="900" b="1" dirty="0">
                <a:solidFill>
                  <a:srgbClr val="00A1E0"/>
                </a:solidFill>
                <a:latin typeface="Arial" pitchFamily="34" charset="0"/>
                <a:ea typeface="Arial" pitchFamily="34" charset="-122"/>
                <a:cs typeface="Arial" pitchFamily="34" charset="-120"/>
              </a:rPr>
              <a:t>11 / 12</a:t>
            </a:r>
            <a:endParaRPr lang="en-US" sz="900" dirty="0"/>
          </a:p>
        </p:txBody>
      </p:sp>
      <p:sp>
        <p:nvSpPr>
          <p:cNvPr id="8" name="Shape 6"/>
          <p:cNvSpPr/>
          <p:nvPr/>
        </p:nvSpPr>
        <p:spPr>
          <a:xfrm>
            <a:off x="548640" y="1417320"/>
            <a:ext cx="11091672" cy="1417320"/>
          </a:xfrm>
          <a:prstGeom prst="roundRect">
            <a:avLst>
              <a:gd name="adj" fmla="val 5161"/>
            </a:avLst>
          </a:prstGeom>
          <a:solidFill>
            <a:srgbClr val="131B2E"/>
          </a:solidFill>
          <a:ln w="15240">
            <a:solidFill>
              <a:srgbClr val="233354"/>
            </a:solidFill>
            <a:prstDash val="solid"/>
          </a:ln>
        </p:spPr>
      </p:sp>
      <p:sp>
        <p:nvSpPr>
          <p:cNvPr id="9" name="Shape 7"/>
          <p:cNvSpPr/>
          <p:nvPr/>
        </p:nvSpPr>
        <p:spPr>
          <a:xfrm>
            <a:off x="777240" y="1581912"/>
            <a:ext cx="1463040" cy="228600"/>
          </a:xfrm>
          <a:prstGeom prst="roundRect">
            <a:avLst>
              <a:gd name="adj" fmla="val 20000"/>
            </a:avLst>
          </a:prstGeom>
          <a:solidFill>
            <a:srgbClr val="1E293B"/>
          </a:solidFill>
          <a:ln w="12700">
            <a:solidFill>
              <a:srgbClr val="00A1E0"/>
            </a:solidFill>
            <a:prstDash val="solid"/>
          </a:ln>
        </p:spPr>
      </p:sp>
      <p:sp>
        <p:nvSpPr>
          <p:cNvPr id="10" name="Text 8"/>
          <p:cNvSpPr/>
          <p:nvPr/>
        </p:nvSpPr>
        <p:spPr>
          <a:xfrm>
            <a:off x="777240" y="1581912"/>
            <a:ext cx="1463040" cy="228600"/>
          </a:xfrm>
          <a:prstGeom prst="rect">
            <a:avLst/>
          </a:prstGeom>
          <a:noFill/>
          <a:ln/>
        </p:spPr>
        <p:txBody>
          <a:bodyPr wrap="square" rtlCol="0" anchor="ctr"/>
          <a:lstStyle/>
          <a:p>
            <a:pPr algn="ctr" indent="0" marL="0">
              <a:buNone/>
            </a:pPr>
            <a:r>
              <a:rPr lang="en-US" sz="800" b="1" dirty="0">
                <a:solidFill>
                  <a:srgbClr val="00A1E0"/>
                </a:solidFill>
                <a:latin typeface="Arial" pitchFamily="34" charset="0"/>
                <a:ea typeface="Arial" pitchFamily="34" charset="-122"/>
                <a:cs typeface="Arial" pitchFamily="34" charset="-120"/>
              </a:rPr>
              <a:t>ATLAS REASONING</a:t>
            </a:r>
            <a:endParaRPr lang="en-US" sz="800" dirty="0"/>
          </a:p>
        </p:txBody>
      </p:sp>
      <p:sp>
        <p:nvSpPr>
          <p:cNvPr id="11" name="Text 9"/>
          <p:cNvSpPr/>
          <p:nvPr/>
        </p:nvSpPr>
        <p:spPr>
          <a:xfrm>
            <a:off x="2377440" y="1554480"/>
            <a:ext cx="9052560" cy="320040"/>
          </a:xfrm>
          <a:prstGeom prst="rect">
            <a:avLst/>
          </a:prstGeom>
          <a:noFill/>
          <a:ln/>
        </p:spPr>
        <p:txBody>
          <a:bodyPr wrap="square" rtlCol="0" anchor="ctr"/>
          <a:lstStyle/>
          <a:p>
            <a:pPr indent="0" marL="0">
              <a:buNone/>
            </a:pPr>
            <a:r>
              <a:rPr lang="en-US" sz="1250" b="1" dirty="0">
                <a:solidFill>
                  <a:srgbClr val="F8FAFC"/>
                </a:solidFill>
                <a:latin typeface="Arial" pitchFamily="34" charset="0"/>
                <a:ea typeface="Arial" pitchFamily="34" charset="-122"/>
                <a:cs typeface="Arial" pitchFamily="34" charset="-120"/>
              </a:rPr>
              <a:t>Q1: How does the Atlas Reasoning Engine decide which Action to trigger when a user sends a message?</a:t>
            </a:r>
            <a:endParaRPr lang="en-US" sz="1250" dirty="0"/>
          </a:p>
        </p:txBody>
      </p:sp>
      <p:sp>
        <p:nvSpPr>
          <p:cNvPr id="12" name="Shape 10"/>
          <p:cNvSpPr/>
          <p:nvPr/>
        </p:nvSpPr>
        <p:spPr>
          <a:xfrm>
            <a:off x="777240" y="1920240"/>
            <a:ext cx="10607040" cy="777240"/>
          </a:xfrm>
          <a:prstGeom prst="roundRect">
            <a:avLst>
              <a:gd name="adj" fmla="val 7059"/>
            </a:avLst>
          </a:prstGeom>
          <a:solidFill>
            <a:srgbClr val="0D1527"/>
          </a:solidFill>
          <a:ln w="12700">
            <a:solidFill>
              <a:srgbClr val="233354"/>
            </a:solidFill>
            <a:prstDash val="solid"/>
          </a:ln>
        </p:spPr>
      </p:sp>
      <p:sp>
        <p:nvSpPr>
          <p:cNvPr id="13" name="Text 11"/>
          <p:cNvSpPr/>
          <p:nvPr/>
        </p:nvSpPr>
        <p:spPr>
          <a:xfrm>
            <a:off x="960120" y="1984248"/>
            <a:ext cx="10241280" cy="658368"/>
          </a:xfrm>
          <a:prstGeom prst="rect">
            <a:avLst/>
          </a:prstGeom>
          <a:noFill/>
          <a:ln/>
        </p:spPr>
        <p:txBody>
          <a:bodyPr wrap="square" rtlCol="0" anchor="ctr"/>
          <a:lstStyle/>
          <a:p>
            <a:pPr indent="0" marL="0">
              <a:lnSpc>
                <a:spcPts val="1500"/>
              </a:lnSpc>
              <a:buNone/>
            </a:pPr>
            <a:r>
              <a:rPr lang="en-US" sz="1000" dirty="0">
                <a:solidFill>
                  <a:srgbClr val="E2E8F0"/>
                </a:solidFill>
                <a:latin typeface="Arial" pitchFamily="34" charset="0"/>
                <a:ea typeface="Arial" pitchFamily="34" charset="-122"/>
                <a:cs typeface="Arial" pitchFamily="34" charset="-120"/>
              </a:rPr>
              <a:t>✔ Architect Answer: Atlas evaluates the semantic meaning of the user utterance against the Topic Scope and Action Descriptions. It generates an internal "Thought" (plan) selecting the action whose description best matches the intended goal.</a:t>
            </a:r>
            <a:endParaRPr lang="en-US" sz="1000" dirty="0"/>
          </a:p>
        </p:txBody>
      </p:sp>
      <p:sp>
        <p:nvSpPr>
          <p:cNvPr id="14" name="Shape 12"/>
          <p:cNvSpPr/>
          <p:nvPr/>
        </p:nvSpPr>
        <p:spPr>
          <a:xfrm>
            <a:off x="548640" y="3017520"/>
            <a:ext cx="11091672" cy="1417320"/>
          </a:xfrm>
          <a:prstGeom prst="roundRect">
            <a:avLst>
              <a:gd name="adj" fmla="val 5161"/>
            </a:avLst>
          </a:prstGeom>
          <a:solidFill>
            <a:srgbClr val="131B2E"/>
          </a:solidFill>
          <a:ln w="15240">
            <a:solidFill>
              <a:srgbClr val="233354"/>
            </a:solidFill>
            <a:prstDash val="solid"/>
          </a:ln>
        </p:spPr>
      </p:sp>
      <p:sp>
        <p:nvSpPr>
          <p:cNvPr id="15" name="Shape 13"/>
          <p:cNvSpPr/>
          <p:nvPr/>
        </p:nvSpPr>
        <p:spPr>
          <a:xfrm>
            <a:off x="777240" y="3182112"/>
            <a:ext cx="1463040" cy="228600"/>
          </a:xfrm>
          <a:prstGeom prst="roundRect">
            <a:avLst>
              <a:gd name="adj" fmla="val 20000"/>
            </a:avLst>
          </a:prstGeom>
          <a:solidFill>
            <a:srgbClr val="1E293B"/>
          </a:solidFill>
          <a:ln w="12700">
            <a:solidFill>
              <a:srgbClr val="00A1E0"/>
            </a:solidFill>
            <a:prstDash val="solid"/>
          </a:ln>
        </p:spPr>
      </p:sp>
      <p:sp>
        <p:nvSpPr>
          <p:cNvPr id="16" name="Text 14"/>
          <p:cNvSpPr/>
          <p:nvPr/>
        </p:nvSpPr>
        <p:spPr>
          <a:xfrm>
            <a:off x="777240" y="3182112"/>
            <a:ext cx="1463040" cy="228600"/>
          </a:xfrm>
          <a:prstGeom prst="rect">
            <a:avLst/>
          </a:prstGeom>
          <a:noFill/>
          <a:ln/>
        </p:spPr>
        <p:txBody>
          <a:bodyPr wrap="square" rtlCol="0" anchor="ctr"/>
          <a:lstStyle/>
          <a:p>
            <a:pPr algn="ctr" indent="0" marL="0">
              <a:buNone/>
            </a:pPr>
            <a:r>
              <a:rPr lang="en-US" sz="800" b="1" dirty="0">
                <a:solidFill>
                  <a:srgbClr val="00A1E0"/>
                </a:solidFill>
                <a:latin typeface="Arial" pitchFamily="34" charset="0"/>
                <a:ea typeface="Arial" pitchFamily="34" charset="-122"/>
                <a:cs typeface="Arial" pitchFamily="34" charset="-120"/>
              </a:rPr>
              <a:t>TRUST LAYER</a:t>
            </a:r>
            <a:endParaRPr lang="en-US" sz="800" dirty="0"/>
          </a:p>
        </p:txBody>
      </p:sp>
      <p:sp>
        <p:nvSpPr>
          <p:cNvPr id="17" name="Text 15"/>
          <p:cNvSpPr/>
          <p:nvPr/>
        </p:nvSpPr>
        <p:spPr>
          <a:xfrm>
            <a:off x="2377440" y="3154680"/>
            <a:ext cx="9052560" cy="320040"/>
          </a:xfrm>
          <a:prstGeom prst="rect">
            <a:avLst/>
          </a:prstGeom>
          <a:noFill/>
          <a:ln/>
        </p:spPr>
        <p:txBody>
          <a:bodyPr wrap="square" rtlCol="0" anchor="ctr"/>
          <a:lstStyle/>
          <a:p>
            <a:pPr indent="0" marL="0">
              <a:buNone/>
            </a:pPr>
            <a:r>
              <a:rPr lang="en-US" sz="1250" b="1" dirty="0">
                <a:solidFill>
                  <a:srgbClr val="F8FAFC"/>
                </a:solidFill>
                <a:latin typeface="Arial" pitchFamily="34" charset="0"/>
                <a:ea typeface="Arial" pitchFamily="34" charset="-122"/>
                <a:cs typeface="Arial" pitchFamily="34" charset="-120"/>
              </a:rPr>
              <a:t>Q2: What is the architectural role of Zero Data Retention (ZDR) in the Einstein Trust Layer?</a:t>
            </a:r>
            <a:endParaRPr lang="en-US" sz="1250" dirty="0"/>
          </a:p>
        </p:txBody>
      </p:sp>
      <p:sp>
        <p:nvSpPr>
          <p:cNvPr id="18" name="Shape 16"/>
          <p:cNvSpPr/>
          <p:nvPr/>
        </p:nvSpPr>
        <p:spPr>
          <a:xfrm>
            <a:off x="777240" y="3520440"/>
            <a:ext cx="10607040" cy="777240"/>
          </a:xfrm>
          <a:prstGeom prst="roundRect">
            <a:avLst>
              <a:gd name="adj" fmla="val 7059"/>
            </a:avLst>
          </a:prstGeom>
          <a:solidFill>
            <a:srgbClr val="0D1527"/>
          </a:solidFill>
          <a:ln w="12700">
            <a:solidFill>
              <a:srgbClr val="233354"/>
            </a:solidFill>
            <a:prstDash val="solid"/>
          </a:ln>
        </p:spPr>
      </p:sp>
      <p:sp>
        <p:nvSpPr>
          <p:cNvPr id="19" name="Text 17"/>
          <p:cNvSpPr/>
          <p:nvPr/>
        </p:nvSpPr>
        <p:spPr>
          <a:xfrm>
            <a:off x="960120" y="3584448"/>
            <a:ext cx="10241280" cy="658368"/>
          </a:xfrm>
          <a:prstGeom prst="rect">
            <a:avLst/>
          </a:prstGeom>
          <a:noFill/>
          <a:ln/>
        </p:spPr>
        <p:txBody>
          <a:bodyPr wrap="square" rtlCol="0" anchor="ctr"/>
          <a:lstStyle/>
          <a:p>
            <a:pPr indent="0" marL="0">
              <a:lnSpc>
                <a:spcPts val="1500"/>
              </a:lnSpc>
              <a:buNone/>
            </a:pPr>
            <a:r>
              <a:rPr lang="en-US" sz="1000" dirty="0">
                <a:solidFill>
                  <a:srgbClr val="E2E8F0"/>
                </a:solidFill>
                <a:latin typeface="Arial" pitchFamily="34" charset="0"/>
                <a:ea typeface="Arial" pitchFamily="34" charset="-122"/>
                <a:cs typeface="Arial" pitchFamily="34" charset="-120"/>
              </a:rPr>
              <a:t>✔ Architect Answer: ZDR legally and technically guarantees that external foundation LLMs (like OpenAI or Anthropic) process prompts strictly in-memory and NEVER retain, persist, or use enterprise customer data to train future models.</a:t>
            </a:r>
            <a:endParaRPr lang="en-US" sz="1000" dirty="0"/>
          </a:p>
        </p:txBody>
      </p:sp>
      <p:sp>
        <p:nvSpPr>
          <p:cNvPr id="20" name="Shape 18"/>
          <p:cNvSpPr/>
          <p:nvPr/>
        </p:nvSpPr>
        <p:spPr>
          <a:xfrm>
            <a:off x="548640" y="4617720"/>
            <a:ext cx="11091672" cy="1417320"/>
          </a:xfrm>
          <a:prstGeom prst="roundRect">
            <a:avLst>
              <a:gd name="adj" fmla="val 5161"/>
            </a:avLst>
          </a:prstGeom>
          <a:solidFill>
            <a:srgbClr val="131B2E"/>
          </a:solidFill>
          <a:ln w="15240">
            <a:solidFill>
              <a:srgbClr val="233354"/>
            </a:solidFill>
            <a:prstDash val="solid"/>
          </a:ln>
        </p:spPr>
      </p:sp>
      <p:sp>
        <p:nvSpPr>
          <p:cNvPr id="21" name="Shape 19"/>
          <p:cNvSpPr/>
          <p:nvPr/>
        </p:nvSpPr>
        <p:spPr>
          <a:xfrm>
            <a:off x="777240" y="4782312"/>
            <a:ext cx="1463040" cy="228600"/>
          </a:xfrm>
          <a:prstGeom prst="roundRect">
            <a:avLst>
              <a:gd name="adj" fmla="val 20000"/>
            </a:avLst>
          </a:prstGeom>
          <a:solidFill>
            <a:srgbClr val="1E293B"/>
          </a:solidFill>
          <a:ln w="12700">
            <a:solidFill>
              <a:srgbClr val="00A1E0"/>
            </a:solidFill>
            <a:prstDash val="solid"/>
          </a:ln>
        </p:spPr>
      </p:sp>
      <p:sp>
        <p:nvSpPr>
          <p:cNvPr id="22" name="Text 20"/>
          <p:cNvSpPr/>
          <p:nvPr/>
        </p:nvSpPr>
        <p:spPr>
          <a:xfrm>
            <a:off x="777240" y="4782312"/>
            <a:ext cx="1463040" cy="228600"/>
          </a:xfrm>
          <a:prstGeom prst="rect">
            <a:avLst/>
          </a:prstGeom>
          <a:noFill/>
          <a:ln/>
        </p:spPr>
        <p:txBody>
          <a:bodyPr wrap="square" rtlCol="0" anchor="ctr"/>
          <a:lstStyle/>
          <a:p>
            <a:pPr algn="ctr" indent="0" marL="0">
              <a:buNone/>
            </a:pPr>
            <a:r>
              <a:rPr lang="en-US" sz="800" b="1" dirty="0">
                <a:solidFill>
                  <a:srgbClr val="00A1E0"/>
                </a:solidFill>
                <a:latin typeface="Arial" pitchFamily="34" charset="0"/>
                <a:ea typeface="Arial" pitchFamily="34" charset="-122"/>
                <a:cs typeface="Arial" pitchFamily="34" charset="-120"/>
              </a:rPr>
              <a:t>TOPIC ARCHITECTURE</a:t>
            </a:r>
            <a:endParaRPr lang="en-US" sz="800" dirty="0"/>
          </a:p>
        </p:txBody>
      </p:sp>
      <p:sp>
        <p:nvSpPr>
          <p:cNvPr id="23" name="Text 21"/>
          <p:cNvSpPr/>
          <p:nvPr/>
        </p:nvSpPr>
        <p:spPr>
          <a:xfrm>
            <a:off x="2377440" y="4754880"/>
            <a:ext cx="9052560" cy="320040"/>
          </a:xfrm>
          <a:prstGeom prst="rect">
            <a:avLst/>
          </a:prstGeom>
          <a:noFill/>
          <a:ln/>
        </p:spPr>
        <p:txBody>
          <a:bodyPr wrap="square" rtlCol="0" anchor="ctr"/>
          <a:lstStyle/>
          <a:p>
            <a:pPr indent="0" marL="0">
              <a:buNone/>
            </a:pPr>
            <a:r>
              <a:rPr lang="en-US" sz="1250" b="1" dirty="0">
                <a:solidFill>
                  <a:srgbClr val="F8FAFC"/>
                </a:solidFill>
                <a:latin typeface="Arial" pitchFamily="34" charset="0"/>
                <a:ea typeface="Arial" pitchFamily="34" charset="-122"/>
                <a:cs typeface="Arial" pitchFamily="34" charset="-120"/>
              </a:rPr>
              <a:t>Q3: Why is creating a single Topic containing 30 Actions considered a critical anti-pattern?</a:t>
            </a:r>
            <a:endParaRPr lang="en-US" sz="1250" dirty="0"/>
          </a:p>
        </p:txBody>
      </p:sp>
      <p:sp>
        <p:nvSpPr>
          <p:cNvPr id="24" name="Shape 22"/>
          <p:cNvSpPr/>
          <p:nvPr/>
        </p:nvSpPr>
        <p:spPr>
          <a:xfrm>
            <a:off x="777240" y="5120640"/>
            <a:ext cx="10607040" cy="777240"/>
          </a:xfrm>
          <a:prstGeom prst="roundRect">
            <a:avLst>
              <a:gd name="adj" fmla="val 7059"/>
            </a:avLst>
          </a:prstGeom>
          <a:solidFill>
            <a:srgbClr val="0D1527"/>
          </a:solidFill>
          <a:ln w="12700">
            <a:solidFill>
              <a:srgbClr val="233354"/>
            </a:solidFill>
            <a:prstDash val="solid"/>
          </a:ln>
        </p:spPr>
      </p:sp>
      <p:sp>
        <p:nvSpPr>
          <p:cNvPr id="25" name="Text 23"/>
          <p:cNvSpPr/>
          <p:nvPr/>
        </p:nvSpPr>
        <p:spPr>
          <a:xfrm>
            <a:off x="960120" y="5184648"/>
            <a:ext cx="10241280" cy="658368"/>
          </a:xfrm>
          <a:prstGeom prst="rect">
            <a:avLst/>
          </a:prstGeom>
          <a:noFill/>
          <a:ln/>
        </p:spPr>
        <p:txBody>
          <a:bodyPr wrap="square" rtlCol="0" anchor="ctr"/>
          <a:lstStyle/>
          <a:p>
            <a:pPr indent="0" marL="0">
              <a:lnSpc>
                <a:spcPts val="1500"/>
              </a:lnSpc>
              <a:buNone/>
            </a:pPr>
            <a:r>
              <a:rPr lang="en-US" sz="1000" dirty="0">
                <a:solidFill>
                  <a:srgbClr val="E2E8F0"/>
                </a:solidFill>
                <a:latin typeface="Arial" pitchFamily="34" charset="0"/>
                <a:ea typeface="Arial" pitchFamily="34" charset="-122"/>
                <a:cs typeface="Arial" pitchFamily="34" charset="-120"/>
              </a:rPr>
              <a:t>✔ Architect Answer: Large action sets overload the LLM context window, causing choice ambiguity, hallucinated parameters, severe response latency, and frequent execution of unintended actions.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9"/>
        </a:solidFill>
      </p:bgPr>
    </p:bg>
    <p:spTree>
      <p:nvGrpSpPr>
        <p:cNvPr id="1" name=""/>
        <p:cNvGrpSpPr/>
        <p:nvPr/>
      </p:nvGrpSpPr>
      <p:grpSpPr>
        <a:xfrm>
          <a:off x="0" y="0"/>
          <a:ext cx="0" cy="0"/>
          <a:chOff x="0" y="0"/>
          <a:chExt cx="0" cy="0"/>
        </a:xfrm>
      </p:grpSpPr>
      <p:sp>
        <p:nvSpPr>
          <p:cNvPr id="2" name="Shape 0"/>
          <p:cNvSpPr/>
          <p:nvPr/>
        </p:nvSpPr>
        <p:spPr>
          <a:xfrm>
            <a:off x="548640" y="320040"/>
            <a:ext cx="1371600" cy="36576"/>
          </a:xfrm>
          <a:prstGeom prst="rect">
            <a:avLst/>
          </a:prstGeom>
          <a:solidFill>
            <a:srgbClr val="00A1E0"/>
          </a:solidFill>
          <a:ln w="12700">
            <a:solidFill>
              <a:srgbClr val="00A1E0"/>
            </a:solidFill>
            <a:prstDash val="solid"/>
          </a:ln>
        </p:spPr>
      </p:sp>
      <p:sp>
        <p:nvSpPr>
          <p:cNvPr id="3" name="Text 1"/>
          <p:cNvSpPr/>
          <p:nvPr/>
        </p:nvSpPr>
        <p:spPr>
          <a:xfrm>
            <a:off x="548640" y="411480"/>
            <a:ext cx="9144000" cy="22860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SUMMARY &amp; ROADMAP</a:t>
            </a:r>
            <a:endParaRPr lang="en-US" sz="1000" dirty="0"/>
          </a:p>
        </p:txBody>
      </p:sp>
      <p:sp>
        <p:nvSpPr>
          <p:cNvPr id="4" name="Text 2"/>
          <p:cNvSpPr/>
          <p:nvPr/>
        </p:nvSpPr>
        <p:spPr>
          <a:xfrm>
            <a:off x="548640" y="658368"/>
            <a:ext cx="9601200" cy="45720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Developer Cheatsheet &amp; Day 2 Preview</a:t>
            </a:r>
            <a:endParaRPr lang="en-US" sz="2200" dirty="0"/>
          </a:p>
        </p:txBody>
      </p:sp>
      <p:sp>
        <p:nvSpPr>
          <p:cNvPr id="5" name="Shape 3"/>
          <p:cNvSpPr/>
          <p:nvPr/>
        </p:nvSpPr>
        <p:spPr>
          <a:xfrm>
            <a:off x="548640" y="1170432"/>
            <a:ext cx="11091672" cy="0"/>
          </a:xfrm>
          <a:prstGeom prst="line">
            <a:avLst/>
          </a:prstGeom>
          <a:noFill/>
          <a:ln w="12700">
            <a:solidFill>
              <a:srgbClr val="1E293B"/>
            </a:solidFill>
            <a:prstDash val="solid"/>
          </a:ln>
        </p:spPr>
      </p:sp>
      <p:sp>
        <p:nvSpPr>
          <p:cNvPr id="6" name="Text 4"/>
          <p:cNvSpPr/>
          <p:nvPr/>
        </p:nvSpPr>
        <p:spPr>
          <a:xfrm>
            <a:off x="548640" y="6492240"/>
            <a:ext cx="73152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Salesforce Agentforce &amp; Data 360 Enablement  •  Day 1: Atlas Reasoning Engine</a:t>
            </a:r>
            <a:endParaRPr lang="en-US" sz="900" dirty="0"/>
          </a:p>
        </p:txBody>
      </p:sp>
      <p:sp>
        <p:nvSpPr>
          <p:cNvPr id="7" name="Text 5"/>
          <p:cNvSpPr/>
          <p:nvPr/>
        </p:nvSpPr>
        <p:spPr>
          <a:xfrm>
            <a:off x="10515600" y="6492240"/>
            <a:ext cx="1124712" cy="274320"/>
          </a:xfrm>
          <a:prstGeom prst="rect">
            <a:avLst/>
          </a:prstGeom>
          <a:noFill/>
          <a:ln/>
        </p:spPr>
        <p:txBody>
          <a:bodyPr wrap="square" rtlCol="0" anchor="ctr"/>
          <a:lstStyle/>
          <a:p>
            <a:pPr algn="r" indent="0" marL="0">
              <a:buNone/>
            </a:pPr>
            <a:r>
              <a:rPr lang="en-US" sz="900" b="1" dirty="0">
                <a:solidFill>
                  <a:srgbClr val="00A1E0"/>
                </a:solidFill>
                <a:latin typeface="Arial" pitchFamily="34" charset="0"/>
                <a:ea typeface="Arial" pitchFamily="34" charset="-122"/>
                <a:cs typeface="Arial" pitchFamily="34" charset="-120"/>
              </a:rPr>
              <a:t>12 / 12</a:t>
            </a:r>
            <a:endParaRPr lang="en-US" sz="900" dirty="0"/>
          </a:p>
        </p:txBody>
      </p:sp>
      <p:sp>
        <p:nvSpPr>
          <p:cNvPr id="8" name="Shape 6"/>
          <p:cNvSpPr/>
          <p:nvPr/>
        </p:nvSpPr>
        <p:spPr>
          <a:xfrm>
            <a:off x="548640" y="1417320"/>
            <a:ext cx="5394960" cy="4800600"/>
          </a:xfrm>
          <a:prstGeom prst="roundRect">
            <a:avLst>
              <a:gd name="adj" fmla="val 1905"/>
            </a:avLst>
          </a:prstGeom>
          <a:solidFill>
            <a:srgbClr val="131B2E"/>
          </a:solidFill>
          <a:ln w="15240">
            <a:solidFill>
              <a:srgbClr val="00A1E0"/>
            </a:solidFill>
            <a:prstDash val="solid"/>
          </a:ln>
        </p:spPr>
      </p:sp>
      <p:sp>
        <p:nvSpPr>
          <p:cNvPr id="9" name="Shape 7"/>
          <p:cNvSpPr/>
          <p:nvPr/>
        </p:nvSpPr>
        <p:spPr>
          <a:xfrm>
            <a:off x="548640" y="1417320"/>
            <a:ext cx="5394960" cy="73152"/>
          </a:xfrm>
          <a:prstGeom prst="rect">
            <a:avLst/>
          </a:prstGeom>
          <a:solidFill>
            <a:srgbClr val="00A1E0"/>
          </a:solidFill>
          <a:ln w="12700">
            <a:solidFill>
              <a:srgbClr val="00A1E0"/>
            </a:solidFill>
            <a:prstDash val="solid"/>
          </a:ln>
        </p:spPr>
      </p:sp>
      <p:sp>
        <p:nvSpPr>
          <p:cNvPr id="10" name="Text 8"/>
          <p:cNvSpPr/>
          <p:nvPr/>
        </p:nvSpPr>
        <p:spPr>
          <a:xfrm>
            <a:off x="822960" y="1600200"/>
            <a:ext cx="4846320" cy="274320"/>
          </a:xfrm>
          <a:prstGeom prst="rect">
            <a:avLst/>
          </a:prstGeom>
          <a:noFill/>
          <a:ln/>
        </p:spPr>
        <p:txBody>
          <a:bodyPr wrap="square" rtlCol="0" anchor="ctr"/>
          <a:lstStyle/>
          <a:p>
            <a:pPr indent="0" marL="0">
              <a:buNone/>
            </a:pPr>
            <a:r>
              <a:rPr lang="en-US" sz="1000" b="1" dirty="0">
                <a:solidFill>
                  <a:srgbClr val="00A1E0"/>
                </a:solidFill>
                <a:latin typeface="Arial" pitchFamily="34" charset="0"/>
                <a:ea typeface="Arial" pitchFamily="34" charset="-122"/>
                <a:cs typeface="Arial" pitchFamily="34" charset="-120"/>
              </a:rPr>
              <a:t>DAY 1 ARCHITECT CHEATSHEET &amp; LIMITS</a:t>
            </a:r>
            <a:endParaRPr lang="en-US" sz="1000" dirty="0"/>
          </a:p>
        </p:txBody>
      </p:sp>
      <p:sp>
        <p:nvSpPr>
          <p:cNvPr id="11" name="Text 9"/>
          <p:cNvSpPr/>
          <p:nvPr/>
        </p:nvSpPr>
        <p:spPr>
          <a:xfrm>
            <a:off x="822960" y="1920240"/>
            <a:ext cx="4846320" cy="3200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Core Architecture Rules to Remember:</a:t>
            </a:r>
            <a:endParaRPr lang="en-US" sz="1400" dirty="0"/>
          </a:p>
        </p:txBody>
      </p:sp>
      <p:sp>
        <p:nvSpPr>
          <p:cNvPr id="12" name="Text 10"/>
          <p:cNvSpPr/>
          <p:nvPr/>
        </p:nvSpPr>
        <p:spPr>
          <a:xfrm>
            <a:off x="822960" y="2331720"/>
            <a:ext cx="4846320" cy="374904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  Cognitive Loop: Atlas runs ReAct (Thought ➜ Action ➜ Observation ➜ Response).</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Topic Rule of Thumb: Aim for 3-7 Topics per Agent. Never exceed 10 for peak accuracy.</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Action Limit: Keep 3-10 Actions per Topic. Offload complex multi-step logic into Flows.</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Description Is Code: Write Action descriptions as if they are API specifications with inputs, outputs, and trigger criteria.</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Trust Layer: All outbound calls are PII-masked and covered under Zero Data Retention agreements.</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Debugging: Always inspect Reasoning Logs before promoting Agents to Experience Cloud or WhatsApp.</a:t>
            </a:r>
            <a:endParaRPr lang="en-US" sz="1050" dirty="0"/>
          </a:p>
        </p:txBody>
      </p:sp>
      <p:sp>
        <p:nvSpPr>
          <p:cNvPr id="13" name="Shape 11"/>
          <p:cNvSpPr/>
          <p:nvPr/>
        </p:nvSpPr>
        <p:spPr>
          <a:xfrm>
            <a:off x="6245352" y="1417320"/>
            <a:ext cx="5394960" cy="4800600"/>
          </a:xfrm>
          <a:prstGeom prst="roundRect">
            <a:avLst>
              <a:gd name="adj" fmla="val 1905"/>
            </a:avLst>
          </a:prstGeom>
          <a:solidFill>
            <a:srgbClr val="131B2E"/>
          </a:solidFill>
          <a:ln w="15240">
            <a:solidFill>
              <a:srgbClr val="8B5CF6"/>
            </a:solidFill>
            <a:prstDash val="solid"/>
          </a:ln>
        </p:spPr>
      </p:sp>
      <p:sp>
        <p:nvSpPr>
          <p:cNvPr id="14" name="Shape 12"/>
          <p:cNvSpPr/>
          <p:nvPr/>
        </p:nvSpPr>
        <p:spPr>
          <a:xfrm>
            <a:off x="6245352" y="1417320"/>
            <a:ext cx="5394960" cy="73152"/>
          </a:xfrm>
          <a:prstGeom prst="rect">
            <a:avLst/>
          </a:prstGeom>
          <a:solidFill>
            <a:srgbClr val="8B5CF6"/>
          </a:solidFill>
          <a:ln w="12700">
            <a:solidFill>
              <a:srgbClr val="8B5CF6"/>
            </a:solidFill>
            <a:prstDash val="solid"/>
          </a:ln>
        </p:spPr>
      </p:sp>
      <p:sp>
        <p:nvSpPr>
          <p:cNvPr id="15" name="Text 13"/>
          <p:cNvSpPr/>
          <p:nvPr/>
        </p:nvSpPr>
        <p:spPr>
          <a:xfrm>
            <a:off x="6519672" y="1600200"/>
            <a:ext cx="4846320" cy="274320"/>
          </a:xfrm>
          <a:prstGeom prst="rect">
            <a:avLst/>
          </a:prstGeom>
          <a:noFill/>
          <a:ln/>
        </p:spPr>
        <p:txBody>
          <a:bodyPr wrap="square" rtlCol="0" anchor="ctr"/>
          <a:lstStyle/>
          <a:p>
            <a:pPr indent="0" marL="0">
              <a:buNone/>
            </a:pPr>
            <a:r>
              <a:rPr lang="en-US" sz="1000" b="1" dirty="0">
                <a:solidFill>
                  <a:srgbClr val="8B5CF6"/>
                </a:solidFill>
                <a:latin typeface="Arial" pitchFamily="34" charset="0"/>
                <a:ea typeface="Arial" pitchFamily="34" charset="-122"/>
                <a:cs typeface="Arial" pitchFamily="34" charset="-120"/>
              </a:rPr>
              <a:t>COMING UP IN DAY 2 OF 20</a:t>
            </a:r>
            <a:endParaRPr lang="en-US" sz="1000" dirty="0"/>
          </a:p>
        </p:txBody>
      </p:sp>
      <p:sp>
        <p:nvSpPr>
          <p:cNvPr id="16" name="Text 14"/>
          <p:cNvSpPr/>
          <p:nvPr/>
        </p:nvSpPr>
        <p:spPr>
          <a:xfrm>
            <a:off x="6519672" y="1920240"/>
            <a:ext cx="4846320" cy="32004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Prompt Builder &amp; Grounding Strategies</a:t>
            </a:r>
            <a:endParaRPr lang="en-US" sz="1400" dirty="0"/>
          </a:p>
        </p:txBody>
      </p:sp>
      <p:sp>
        <p:nvSpPr>
          <p:cNvPr id="17" name="Text 15"/>
          <p:cNvSpPr/>
          <p:nvPr/>
        </p:nvSpPr>
        <p:spPr>
          <a:xfrm>
            <a:off x="6519672" y="2331720"/>
            <a:ext cx="4846320" cy="320040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  Prompt Builder Studio: Deep dive into creating Field, Record, and Flex Prompt Templates.</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Grounding Architectures: Grounding LLM prompts dynamically using CRM Record merge fields.</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Flow Grounding: Pulling real-time multi-object relational context via autolaunched flows.</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Apex Grounding: Writing @InvocableMethod Apex controllers that feed structured grounding JSON.</a:t>
            </a:r>
            <a:endParaRPr lang="en-US" sz="1050" dirty="0"/>
          </a:p>
          <a:p>
            <a:pPr indent="0" marL="0">
              <a:lnSpc>
                <a:spcPts val="1600"/>
              </a:lnSpc>
              <a:buNone/>
            </a:pPr>
            <a:endParaRPr lang="en-US" sz="1050" dirty="0"/>
          </a:p>
          <a:p>
            <a:pPr indent="0" marL="0">
              <a:lnSpc>
                <a:spcPts val="1600"/>
              </a:lnSpc>
              <a:buNone/>
            </a:pPr>
            <a:r>
              <a:rPr lang="en-US" sz="1050" dirty="0">
                <a:solidFill>
                  <a:srgbClr val="E2E8F0"/>
                </a:solidFill>
                <a:latin typeface="Arial" pitchFamily="34" charset="0"/>
                <a:ea typeface="Arial" pitchFamily="34" charset="-122"/>
                <a:cs typeface="Arial" pitchFamily="34" charset="-120"/>
              </a:rPr>
              <a:t>🚀  Prompt Defense &amp; System Instructions: Guarding against prompt injection and jailbreaking.</a:t>
            </a:r>
            <a:endParaRPr lang="en-US" sz="1050" dirty="0"/>
          </a:p>
        </p:txBody>
      </p:sp>
      <p:sp>
        <p:nvSpPr>
          <p:cNvPr id="18" name="Shape 16"/>
          <p:cNvSpPr/>
          <p:nvPr/>
        </p:nvSpPr>
        <p:spPr>
          <a:xfrm>
            <a:off x="6519672" y="5486400"/>
            <a:ext cx="4846320" cy="594360"/>
          </a:xfrm>
          <a:prstGeom prst="roundRect">
            <a:avLst>
              <a:gd name="adj" fmla="val 12308"/>
            </a:avLst>
          </a:prstGeom>
          <a:solidFill>
            <a:srgbClr val="1E1B4B"/>
          </a:solidFill>
          <a:ln w="12700">
            <a:solidFill>
              <a:srgbClr val="8B5CF6"/>
            </a:solidFill>
            <a:prstDash val="solid"/>
          </a:ln>
        </p:spPr>
      </p:sp>
      <p:sp>
        <p:nvSpPr>
          <p:cNvPr id="19" name="Text 17"/>
          <p:cNvSpPr/>
          <p:nvPr/>
        </p:nvSpPr>
        <p:spPr>
          <a:xfrm>
            <a:off x="6629400" y="5596128"/>
            <a:ext cx="4572000" cy="365760"/>
          </a:xfrm>
          <a:prstGeom prst="rect">
            <a:avLst/>
          </a:prstGeom>
          <a:noFill/>
          <a:ln/>
        </p:spPr>
        <p:txBody>
          <a:bodyPr wrap="square" rtlCol="0" anchor="ctr"/>
          <a:lstStyle/>
          <a:p>
            <a:pPr algn="ctr" indent="0" marL="0">
              <a:buNone/>
            </a:pPr>
            <a:r>
              <a:rPr lang="en-US" sz="1050" b="1" dirty="0">
                <a:solidFill>
                  <a:srgbClr val="C084FC"/>
                </a:solidFill>
                <a:latin typeface="Arial" pitchFamily="34" charset="0"/>
                <a:ea typeface="Arial" pitchFamily="34" charset="-122"/>
                <a:cs typeface="Arial" pitchFamily="34" charset="-120"/>
              </a:rPr>
              <a:t>Ready for Day 2? Continue on the 20-Day Playbook Workbench</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Enterprise Enablement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The Atlas Reasoning Engine &amp; ReAct Loop</dc:title>
  <dc:subject>Salesforce Agentforce &amp; Data 360 Masterclass</dc:subject>
  <dc:creator>Salesforce Enterprise Architecture</dc:creator>
  <cp:lastModifiedBy>Salesforce Enterprise Architecture</cp:lastModifiedBy>
  <cp:revision>1</cp:revision>
  <dcterms:created xsi:type="dcterms:W3CDTF">2026-10-31T09:23:21Z</dcterms:created>
  <dcterms:modified xsi:type="dcterms:W3CDTF">2026-10-31T09:23:21Z</dcterms:modified>
</cp:coreProperties>
</file>