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3200400" cy="274320"/>
          </a:xfrm>
          <a:prstGeom prst="roundRect">
            <a:avLst>
              <a:gd name="adj" fmla="val 20000"/>
            </a:avLst>
          </a:prstGeom>
          <a:solidFill>
            <a:srgbClr val="162238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5943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ENABLEMENT  •  WINTER '27 (API 64)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 &amp; Data 360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148132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1: The Atlas Reasoning Engine &amp; ReAct Loop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120-minute comprehensive architectural masterclass covering autonomous agent cognition, dynamic ReAct loops, grounding architectures, Einstein Trust Layer, and hands-on Builder deployment.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85800" y="269748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31B2E"/>
          </a:solidFill>
          <a:ln w="15240">
            <a:solidFill>
              <a:srgbClr val="233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697480"/>
            <a:ext cx="54864" cy="1371600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" y="28346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Cognition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50392" y="31546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4-phase ReAct cognitive loop with dynamic planning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83280" y="269748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31B2E"/>
          </a:solidFill>
          <a:ln w="15240">
            <a:solidFill>
              <a:srgbClr val="23335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697480"/>
            <a:ext cx="54864" cy="1371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47872" y="28346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Layer Security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47872" y="31546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 masking, Zero Data Retention &amp; safety rails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080760" y="269748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31B2E"/>
          </a:solidFill>
          <a:ln w="15240">
            <a:solidFill>
              <a:srgbClr val="23335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80760" y="2697480"/>
            <a:ext cx="54864" cy="1371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45352" y="28346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 Deployment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45352" y="31546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modeling, action binding &amp; reasoning logs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85800" y="443484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Architecture Enablement Deck  •  Day 1 of 20  •  For Architecture &amp; Engineering Teams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097280" cy="27432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AGENDA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Blueprint &amp; 120-Minute Delivery Schedule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877824"/>
            <a:ext cx="82296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 &amp; Data 360 Enablement  •  Day 1: Atlas Reasoning Engine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0" y="4791456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7200" y="1024128"/>
            <a:ext cx="1920240" cy="2971800"/>
          </a:xfrm>
          <a:prstGeom prst="roundRect">
            <a:avLst>
              <a:gd name="adj" fmla="val 3810"/>
            </a:avLst>
          </a:prstGeom>
          <a:solidFill>
            <a:srgbClr val="131B2E"/>
          </a:solidFill>
          <a:ln w="12700">
            <a:solidFill>
              <a:srgbClr val="233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024128"/>
            <a:ext cx="1920240" cy="45720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143000"/>
            <a:ext cx="1700784" cy="219456"/>
          </a:xfrm>
          <a:prstGeom prst="roundRect">
            <a:avLst>
              <a:gd name="adj" fmla="val 20833"/>
            </a:avLst>
          </a:prstGeom>
          <a:solidFill>
            <a:srgbClr val="1E293B"/>
          </a:solidFill>
          <a:ln w="10160">
            <a:solidFill>
              <a:srgbClr val="00A1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143000"/>
            <a:ext cx="17007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00:00 - 00:25 (25m)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66928" y="1444752"/>
            <a:ext cx="17007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Paradigm Shift &amp; Atlas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" y="1901952"/>
            <a:ext cx="170078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From deterministic bots to autonomous AI agents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ReAct paradigm: Thought, Action, Observation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Architecture of the Atlas Reasoning Engine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560320" y="1024128"/>
            <a:ext cx="1920240" cy="2971800"/>
          </a:xfrm>
          <a:prstGeom prst="roundRect">
            <a:avLst>
              <a:gd name="adj" fmla="val 3810"/>
            </a:avLst>
          </a:prstGeom>
          <a:solidFill>
            <a:srgbClr val="131B2E"/>
          </a:solidFill>
          <a:ln w="12700">
            <a:solidFill>
              <a:srgbClr val="2333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0" y="1024128"/>
            <a:ext cx="192024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0048" y="1143000"/>
            <a:ext cx="1700784" cy="219456"/>
          </a:xfrm>
          <a:prstGeom prst="roundRect">
            <a:avLst>
              <a:gd name="adj" fmla="val 20833"/>
            </a:avLst>
          </a:prstGeom>
          <a:solidFill>
            <a:srgbClr val="1E293B"/>
          </a:solidFill>
          <a:ln w="1016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70048" y="1143000"/>
            <a:ext cx="17007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00:25 - 00:55 (30m)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670048" y="1444752"/>
            <a:ext cx="17007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3 Pillars &amp; Trust Layer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70048" y="1901952"/>
            <a:ext cx="170078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Taxonomy: Agent Persona, Topics, and Actions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Foundation LLM orchestration &amp; models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Einstein Trust Layer: PII masking &amp; ZDR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663440" y="1024128"/>
            <a:ext cx="1920240" cy="2971800"/>
          </a:xfrm>
          <a:prstGeom prst="roundRect">
            <a:avLst>
              <a:gd name="adj" fmla="val 3810"/>
            </a:avLst>
          </a:prstGeom>
          <a:solidFill>
            <a:srgbClr val="131B2E"/>
          </a:solidFill>
          <a:ln w="12700">
            <a:solidFill>
              <a:srgbClr val="23335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1024128"/>
            <a:ext cx="192024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73168" y="1143000"/>
            <a:ext cx="1700784" cy="219456"/>
          </a:xfrm>
          <a:prstGeom prst="roundRect">
            <a:avLst>
              <a:gd name="adj" fmla="val 20833"/>
            </a:avLst>
          </a:prstGeom>
          <a:solidFill>
            <a:srgbClr val="1E293B"/>
          </a:solidFill>
          <a:ln w="10160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1143000"/>
            <a:ext cx="17007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00:55 - 01:35 (40m)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773168" y="1444752"/>
            <a:ext cx="17007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Hands-On Builder Demo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73168" y="1901952"/>
            <a:ext cx="170078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Einstein Setup &amp; Agentforce Studio config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Topic configuration &amp; Action bindings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preview testing with utterances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766560" y="1024128"/>
            <a:ext cx="1920240" cy="2971800"/>
          </a:xfrm>
          <a:prstGeom prst="roundRect">
            <a:avLst>
              <a:gd name="adj" fmla="val 3810"/>
            </a:avLst>
          </a:prstGeom>
          <a:solidFill>
            <a:srgbClr val="131B2E"/>
          </a:solidFill>
          <a:ln w="12700">
            <a:solidFill>
              <a:srgbClr val="23335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0" y="1024128"/>
            <a:ext cx="192024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76288" y="1143000"/>
            <a:ext cx="1700784" cy="219456"/>
          </a:xfrm>
          <a:prstGeom prst="roundRect">
            <a:avLst>
              <a:gd name="adj" fmla="val 20833"/>
            </a:avLst>
          </a:prstGeom>
          <a:solidFill>
            <a:srgbClr val="1E293B"/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76288" y="1143000"/>
            <a:ext cx="17007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01:35 - 02:00 (25m)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876288" y="1444752"/>
            <a:ext cx="17007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Tracing &amp; Pitfalls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876288" y="1901952"/>
            <a:ext cx="170078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Deconstructing the Reasoning Log trace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 4 production architecture traps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Day 1 architecture checkpoint quiz &amp; Q&amp;A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7200" y="4133088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0D1527"/>
          </a:solidFill>
          <a:ln w="10160">
            <a:solidFill>
              <a:srgbClr val="00A1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17880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 Objective: Architect, deploy, and debug autonomous Agentforce agents in under 2 hours without static if-then decision trees or manual dialog routing.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097280" cy="27432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FOUNDATIONAL CONCEPTS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Paradigm Shift: Bots vs Autonomous Agents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877824"/>
            <a:ext cx="82296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 &amp; Data 360 Enablement  •  Day 1: Atlas Reasoning Engine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0" y="4791456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7200" y="1024128"/>
            <a:ext cx="3977640" cy="3566160"/>
          </a:xfrm>
          <a:prstGeom prst="roundRect">
            <a:avLst>
              <a:gd name="adj" fmla="val 2051"/>
            </a:avLst>
          </a:prstGeom>
          <a:solidFill>
            <a:srgbClr val="131B2E"/>
          </a:solidFill>
          <a:ln w="15240">
            <a:solidFill>
              <a:srgbClr val="F43F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024128"/>
            <a:ext cx="397764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143000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DETERMINISTIC CHATBOTS (EINSTEIN BOTS)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137160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Rigid Decision Trees &amp; Static Branching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1719072"/>
            <a:ext cx="3611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Fixed Dialog Flows: Relies on pre-programmed if-then scripts; breaks when user alters phrasing.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Keyword &amp; Regex Matching: Easily fooled by misspellings, colloquial expressions, or compound goals.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Brittle Integration: Every branching condition requires hardcoded invocations and manual state variables.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Zero Real-Time Reasoning: Incapable of synthesizing multiple data sources on the fly; outputs static canned replies.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High Maintenance Overhead: Adding one new capability requires re-wiring dozens of existing dialog menus.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709160" y="1024128"/>
            <a:ext cx="3977640" cy="3566160"/>
          </a:xfrm>
          <a:prstGeom prst="roundRect">
            <a:avLst>
              <a:gd name="adj" fmla="val 2051"/>
            </a:avLst>
          </a:prstGeom>
          <a:solidFill>
            <a:srgbClr val="131B2E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09160" y="1024128"/>
            <a:ext cx="397764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1143000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AGENTS (AGENTFORCE)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892040" y="137160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Reasoning Engine &amp; Dynamic ReAct Loops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719072"/>
            <a:ext cx="3611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Dynamic Cognitive Loop: Reasons through multi-turn human goals using the ReAct cognitive architecture.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Semantic Intent Resolution: Comprehends nuances, context, and unstructured intent without rigid keywords.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Autonomous Tool Orchestration: Dynamically discovers, chains, and executes Flows, Apex, and APIs as needed.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Grounded in CRM &amp; Data 360: Synthesizes real-time enterprise data into tailored, personalized answers.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Extensible Micro-Topic Design: New capabilities are added as modular Actions; Atlas automatically routes to them.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097280" cy="27432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ARCHITECTURE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Atlas Reasoning Engine: The 4-Phase ReAct Loop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877824"/>
            <a:ext cx="82296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 &amp; Data 360 Enablement  •  Day 1: Atlas Reasoning Engine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0" y="4791456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7200" y="1024128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131B2E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0972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66928" y="1417320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EVALUATION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66928" y="1600200"/>
            <a:ext cx="170078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User Goal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1874520"/>
            <a:ext cx="170078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Ingests user utterance and conversation history. Matches against Topic boundaries to select active domain.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560320" y="1024128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131B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70048" y="10972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670048" y="1417320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&amp; PLAN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670048" y="1600200"/>
            <a:ext cx="170078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Formulate "Thought"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70048" y="1874520"/>
            <a:ext cx="170078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Determines what action is required. Evaluates available Actions within the Topic and builds an execution plan.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663440" y="1024128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131B2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10972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73168" y="1417320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&amp; EXECUTE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773168" y="1600200"/>
            <a:ext cx="170078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Invoke Bound Tools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73168" y="1874520"/>
            <a:ext cx="170078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the chosen tool (Flow, Apex @InvocableMethod, or API) with extracted parameter payloads.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766560" y="1024128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131B2E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76288" y="10972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76288" y="1417320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&amp; ITERATE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876288" y="1600200"/>
            <a:ext cx="170078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&amp; Synthesize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76288" y="1874520"/>
            <a:ext cx="170078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Ingests tool payload. If goal is satisfied, generates final reply; otherwise, loops back to Phase 2.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57200" y="3154680"/>
            <a:ext cx="8229600" cy="1463040"/>
          </a:xfrm>
          <a:prstGeom prst="roundRect">
            <a:avLst>
              <a:gd name="adj" fmla="val 3750"/>
            </a:avLst>
          </a:prstGeom>
          <a:solidFill>
            <a:srgbClr val="080C14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218688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REACT LOG TRACE IN ACTION: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40080" y="3429000"/>
            <a:ext cx="78638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[USER]: "What's the status of case #0001024 and can you bump it to High priority?"</a:t>
            </a:r>
            <a:endParaRPr lang="en-US" sz="7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[THOUGHT]: User wants Case 0001024 status and priority change. Query Case 0001024 first to inspect current state.</a:t>
            </a:r>
            <a:endParaRPr lang="en-US" sz="7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[ACTION]: Invoke Flow "Get_Case_Details" with argument { caseNumber: "0001024" }</a:t>
            </a:r>
            <a:endParaRPr lang="en-US" sz="7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[OBSERVATION]: Case found: { Subject: "Server Down", Status: "New", Priority: "Medium" }</a:t>
            </a:r>
            <a:endParaRPr lang="en-US" sz="7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[THOUGHT]: Status is "New". Now update Priority to "High" using the Update_Case_Priority action.</a:t>
            </a:r>
            <a:endParaRPr lang="en-US" sz="7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[ACTION]: Invoke Flow "Update_Case_Priority" with argument { caseId: "500xx...", priority: "High" }</a:t>
            </a:r>
            <a:endParaRPr lang="en-US" sz="7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[RESPONSE]: "Case #0001024 ('Server Down') is currently New. I have escalated the priority to High as requested."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097280" cy="27432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TAXONOMY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 Architecture Pillars: Agent, Topic, and Action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877824"/>
            <a:ext cx="82296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 &amp; Data 360 Enablement  •  Day 1: Atlas Reasoning Engine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0" y="4791456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7200" y="1024128"/>
            <a:ext cx="2596896" cy="3566160"/>
          </a:xfrm>
          <a:prstGeom prst="roundRect">
            <a:avLst>
              <a:gd name="adj" fmla="val 2817"/>
            </a:avLst>
          </a:prstGeom>
          <a:solidFill>
            <a:srgbClr val="131B2E"/>
          </a:solidFill>
          <a:ln w="15240">
            <a:solidFill>
              <a:srgbClr val="00A1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024128"/>
            <a:ext cx="2596896" cy="45720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143000"/>
            <a:ext cx="2322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Agent (Persona)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417320"/>
            <a:ext cx="23225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IDENTITY &amp; BOUNDARIES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94360" y="1645920"/>
            <a:ext cx="23225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Represents the master autonomous entity deployed across channels (Service Cloud, Messaging, Experience Cloud).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94360" y="2286000"/>
            <a:ext cx="2322576" cy="0"/>
          </a:xfrm>
          <a:prstGeom prst="line">
            <a:avLst/>
          </a:prstGeom>
          <a:noFill/>
          <a:ln w="10160">
            <a:solidFill>
              <a:srgbClr val="2333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377440"/>
            <a:ext cx="23225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ELEMENTS: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2606040"/>
            <a:ext cx="2322576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Name &amp; Role (e.g. "Support Specialist")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Global Persona &amp; Tone Rules (Concise, empathetic)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Enterprise Guardrails (What never to do)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Multi-language &amp; Session context parameters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73552" y="1024128"/>
            <a:ext cx="2596896" cy="3566160"/>
          </a:xfrm>
          <a:prstGeom prst="roundRect">
            <a:avLst>
              <a:gd name="adj" fmla="val 2817"/>
            </a:avLst>
          </a:prstGeom>
          <a:solidFill>
            <a:srgbClr val="131B2E"/>
          </a:solidFill>
          <a:ln w="15240">
            <a:solidFill>
              <a:srgbClr val="8B5C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73552" y="1024128"/>
            <a:ext cx="2596896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10712" y="1143000"/>
            <a:ext cx="2322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The Topic (Boundary)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10712" y="1417320"/>
            <a:ext cx="23225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BOUNDARIES &amp; SCOPES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410712" y="1645920"/>
            <a:ext cx="23225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separation of business domains. Atlas switches between Topics dynamically based on user utterances.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410712" y="2286000"/>
            <a:ext cx="2322576" cy="0"/>
          </a:xfrm>
          <a:prstGeom prst="line">
            <a:avLst/>
          </a:prstGeom>
          <a:noFill/>
          <a:ln w="10160">
            <a:solidFill>
              <a:srgbClr val="2333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10712" y="2377440"/>
            <a:ext cx="23225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ELEMENTS: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410712" y="2606040"/>
            <a:ext cx="2322576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High-Precision Semantic Classification Description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Scope Boundaries: Defines what is IN and OUT of scope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Topic-specific instructions &amp; procedural rules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Best Practice: 3 to 7 focused Topics per Agent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089904" y="1024128"/>
            <a:ext cx="2596896" cy="3566160"/>
          </a:xfrm>
          <a:prstGeom prst="roundRect">
            <a:avLst>
              <a:gd name="adj" fmla="val 2817"/>
            </a:avLst>
          </a:prstGeom>
          <a:solidFill>
            <a:srgbClr val="131B2E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89904" y="1024128"/>
            <a:ext cx="2596896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27064" y="1143000"/>
            <a:ext cx="2322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The Action (Tool)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27064" y="1417320"/>
            <a:ext cx="23225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EXECUTABLE INTEGRATIONS &amp; TOOLS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227064" y="1645920"/>
            <a:ext cx="23225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concrete capabilities bound to a Topic that execute business logic inside or outside Salesforce.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227064" y="2286000"/>
            <a:ext cx="2322576" cy="0"/>
          </a:xfrm>
          <a:prstGeom prst="line">
            <a:avLst/>
          </a:prstGeom>
          <a:noFill/>
          <a:ln w="10160">
            <a:solidFill>
              <a:srgbClr val="23335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27064" y="2377440"/>
            <a:ext cx="23225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ELEMENTS: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227064" y="2606040"/>
            <a:ext cx="2322576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Autolaunched Flows (Point-and-click CRM operations)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Apex @InvocableMethod (Complex business logic)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Prompt Templates (Grounding LLM prompts with CRM data)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External Services &amp; MuleSoft APIs (Legacy/ERP systems)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097280" cy="27432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COMPLIANCE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Security: Foundation LLMs &amp; Einstein Trust Layer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877824"/>
            <a:ext cx="82296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 &amp; Data 360 Enablement  •  Day 1: Atlas Reasoning Engine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0" y="4791456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7200" y="102412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131B2E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133856"/>
            <a:ext cx="1280160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016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13385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PRIVACY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965960" y="1133856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Data Retention (ZDR)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1408176"/>
            <a:ext cx="3703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contractual guarantee that foundational LLM vendors (OpenAI, Anthropic, Google) NEVER store, retain, or train on enterprise customer data.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94360" y="2167128"/>
            <a:ext cx="3703320" cy="411480"/>
          </a:xfrm>
          <a:prstGeom prst="roundRect">
            <a:avLst>
              <a:gd name="adj" fmla="val 11111"/>
            </a:avLst>
          </a:prstGeom>
          <a:solidFill>
            <a:srgbClr val="0D1527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212848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 Note: Salesforce Private Gateway enforces stateless transient inference.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709160" y="102412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131B2E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46320" y="1133856"/>
            <a:ext cx="1280160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0160">
            <a:solidFill>
              <a:srgbClr val="00A1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113385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ANONYMIZATION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217920" y="1133856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PII Masking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46320" y="1408176"/>
            <a:ext cx="3703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Scans and replaces sensitive data (SSNs, cards, emails, phone numbers) with synthetic tokens prior to outbound LLM dispatch.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846320" y="2167128"/>
            <a:ext cx="3703320" cy="411480"/>
          </a:xfrm>
          <a:prstGeom prst="roundRect">
            <a:avLst>
              <a:gd name="adj" fmla="val 11111"/>
            </a:avLst>
          </a:prstGeom>
          <a:solidFill>
            <a:srgbClr val="0D1527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2212848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 Note: Tokens de-masked when response re-enters Salesforce.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57200" y="283464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131B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2944368"/>
            <a:ext cx="1280160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0160">
            <a:solidFill>
              <a:srgbClr val="8B5C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2944368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ENFORCEMENT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965960" y="2944368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Toxicity &amp; Guardrails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4360" y="3218688"/>
            <a:ext cx="3703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safety classifiers evaluate prompts and responses for toxicity, hate speech, prompt injections, and hallucinations.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94360" y="3977640"/>
            <a:ext cx="3703320" cy="411480"/>
          </a:xfrm>
          <a:prstGeom prst="roundRect">
            <a:avLst>
              <a:gd name="adj" fmla="val 11111"/>
            </a:avLst>
          </a:prstGeom>
          <a:solidFill>
            <a:srgbClr val="0D1527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02336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 Note: Scoring threshold automatically suppresses violating outputs.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4709160" y="283464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131B2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46320" y="2944368"/>
            <a:ext cx="1280160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2944368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AUDIT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217920" y="2944368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 Audit Trail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46320" y="3218688"/>
            <a:ext cx="3703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prompt payload, masked entity, generated response, toxicity score, and timestamp is securely logged for compliance auditing.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846320" y="3977640"/>
            <a:ext cx="3703320" cy="411480"/>
          </a:xfrm>
          <a:prstGeom prst="roundRect">
            <a:avLst>
              <a:gd name="adj" fmla="val 11111"/>
            </a:avLst>
          </a:prstGeom>
          <a:solidFill>
            <a:srgbClr val="0D1527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37760" y="402336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 Note: Exportable directly to Data Cloud or external SIEM platforms.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097280" cy="27432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BLUEPRINT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Setup Walkthrough: Screen-by-Screen Setup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877824"/>
            <a:ext cx="82296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 &amp; Data 360 Enablement  •  Day 1: Atlas Reasoning Engine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0" y="4791456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7200" y="1024128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131B2E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133856"/>
            <a:ext cx="685800" cy="420624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 w="10160">
            <a:solidFill>
              <a:srgbClr val="00A1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225296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371600" y="111556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 Einstein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371600" y="1353312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  ➜  Quick Find: "Einstein Setup"  ➜  Toggle "Turn on Einstein"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257800" y="1133856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Provisions tenant generative AI infrastructure and unlocks Einstein Trust Layer.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131B2E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1847088"/>
            <a:ext cx="685800" cy="420624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 w="10160">
            <a:solidFill>
              <a:srgbClr val="00A1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193852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71600" y="182880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Agentforce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371600" y="20665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  ➜  Quick Find: "Agents"  ➜  Toggle "Turn on Agentforce"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257800" y="1847088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Initializes the Atlas Reasoning Engine runtime inside the org and activates Studio.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" y="2450592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131B2E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2560320"/>
            <a:ext cx="685800" cy="420624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 w="1016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2651760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371600" y="25420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New Agent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371600" y="277977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  ➜  Click "New Agent"  ➜  Select Type (Service / Sales)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257800" y="256032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master persona, corporate role ("Tier 1 Support"), tone, and guardrails.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57200" y="3163824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131B2E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3273552"/>
            <a:ext cx="685800" cy="420624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36499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371600" y="32552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Topics &amp; Actions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371600" y="349300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Builder  ➜  Topics Tab  ➜  "New Topic"  ➜  Bind Actions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257800" y="3273552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high-precision semantic topic descriptions. Attach autolaunched Flows / Apex.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7200" y="3877056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131B2E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6928" y="3986784"/>
            <a:ext cx="685800" cy="420624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 w="1016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4078224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371600" y="396849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&amp; Activate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371600" y="42062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Preview Console  ➜  Enter Test Utterance  ➜  Click "Activate"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257800" y="3986784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the live Reasoning Log trace. Confirm Topic switching and tool execution.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097280" cy="27432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DEBUGGING &amp; OBSERVABILITY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Tracing: Reading the Agentforce Reasoning Log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877824"/>
            <a:ext cx="82296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 &amp; Data 360 Enablement  •  Day 1: Atlas Reasoning Engine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0" y="4791456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7200" y="1024128"/>
            <a:ext cx="3977640" cy="3566160"/>
          </a:xfrm>
          <a:prstGeom prst="roundRect">
            <a:avLst>
              <a:gd name="adj" fmla="val 2051"/>
            </a:avLst>
          </a:prstGeom>
          <a:solidFill>
            <a:srgbClr val="080C14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143000"/>
            <a:ext cx="3703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 REASONING LOG TRACE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1389888"/>
            <a:ext cx="370332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14:02:01.120 [INPUT] Utterance: "Status of case #0001024?"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14:02:01.350 [CLASSIFIER] Topic Classification: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-&gt; Selected: "Case Management" (Score: 0.96)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-&gt; Rejected: "Billing Inquiry" (Score: 0.12)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14:02:01.580 [REASONING] Thought: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"User is inquiring about status of case #0001024.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Action 'Get_Case_Details' matches input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'CaseNumber' -&gt; '0001024'."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14:02:01.710 [ACTION CALL] Invoking Tool: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-&gt; Tool: Autolaunched Flow 'Get_Case_Details'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-&gt; Ingested Params: { CaseNumber: "0001024" }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14:02:02.040 [OBSERVATION] Tool Result: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-&gt; Output: { Status: "New", Priority: "Medium",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Subject: "System Access Issue" }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14:02:02.320 [SYNTHESIS] Thought: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"Goal satisfied. Formulating reply."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14:02:02.680 [AGENT OUTPUT]: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"Case #0001024 ('System Access Issue') is currently New</a:t>
            </a:r>
            <a:endParaRPr lang="en-US" sz="680" dirty="0"/>
          </a:p>
          <a:p>
            <a:pPr indent="0" marL="0">
              <a:lnSpc>
                <a:spcPts val="950"/>
              </a:lnSpc>
              <a:buNone/>
            </a:pPr>
            <a:r>
              <a:rPr lang="en-US" sz="6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with Medium priority."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709160" y="1024128"/>
            <a:ext cx="3977640" cy="3566160"/>
          </a:xfrm>
          <a:prstGeom prst="roundRect">
            <a:avLst>
              <a:gd name="adj" fmla="val 2051"/>
            </a:avLst>
          </a:prstGeom>
          <a:solidFill>
            <a:srgbClr val="131B2E"/>
          </a:solidFill>
          <a:ln w="12700">
            <a:solidFill>
              <a:srgbClr val="23335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1024128"/>
            <a:ext cx="397764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143000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AUDIT CHECKPOINTS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92040" y="1371600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Every Architect Must Inspect in the Trace: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92040" y="1691640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Topic Classification Confidence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892040" y="1892808"/>
            <a:ext cx="3611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Atlas pick the intended Topic? If score is below 0.85 or competing topics tie, sharpen the Topic description.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892040" y="2386584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Parameter Extraction Accuracy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892040" y="2587752"/>
            <a:ext cx="3611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that the LLM extracted parameter types correctly (e.g. stripping "#" from "0001024" for SOQL safety).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892040" y="3081528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Response Payload Size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892040" y="3282696"/>
            <a:ext cx="3611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Action outputs concise. Returning 50 unneeded Case fields pollutes LLM context and drives up token latency.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892040" y="3776472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Grounding Fidelity (Zero Hallucination)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92040" y="3977640"/>
            <a:ext cx="3611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 the final agent message only states facts returned in the Observation payload without extrapolating assumptions.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097280" cy="27432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PITFALLS &amp; ANTI-PATTERNS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Production Architecture Traps &amp; Hard Limits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877824"/>
            <a:ext cx="82296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 &amp; Data 360 Enablement  •  Day 1: Atlas Reasoning Engine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0" y="4791456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7200" y="102412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131B2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024128"/>
            <a:ext cx="397764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133856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1: The Monolithic Topic Anti-Pattern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4360" y="1389888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FDA4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Pitfall: Stuffing 25+ Actions into a single generic Topic. Causes LLM choice paralysis, tool misfires, and high response latency.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594360" y="1984248"/>
            <a:ext cx="3703320" cy="594360"/>
          </a:xfrm>
          <a:prstGeom prst="roundRect">
            <a:avLst>
              <a:gd name="adj" fmla="val 7692"/>
            </a:avLst>
          </a:prstGeom>
          <a:solidFill>
            <a:srgbClr val="0D1527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029968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Solution: Decompose into 3-7 sharply scoped micro-topics (e.g. "Case Inquiries", "Refund Escalations") with clear boundaries.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709160" y="102412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131B2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09160" y="1024128"/>
            <a:ext cx="397764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133856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2: Vague Action Descriptions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389888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FDA4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Pitfall: Naming an Action "ProcessCase" with description "Processes cases". Atlas cannot decipher when or why to invoke it.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846320" y="1984248"/>
            <a:ext cx="3703320" cy="594360"/>
          </a:xfrm>
          <a:prstGeom prst="roundRect">
            <a:avLst>
              <a:gd name="adj" fmla="val 7692"/>
            </a:avLst>
          </a:prstGeom>
          <a:solidFill>
            <a:srgbClr val="0D1527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2029968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Solution: Use semantic descriptions: "Invoked when user provides an existing 8-digit case number to query status and priority."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" y="283464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131B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2834640"/>
            <a:ext cx="397764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2944368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3: Unbounded ReAct Execution Loops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4360" y="320040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FDA4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Pitfall: Action fails to satisfy goal, causing Atlas to repeatedly call the same action in an infinite loop, exhausting API limits.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94360" y="3794760"/>
            <a:ext cx="3703320" cy="594360"/>
          </a:xfrm>
          <a:prstGeom prst="roundRect">
            <a:avLst>
              <a:gd name="adj" fmla="val 7692"/>
            </a:avLst>
          </a:prstGeom>
          <a:solidFill>
            <a:srgbClr val="0D1527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84048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Solution: Define explicit exit criteria: "If the case number is not found after 1 search, inform user and do not retry."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709160" y="283464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131B2E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09160" y="2834640"/>
            <a:ext cx="3977640" cy="45720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2944368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4: Context Pollution &amp; PII Leakage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46320" y="320040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FDA4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Pitfall: Returning raw Salesforce record objects containing sensitive internal fields, bypassing Field-Level Security (FLS).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46320" y="3794760"/>
            <a:ext cx="3703320" cy="594360"/>
          </a:xfrm>
          <a:prstGeom prst="roundRect">
            <a:avLst>
              <a:gd name="adj" fmla="val 7692"/>
            </a:avLst>
          </a:prstGeom>
          <a:solidFill>
            <a:srgbClr val="0D1527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384048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Solution: Enforce strict output DTOs in Flows and Apex. Rely on Einstein Trust Layer dynamic masking to sanitize tokens.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097280" cy="27432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WORKSHOP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Lab: First Contact with Agentforce Builder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877824"/>
            <a:ext cx="82296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 &amp; Data 360 Enablement  •  Day 1: Atlas Reasoning Engine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0" y="4791456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7200" y="1024128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162238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07899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OBJECTIVE: Build, configure, and verify your first autonomous Agent in Agentforce Studio within 30 minutes, handling case queries via dynamic ReAct execution without a single hardcoded decision tree.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64208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131B2E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64208"/>
            <a:ext cx="1920240" cy="45720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1783080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66928" y="1965960"/>
            <a:ext cx="170078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Creation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2267712"/>
            <a:ext cx="170078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Navigate Setup ➜ Agents</a:t>
            </a: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Click New Agent ➜ Service</a:t>
            </a: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Name: "Service Desk Agent"</a:t>
            </a: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Role: "Tier 1 Support Agent"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560320" y="1664208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131B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60320" y="1664208"/>
            <a:ext cx="192024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70048" y="1783080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670048" y="1965960"/>
            <a:ext cx="170078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Configuration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70048" y="2267712"/>
            <a:ext cx="170078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Create Topic: "Case Inquiry"</a:t>
            </a: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Description: "Help customers check status of existing cases"</a:t>
            </a: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Scope: "Only lookup existing cases. Escalate if unassigned"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663440" y="1664208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131B2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1664208"/>
            <a:ext cx="192024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73168" y="1783080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773168" y="1965960"/>
            <a:ext cx="170078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Binding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73168" y="2267712"/>
            <a:ext cx="170078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Attach Flow: "Get Case Details"</a:t>
            </a: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Map Input: CaseNumber (String)</a:t>
            </a: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Map Outputs: Subject, Status</a:t>
            </a: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Save Topic configuration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766560" y="1664208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131B2E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0" y="1664208"/>
            <a:ext cx="192024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76288" y="1783080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876288" y="1965960"/>
            <a:ext cx="170078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Verification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76288" y="2267712"/>
            <a:ext cx="170078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Builder Preview Console</a:t>
            </a: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Test: "Status of #0001024?"</a:t>
            </a: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Verify Reasoning Log trace</a:t>
            </a: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endParaRPr lang="en-US" sz="7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Click Activate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097280" cy="27432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VERIFICATION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Checkpoint Quiz: Architecture Verification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877824"/>
            <a:ext cx="82296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 &amp; Data 360 Enablement  •  Day 1: Atlas Reasoning Engine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0" y="4791456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7200" y="1024128"/>
            <a:ext cx="8229600" cy="1097280"/>
          </a:xfrm>
          <a:prstGeom prst="roundRect">
            <a:avLst>
              <a:gd name="adj" fmla="val 5000"/>
            </a:avLst>
          </a:prstGeom>
          <a:solidFill>
            <a:srgbClr val="131B2E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13385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0160">
            <a:solidFill>
              <a:srgbClr val="00A1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133856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REASONING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1828800" y="1115568"/>
            <a:ext cx="6675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does Atlas determine which Action to trigger when a user sends a message?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94360" y="1389888"/>
            <a:ext cx="7955280" cy="621792"/>
          </a:xfrm>
          <a:prstGeom prst="roundRect">
            <a:avLst>
              <a:gd name="adj" fmla="val 7353"/>
            </a:avLst>
          </a:prstGeom>
          <a:solidFill>
            <a:srgbClr val="0D1527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435608"/>
            <a:ext cx="7772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Architect Answer: Atlas evaluates semantic meaning against Topic Scopes and Action Descriptions. It generates an internal "Thought" (plan) selecting the action whose description best matches the intended goal.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212848"/>
            <a:ext cx="8229600" cy="1097280"/>
          </a:xfrm>
          <a:prstGeom prst="roundRect">
            <a:avLst>
              <a:gd name="adj" fmla="val 5000"/>
            </a:avLst>
          </a:prstGeom>
          <a:solidFill>
            <a:srgbClr val="131B2E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232257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0160">
            <a:solidFill>
              <a:srgbClr val="00A1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322576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LAYER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1828800" y="2304288"/>
            <a:ext cx="6675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What is the architectural role of Zero Data Retention (ZDR) in the Trust Layer?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2578608"/>
            <a:ext cx="7955280" cy="621792"/>
          </a:xfrm>
          <a:prstGeom prst="roundRect">
            <a:avLst>
              <a:gd name="adj" fmla="val 7353"/>
            </a:avLst>
          </a:prstGeom>
          <a:solidFill>
            <a:srgbClr val="0D1527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2624328"/>
            <a:ext cx="7772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Architect Answer: ZDR legally and technically guarantees that external foundation LLMs process prompts strictly in-memory and NEVER persist, log, or use enterprise customer data to train future models.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8229600" cy="1097280"/>
          </a:xfrm>
          <a:prstGeom prst="roundRect">
            <a:avLst>
              <a:gd name="adj" fmla="val 5000"/>
            </a:avLst>
          </a:prstGeom>
          <a:solidFill>
            <a:srgbClr val="131B2E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51129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0160">
            <a:solidFill>
              <a:srgbClr val="00A1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511296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ARCHITECTURE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1828800" y="3493008"/>
            <a:ext cx="6675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Why is creating a single Topic containing 30 Actions considered a critical anti-pattern?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94360" y="3767328"/>
            <a:ext cx="7955280" cy="621792"/>
          </a:xfrm>
          <a:prstGeom prst="roundRect">
            <a:avLst>
              <a:gd name="adj" fmla="val 7353"/>
            </a:avLst>
          </a:prstGeom>
          <a:solidFill>
            <a:srgbClr val="0D1527"/>
          </a:solidFill>
          <a:ln w="10160">
            <a:solidFill>
              <a:srgbClr val="23335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813048"/>
            <a:ext cx="7772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Architect Answer: Large action sets overload the LLM context window, causing choice ambiguity, hallucinated parameters, severe response latency, and frequent execution of unintended actions.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097280" cy="27432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&amp; ROADMAP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Cheatsheet &amp; Day 2 Preview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877824"/>
            <a:ext cx="82296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 &amp; Data 360 Enablement  •  Day 1: Atlas Reasoning Engine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0" y="4791456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7200" y="1024128"/>
            <a:ext cx="3977640" cy="3566160"/>
          </a:xfrm>
          <a:prstGeom prst="roundRect">
            <a:avLst>
              <a:gd name="adj" fmla="val 2051"/>
            </a:avLst>
          </a:prstGeom>
          <a:solidFill>
            <a:srgbClr val="131B2E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024128"/>
            <a:ext cx="3977640" cy="45720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143000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ARCHITECT CHEATSHEET &amp; LIMITS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40080" y="1371600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 Rules to Remember: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1664208"/>
            <a:ext cx="3611880" cy="2788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Cognitive Loop: Atlas runs ReAct (Thought ➜ Action ➜ Observation ➜ Response).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Topic Rule of Thumb: Aim for 3-7 Topics per Agent. Never exceed 10 for peak accuracy.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Action Limit: Keep 3-10 Actions per Topic. Offload complex logic into Flows.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Description Is Code: Write Action descriptions as if they are API specs with trigger rules.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Trust Layer: Outbound calls are PII-masked and under Zero Data Retention agreements.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Debugging: Always inspect Reasoning Logs before promoting Agents to live channels.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709160" y="1024128"/>
            <a:ext cx="3977640" cy="3566160"/>
          </a:xfrm>
          <a:prstGeom prst="roundRect">
            <a:avLst>
              <a:gd name="adj" fmla="val 2051"/>
            </a:avLst>
          </a:prstGeom>
          <a:solidFill>
            <a:srgbClr val="131B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09160" y="1024128"/>
            <a:ext cx="397764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1143000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COMING UP IN DAY 2 OF 20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892040" y="1371600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Builder &amp; Grounding Strategies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92040" y="1664208"/>
            <a:ext cx="3611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Prompt Builder Studio: Creating Field, Record, and Flex Prompt Templates.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Grounding Architectures: Grounding LLM prompts dynamically using CRM Record merge fields.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Flow Grounding: Pulling real-time multi-object relational context via autolaunched flows.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Apex Grounding: Writing @InvocableMethod Apex controllers feeding structured grounding JSON.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Prompt Defense: Guarding against prompt injection and jailbreaking.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892040" y="4069080"/>
            <a:ext cx="3611880" cy="411480"/>
          </a:xfrm>
          <a:prstGeom prst="roundRect">
            <a:avLst>
              <a:gd name="adj" fmla="val 13333"/>
            </a:avLst>
          </a:prstGeom>
          <a:solidFill>
            <a:srgbClr val="1E1B4B"/>
          </a:solidFill>
          <a:ln w="1016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416052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Day 2? Continue on the 20-Day Playbook Workbench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Enterprise Enablement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1: The Atlas Reasoning Engine &amp; ReAct Loop</dc:title>
  <dc:subject>Salesforce Agentforce &amp; Data 360 Masterclass</dc:subject>
  <dc:creator>Salesforce Enterprise Architecture</dc:creator>
  <cp:lastModifiedBy>Salesforce Enterprise Architecture</cp:lastModifiedBy>
  <cp:revision>1</cp:revision>
  <dcterms:created xsi:type="dcterms:W3CDTF">2026-10-31T09:30:52Z</dcterms:created>
  <dcterms:modified xsi:type="dcterms:W3CDTF">2026-10-31T09:30:52Z</dcterms:modified>
</cp:coreProperties>
</file>