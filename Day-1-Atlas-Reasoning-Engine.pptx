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DELIVERY SCRIPT - SLIDE 1:
Welcome everyone to Day 1 of our 20-Day Salesforce Agentforce &amp; Data 360 Enablement Series.
Today marks the most fundamental paradigm shift in enterprise AI: moving away from deterministic, rule-based chatbots toward cognitive, autonomous agents powered by the Atlas Reasoning Engine.
By the end of today's 120-minute session, every engineer in this room will understand:
1. Exactly how the Atlas Reasoning Engine thinks and acts using the ReAct (Reason + Act) cognitive loop.
2. The 3 core architecture pillars: Agents, Topics, and Actions.
3. How enterprise security is guaranteed through the Einstein Trust Layer and Zero Data Retention.
4. How to build, configure, test, and debug an autonomous agent in Agentforce Studio.
Let us get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DELIVERY SCRIPT - SLIDE 2:
Here is our time-boxed roadmap for the next two hours:
- Minutes 0 to 25: We establish the mental shift. We explain why classical chatbots failed and how the Atlas Reasoning Engine solves semantic flexibility.
- Minutes 25 to 55: We dissect the three pillars: Agent Persona, Topic Boundaries, and Action Tools, alongside the Einstein Trust Layer.
- Minutes 55 to 95: 40 full minutes of live demonstration inside Salesforce Setup and Agent Builder.
- Minutes 95 to 120: We deconstruct live execution traces, analyze 4 critical production traps, and verify knowledge with a checkpoint quiz.
Keep your questions coming, and ensure you have access to your Developer Edition or Trial org ready for the lab in Module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DELIVERY SCRIPT - SLIDE 3:
Let us contrast legacy Einstein Bots with Agentforce.
For ten years, enterprise customer service ran on deterministic state machines. A developer had to manually anticipate every user choice: 'If user clicks button A, go to dialog B'.
The problem? Real human beings do not speak in deterministic trees!
If a customer writes: 'I want to exchange my blue shirt for a medium red one, but only if it arrives before Friday, otherwise just cancel the order', a legacy bot fails instantly because no single dialog rule matches that compound intent.
Agentforce is completely different: It does not follow a pre-programmed script. It is an autonomous agent equipped with tools. It evaluates the user's ultimate goal, decides which tool to run first (e.g. check stock for medium red shirt), observes the result, and dynamically chooses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DELIVERY SCRIPT - SLIDE 4:
To cement this concept in your minds, use this mental model when explaining Agentforce to stakeholders:
A traditional chatbot is like a Train on Railroad Tracks.
It is fast and predictable, but it can ONLY travel where tracks have been physically laid down in advance. If there is a small obstacle on the track—like unexpected wording or a compound request—the train derails completely.
An autonomous Agentforce agent is like a Self-Driving Autonomous Vehicle.
You give it a destination (e.g. 'Resolve the customer dispute'). It has sensors (user messages and CRM context), a steering wheel and pedals (Flows, Apex invocables, Prompt templates), and an onboard navigation computer (the Atlas Reasoning Engine).
If a road is blocked, it takes a detour; if it encounters a new situation, it reasons through the map and navigates dynamically.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DELIVERY SCRIPT - SLIDE 5:
Now let us define the brain itself: What is the Atlas Reasoning Engine?
Atlas is Salesforce's proprietary cognitive runtime. It is NOT just an API call to OpenAI or Anthropic.
Raw LLMs are stateless text completion engines—they have no memory of your CRM, no concept of Salesforce governor limits, and no ability to safely invoke your enterprise Flows.
Atlas is the orchestration system that sits between the user, the foundation LLM, and your Salesforce org.
It takes the user message, grounds it in real-time CRM data, passes it through the Einstein Trust Layer to mask PII, uses the ReAct loop to plan tool execution, executes the tools within governor limits, and formats a verified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DELIVERY SCRIPT - SLIDE 6:
Now let us unpack the cognitive mechanism itself: The ReAct Loop.
ReAct stands for Reason + Act. It is an AI framework originally developed at Princeton and Google, and it forms the mathematical core of Atlas.
The loop has 4 distinct phases:
1. Intent Evaluation: Atlas reads the user query and determines which Topic owns this domain.
2. Reason &amp; Plan: Atlas generates an internal Thought: 'What information do I have? What do I need? Which Action can give me that information?'
3. Act &amp; Execute: Atlas executes the Action. It does not just imagine doing it; it actually invokes your Flow or Apex class!
4. Observe &amp; Synthesize: Atlas receives the output payload from the Action. If the goal is fully met, it drafts the natural language reply. If not, it loops back to Phase 2 to run another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DELIVERY SCRIPT - SLIDE 7:
Let us look at what actually happens under the hood during this ReAct execution.
Notice how Atlas broke down a compound human prompt into two distinct operations:
First, it realized it cannot change a priority without knowing if the case exists and what its current state is. That was Step 1.
Second, after receiving the observation that the case is in 'New' status, it didn't stop! It realized the second half of the customer request—'bump to high priority'—was still unfulfilled.
So it executed Step 2: calling Update_Case_Priority.
Only when both actions completed and verified did Atlas construct the final user-facing response.
This multi-step autonomous chaining is impossible in legacy chatbots.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DELIVERY SCRIPT - SLIDE 8:
Every Agentforce implementation is built on three architectural pillars:
1. The Agent: The overall persona, global role, and system boundaries. Think of this as the job description of the employee.
2. The Topic: The functional department or business domain. An agent has 3 to 7 topics (e.g. Case Inquiries, Billing, Scheduling).
3. The Action: The discrete executable tools bound to a topic. Flows, Apex classes, Prompt templates, and APIs.
Let us explore each pillar in detail over the next three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DELIVERY SCRIPT - SLIDE 9:
Let us examine Pillar 1: The Agent.
When you create an Agent in Agentforce Studio, you are establishing the macro-persona.
Two critical things you must configure:
First: Role and Company Details. This is not fluff! Atlas injects this into every system prompt as foundational context. If you write 'You are a Tier 1 Support Specialist at SolarTech Corp', the model will tailor its terminology to solar energy support.
Second: Global Guardrails. These are negative constraints. For example: 'Never offer financial refunds exceeding $50. Never disclose employee personal phone numbers. Always escalate billing disputes to human agents.'
Atlas enforces these guardrails across ALL interactions regardless of which Topic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DELIVERY SCRIPT - SLIDE 10:
Pillar 2 is The Topic. Topics are the most important design element you will architect.
A Topic is a cohesive business domain.
Here is the crucial concept: How does Atlas know which Topic to select?
It uses Semantic Vector Similarity. When a user sends a message, Atlas compares that message against your Topic Descriptions.
If your description is vague—like 'Handles cases'—Atlas will get confused.
If your description is precise—'Assists customers with checking status, priority, and recent updates for existing support cases'—Atlas will achieve high classification confidence (&gt;0.90).
Rule of thumb: Give an agent 3 to 7 Topics. Never dump everything into one giant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DELIVERY SCRIPT - SLIDE 11:
Pillar 3 is The Action. Actions are the hands and feet of your agent.
Without actions, an agent is just an LLM that talks. With actions, the agent can look up database records, update cases, send emails, trigger MuleSoft APIs, and query Data Cloud.
Salesforce supports 4 Action types:
1. Autolaunched Flows: Point-and-click CRM operations.
2. Apex @InvocableMethod: High-performance pro-code with bulkification and external integrations.
3. Prompt Templates: Grounded generative prompt calls built in Prompt Builder.
4. External Services &amp; MuleSoft: Direct OpenAPI integrations to ERPs (SAP, Oracle).
Crucial rule: Your Action description dictates when Atlas calls the tool. Write clear input/output descriptions!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DELIVERY SCRIPT - SLIDE 12:
One of the primary objections enterprise security and compliance officers raise is:
'Will our sensitive customer data be used to train OpenAI or Anthropic models?'
The answer is an unequivocal NO, and Salesforce guarantees this through the Einstein Trust Layer.
There are four defensive layers:
1. Zero Data Retention (ZDR): A binding contractual and technical agreement. OpenAI, Google, and Anthropic NEVER log, store, or train on prompts sent through Salesforce.
2. Dynamic PII Masking: Before a prompt leaves Salesforce, social security numbers, credit card numbers, phone numbers, and emails are replaced with synthetic placeholder tokens.
3. Toxicity &amp; Hallucination Guardrails: Real-time classifiers scan incoming and outgoing messages. If an output violates safety thresholds, it is automatically suppressed.
4. Immutable Audit Trail: Every prompt, mask, score, and token count is logged for enterprise SIEM auditing.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DELIVERY SCRIPT - SLIDE 13:
Now we transition into the live system. Follow along on your screens or in your orgs.
Here is the exact click-path sequence:
Step 1: Go to Setup -&gt; Quick Find: 'Einstein Setup'. Toggle 'Turn on Einstein'. This provisions your org's tenant on the Einstein Platform.
Step 2: Go to Setup -&gt; Quick Find: 'Agents'. Toggle 'Turn on Agentforce'. This enables the Atlas Reasoning runtime.
Step 3: Click 'New Agent'. Select 'Service Agent'. Name it 'Service Desk Agent' and assign the corporate role.
Step 4: Go to the Topics tab. Add Topic 'Case Inquiry'. Assign autolaunched Flow 'Get Case By Number'.
Step 5: Test immediately in the Builder Preview Console using natural human phrasing, and click Activate!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DELIVERY SCRIPT - SLIDE 14:
When testing your agent in Agentforce Builder, do not just look at the chat bubble!
Every professional architect must open the Reasoning Log drawer on the right side of the canvas.
The Reasoning Log reveals what Atlas was actually thinking.
Look at the four checkpoints on the right side of this slide:
1. Did Atlas classify into the right topic with a confidence score above 0.85?
2. Did it extract parameters accurately (e.g. stripping the hashtag from #0001024)?
3. Is the action payload small and clean, or is it returning 50 unnecessary database fields that pollute the context window?
4. Is the final message strictly grounded in what the action returned without hallucinating?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DELIVERY SCRIPT - SLIDE 15:
Now let us review the top four production architecture traps that derail projects in enterprise implementations.
Trap 1: The Monolithic Topic. Developers who come from the traditional Flow background often create one Topic called 'Customer Service' and dump 30 Actions into it. The LLM experiences decision paralysis, token latency explodes, and accuracy plummets.
Trap 2: Vague Action Descriptions. Naming an action 'ProcessOrder' with description 'Processes an order'. Atlas does not know when to call it. Always write descriptions as full API contracts.
Trap 3: Unbounded ReAct Loops. If an action fails, Atlas might retry it infinitely unless you give it explicit exit instructions.
Trap 4: Context Pollution &amp; PII. Returning an entire SObject with 80 fields leaks data and wastes tokens. Always return compact DTOs.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DELIVERY SCRIPT - SLIDE 16:
Now it is your turn! We have 30 minutes for our Day 1 Hands-On Lab.
Your goal: Build, configure, and activate your first autonomous agent in your scratch or developer org.
Phase 1: Create the 'Service Desk Agent' in Setup -&gt; Agents.
Phase 2: Add Topic 'Case Inquiry' with clear in-scope and out-of-scope boundaries.
Phase 3: Attach the standard Flow Action 'Get Case By Number' and map CaseNumber as input.
Phase 4: Run test queries in Builder Preview, open the Reasoning Log, verify that the Topic was selected, and click Activate!
I will be walking the room and checking your reasoning traces.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DELIVERY SCRIPT - SLIDE 17:
Before we conclude Day 1, let us run through our Architecture Checkpoint Quiz.
I will read each question aloud, ask for a volunteer to give the architectural answer, and then reveal the official Salesforce architecture rationale.
Q1 tests understanding of semantic tool selection.
Q2 tests enterprise trust and zero data retention.
Q3 tests topic scaling and context window boundaries.
These questions are frequently asked in Agentblazer certification and technical architecture interviews.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DELIVERY SCRIPT - SLIDE 18:
Here is your Day 1 Cheatsheet.
Take a photo of this slide or keep it open on your secondary screen as you build.
The six golden rules to remember:
1. ReAct is a loop: Thought -&gt; Action -&gt; Observation -&gt; Response.
2. Aim for 3 to 7 Topics per agent.
3. Keep 3 to 10 Actions per topic.
4. Description IS Code.
5. Trust Layer protects all data with PII masking and ZDR.
6. Always debug using the Reasoning Log before activating.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DELIVERY SCRIPT - SLIDE 19:
Congratulations on completing Day 1 of our enablement masterclass!
Tomorrow in Day 2, we dive into:
'Prompt Templates &amp; Grounding Strategies'.
We will explore Prompt Builder Studio, learn how to ground foundation models dynamically using CRM records, multi-object flows, and custom Apex invocable controllers.
We will also study Prompt Defense techniques to protect your agents against prompt injection attacks.
See you all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9"/>
        </a:solidFill>
      </p:bgPr>
    </p:bg>
    <p:spTree>
      <p:nvGrpSpPr>
        <p:cNvPr id="1" name=""/>
        <p:cNvGrpSpPr/>
        <p:nvPr/>
      </p:nvGrpSpPr>
      <p:grpSpPr>
        <a:xfrm>
          <a:off x="0" y="0"/>
          <a:ext cx="0" cy="0"/>
          <a:chOff x="0" y="0"/>
          <a:chExt cx="0" cy="0"/>
        </a:xfrm>
      </p:grpSpPr>
      <p:sp>
        <p:nvSpPr>
          <p:cNvPr id="3" name="Shape 0"/>
          <p:cNvSpPr/>
          <p:nvPr/>
        </p:nvSpPr>
        <p:spPr>
          <a:xfrm>
            <a:off x="0" y="0"/>
            <a:ext cx="9144000" cy="73152"/>
          </a:xfrm>
          <a:prstGeom prst="rect">
            <a:avLst/>
          </a:prstGeom>
          <a:solidFill>
            <a:srgbClr val="00A1E0"/>
          </a:solidFill>
          <a:ln w="12700">
            <a:solidFill>
              <a:srgbClr val="00A1E0"/>
            </a:solidFill>
            <a:prstDash val="solid"/>
          </a:ln>
        </p:spPr>
      </p:sp>
      <p:sp>
        <p:nvSpPr>
          <p:cNvPr id="4" name="Shape 1"/>
          <p:cNvSpPr/>
          <p:nvPr/>
        </p:nvSpPr>
        <p:spPr>
          <a:xfrm>
            <a:off x="685800" y="594360"/>
            <a:ext cx="3291840" cy="274320"/>
          </a:xfrm>
          <a:prstGeom prst="roundRect">
            <a:avLst>
              <a:gd name="adj" fmla="val 20000"/>
            </a:avLst>
          </a:prstGeom>
          <a:solidFill>
            <a:srgbClr val="162238"/>
          </a:solidFill>
          <a:ln w="12700">
            <a:solidFill>
              <a:srgbClr val="00A1E0"/>
            </a:solidFill>
            <a:prstDash val="solid"/>
          </a:ln>
        </p:spPr>
      </p:sp>
      <p:sp>
        <p:nvSpPr>
          <p:cNvPr id="5" name="Text 2"/>
          <p:cNvSpPr/>
          <p:nvPr/>
        </p:nvSpPr>
        <p:spPr>
          <a:xfrm>
            <a:off x="685800" y="594360"/>
            <a:ext cx="3291840" cy="274320"/>
          </a:xfrm>
          <a:prstGeom prst="rect">
            <a:avLst/>
          </a:prstGeom>
          <a:noFill/>
          <a:ln/>
        </p:spPr>
        <p:txBody>
          <a:bodyPr wrap="square" rtlCol="0" anchor="ctr"/>
          <a:lstStyle/>
          <a:p>
            <a:pPr algn="ctr" indent="0" marL="0">
              <a:buNone/>
            </a:pPr>
            <a:r>
              <a:rPr lang="en-US" sz="800" b="1" dirty="0">
                <a:solidFill>
                  <a:srgbClr val="38BDF8"/>
                </a:solidFill>
                <a:latin typeface="Arial" pitchFamily="34" charset="0"/>
                <a:ea typeface="Arial" pitchFamily="34" charset="-122"/>
                <a:cs typeface="Arial" pitchFamily="34" charset="-120"/>
              </a:rPr>
              <a:t>ENTERPRISE ENABLEMENT  •  WINTER '27 (API 64)</a:t>
            </a:r>
            <a:endParaRPr lang="en-US" sz="800" dirty="0"/>
          </a:p>
        </p:txBody>
      </p:sp>
      <p:sp>
        <p:nvSpPr>
          <p:cNvPr id="6" name="Text 3"/>
          <p:cNvSpPr/>
          <p:nvPr/>
        </p:nvSpPr>
        <p:spPr>
          <a:xfrm>
            <a:off x="685800" y="1005840"/>
            <a:ext cx="7772400" cy="457200"/>
          </a:xfrm>
          <a:prstGeom prst="rect">
            <a:avLst/>
          </a:prstGeom>
          <a:noFill/>
          <a:ln/>
        </p:spPr>
        <p:txBody>
          <a:bodyPr wrap="square" rtlCol="0" anchor="ctr"/>
          <a:lstStyle/>
          <a:p>
            <a:pPr indent="0" marL="0">
              <a:buNone/>
            </a:pPr>
            <a:r>
              <a:rPr lang="en-US" sz="2200" b="1" dirty="0">
                <a:solidFill>
                  <a:srgbClr val="F8FAFC"/>
                </a:solidFill>
                <a:latin typeface="Arial" pitchFamily="34" charset="0"/>
                <a:ea typeface="Arial" pitchFamily="34" charset="-122"/>
                <a:cs typeface="Arial" pitchFamily="34" charset="-120"/>
              </a:rPr>
              <a:t>Salesforce Agentforce &amp; Data 360</a:t>
            </a:r>
            <a:endParaRPr lang="en-US" sz="2200" dirty="0"/>
          </a:p>
        </p:txBody>
      </p:sp>
      <p:sp>
        <p:nvSpPr>
          <p:cNvPr id="7" name="Text 4"/>
          <p:cNvSpPr/>
          <p:nvPr/>
        </p:nvSpPr>
        <p:spPr>
          <a:xfrm>
            <a:off x="685800" y="1481328"/>
            <a:ext cx="7772400" cy="365760"/>
          </a:xfrm>
          <a:prstGeom prst="rect">
            <a:avLst/>
          </a:prstGeom>
          <a:noFill/>
          <a:ln/>
        </p:spPr>
        <p:txBody>
          <a:bodyPr wrap="square" rtlCol="0" anchor="ctr"/>
          <a:lstStyle/>
          <a:p>
            <a:pPr indent="0" marL="0">
              <a:buNone/>
            </a:pPr>
            <a:r>
              <a:rPr lang="en-US" sz="1600" b="1" dirty="0">
                <a:solidFill>
                  <a:srgbClr val="38BDF8"/>
                </a:solidFill>
                <a:latin typeface="Arial" pitchFamily="34" charset="0"/>
                <a:ea typeface="Arial" pitchFamily="34" charset="-122"/>
                <a:cs typeface="Arial" pitchFamily="34" charset="-120"/>
              </a:rPr>
              <a:t>Day 1: The Atlas Reasoning Engine &amp; ReAct Loop</a:t>
            </a:r>
            <a:endParaRPr lang="en-US" sz="1600" dirty="0"/>
          </a:p>
        </p:txBody>
      </p:sp>
      <p:sp>
        <p:nvSpPr>
          <p:cNvPr id="8" name="Text 5"/>
          <p:cNvSpPr/>
          <p:nvPr/>
        </p:nvSpPr>
        <p:spPr>
          <a:xfrm>
            <a:off x="685800" y="1965960"/>
            <a:ext cx="7772400" cy="502920"/>
          </a:xfrm>
          <a:prstGeom prst="rect">
            <a:avLst/>
          </a:prstGeom>
          <a:noFill/>
          <a:ln/>
        </p:spPr>
        <p:txBody>
          <a:bodyPr wrap="square" rtlCol="0" anchor="ctr"/>
          <a:lstStyle/>
          <a:p>
            <a:pPr indent="0" marL="0">
              <a:lnSpc>
                <a:spcPts val="1400"/>
              </a:lnSpc>
              <a:buNone/>
            </a:pPr>
            <a:r>
              <a:rPr lang="en-US" sz="950" dirty="0">
                <a:solidFill>
                  <a:srgbClr val="94A3B8"/>
                </a:solidFill>
                <a:latin typeface="Arial" pitchFamily="34" charset="0"/>
                <a:ea typeface="Arial" pitchFamily="34" charset="-122"/>
                <a:cs typeface="Arial" pitchFamily="34" charset="-120"/>
              </a:rPr>
              <a:t>A 120-minute technical masterclass on autonomous agent cognition, dynamic ReAct reasoning cycles, enterprise grounding architectures, Einstein Trust Layer compliance, and hands-on Builder deployment.</a:t>
            </a:r>
            <a:endParaRPr lang="en-US" sz="950" dirty="0"/>
          </a:p>
        </p:txBody>
      </p:sp>
      <p:sp>
        <p:nvSpPr>
          <p:cNvPr id="9" name="Shape 6"/>
          <p:cNvSpPr/>
          <p:nvPr/>
        </p:nvSpPr>
        <p:spPr>
          <a:xfrm>
            <a:off x="685800" y="2697480"/>
            <a:ext cx="2423160" cy="1371600"/>
          </a:xfrm>
          <a:prstGeom prst="roundRect">
            <a:avLst>
              <a:gd name="adj" fmla="val 5333"/>
            </a:avLst>
          </a:prstGeom>
          <a:solidFill>
            <a:srgbClr val="131B2E"/>
          </a:solidFill>
          <a:ln w="15240">
            <a:solidFill>
              <a:srgbClr val="233354"/>
            </a:solidFill>
            <a:prstDash val="solid"/>
          </a:ln>
        </p:spPr>
      </p:sp>
      <p:sp>
        <p:nvSpPr>
          <p:cNvPr id="10" name="Shape 7"/>
          <p:cNvSpPr/>
          <p:nvPr/>
        </p:nvSpPr>
        <p:spPr>
          <a:xfrm>
            <a:off x="685800" y="2697480"/>
            <a:ext cx="54864" cy="1371600"/>
          </a:xfrm>
          <a:prstGeom prst="rect">
            <a:avLst/>
          </a:prstGeom>
          <a:solidFill>
            <a:srgbClr val="00A1E0"/>
          </a:solidFill>
          <a:ln w="12700">
            <a:solidFill>
              <a:srgbClr val="00A1E0"/>
            </a:solidFill>
            <a:prstDash val="solid"/>
          </a:ln>
        </p:spPr>
      </p:sp>
      <p:sp>
        <p:nvSpPr>
          <p:cNvPr id="11" name="Text 8"/>
          <p:cNvSpPr/>
          <p:nvPr/>
        </p:nvSpPr>
        <p:spPr>
          <a:xfrm>
            <a:off x="850392" y="2834640"/>
            <a:ext cx="2148840" cy="274320"/>
          </a:xfrm>
          <a:prstGeom prst="rect">
            <a:avLst/>
          </a:prstGeom>
          <a:noFill/>
          <a:ln/>
        </p:spPr>
        <p:txBody>
          <a:bodyPr wrap="square" rtlCol="0" anchor="ctr"/>
          <a:lstStyle/>
          <a:p>
            <a:pPr indent="0" marL="0">
              <a:buNone/>
            </a:pPr>
            <a:r>
              <a:rPr lang="en-US" sz="1100" b="1" dirty="0">
                <a:solidFill>
                  <a:srgbClr val="F8FAFC"/>
                </a:solidFill>
                <a:latin typeface="Arial" pitchFamily="34" charset="0"/>
                <a:ea typeface="Arial" pitchFamily="34" charset="-122"/>
                <a:cs typeface="Arial" pitchFamily="34" charset="-120"/>
              </a:rPr>
              <a:t>Autonomous Cognition</a:t>
            </a:r>
            <a:endParaRPr lang="en-US" sz="1100" dirty="0"/>
          </a:p>
        </p:txBody>
      </p:sp>
      <p:sp>
        <p:nvSpPr>
          <p:cNvPr id="12" name="Text 9"/>
          <p:cNvSpPr/>
          <p:nvPr/>
        </p:nvSpPr>
        <p:spPr>
          <a:xfrm>
            <a:off x="850392" y="3154680"/>
            <a:ext cx="2148840" cy="777240"/>
          </a:xfrm>
          <a:prstGeom prst="rect">
            <a:avLst/>
          </a:prstGeom>
          <a:noFill/>
          <a:ln/>
        </p:spPr>
        <p:txBody>
          <a:bodyPr wrap="square" rtlCol="0" anchor="ctr"/>
          <a:lstStyle/>
          <a:p>
            <a:pPr indent="0" marL="0">
              <a:lnSpc>
                <a:spcPts val="1300"/>
              </a:lnSpc>
              <a:buNone/>
            </a:pPr>
            <a:r>
              <a:rPr lang="en-US" sz="850" dirty="0">
                <a:solidFill>
                  <a:srgbClr val="94A3B8"/>
                </a:solidFill>
                <a:latin typeface="Arial" pitchFamily="34" charset="0"/>
                <a:ea typeface="Arial" pitchFamily="34" charset="-122"/>
                <a:cs typeface="Arial" pitchFamily="34" charset="-120"/>
              </a:rPr>
              <a:t>4-phase ReAct cognitive loop with dynamic multi-step planning</a:t>
            </a:r>
            <a:endParaRPr lang="en-US" sz="850" dirty="0"/>
          </a:p>
        </p:txBody>
      </p:sp>
      <p:sp>
        <p:nvSpPr>
          <p:cNvPr id="13" name="Shape 10"/>
          <p:cNvSpPr/>
          <p:nvPr/>
        </p:nvSpPr>
        <p:spPr>
          <a:xfrm>
            <a:off x="3383280" y="2697480"/>
            <a:ext cx="2423160" cy="1371600"/>
          </a:xfrm>
          <a:prstGeom prst="roundRect">
            <a:avLst>
              <a:gd name="adj" fmla="val 5333"/>
            </a:avLst>
          </a:prstGeom>
          <a:solidFill>
            <a:srgbClr val="131B2E"/>
          </a:solidFill>
          <a:ln w="15240">
            <a:solidFill>
              <a:srgbClr val="233354"/>
            </a:solidFill>
            <a:prstDash val="solid"/>
          </a:ln>
        </p:spPr>
      </p:sp>
      <p:sp>
        <p:nvSpPr>
          <p:cNvPr id="14" name="Shape 11"/>
          <p:cNvSpPr/>
          <p:nvPr/>
        </p:nvSpPr>
        <p:spPr>
          <a:xfrm>
            <a:off x="3383280" y="2697480"/>
            <a:ext cx="54864" cy="1371600"/>
          </a:xfrm>
          <a:prstGeom prst="rect">
            <a:avLst/>
          </a:prstGeom>
          <a:solidFill>
            <a:srgbClr val="10B981"/>
          </a:solidFill>
          <a:ln w="12700">
            <a:solidFill>
              <a:srgbClr val="10B981"/>
            </a:solidFill>
            <a:prstDash val="solid"/>
          </a:ln>
        </p:spPr>
      </p:sp>
      <p:sp>
        <p:nvSpPr>
          <p:cNvPr id="15" name="Text 12"/>
          <p:cNvSpPr/>
          <p:nvPr/>
        </p:nvSpPr>
        <p:spPr>
          <a:xfrm>
            <a:off x="3547872" y="2834640"/>
            <a:ext cx="2148840" cy="274320"/>
          </a:xfrm>
          <a:prstGeom prst="rect">
            <a:avLst/>
          </a:prstGeom>
          <a:noFill/>
          <a:ln/>
        </p:spPr>
        <p:txBody>
          <a:bodyPr wrap="square" rtlCol="0" anchor="ctr"/>
          <a:lstStyle/>
          <a:p>
            <a:pPr indent="0" marL="0">
              <a:buNone/>
            </a:pPr>
            <a:r>
              <a:rPr lang="en-US" sz="1100" b="1" dirty="0">
                <a:solidFill>
                  <a:srgbClr val="F8FAFC"/>
                </a:solidFill>
                <a:latin typeface="Arial" pitchFamily="34" charset="0"/>
                <a:ea typeface="Arial" pitchFamily="34" charset="-122"/>
                <a:cs typeface="Arial" pitchFamily="34" charset="-120"/>
              </a:rPr>
              <a:t>Trust Layer Security</a:t>
            </a:r>
            <a:endParaRPr lang="en-US" sz="1100" dirty="0"/>
          </a:p>
        </p:txBody>
      </p:sp>
      <p:sp>
        <p:nvSpPr>
          <p:cNvPr id="16" name="Text 13"/>
          <p:cNvSpPr/>
          <p:nvPr/>
        </p:nvSpPr>
        <p:spPr>
          <a:xfrm>
            <a:off x="3547872" y="3154680"/>
            <a:ext cx="2148840" cy="777240"/>
          </a:xfrm>
          <a:prstGeom prst="rect">
            <a:avLst/>
          </a:prstGeom>
          <a:noFill/>
          <a:ln/>
        </p:spPr>
        <p:txBody>
          <a:bodyPr wrap="square" rtlCol="0" anchor="ctr"/>
          <a:lstStyle/>
          <a:p>
            <a:pPr indent="0" marL="0">
              <a:lnSpc>
                <a:spcPts val="1300"/>
              </a:lnSpc>
              <a:buNone/>
            </a:pPr>
            <a:r>
              <a:rPr lang="en-US" sz="850" dirty="0">
                <a:solidFill>
                  <a:srgbClr val="94A3B8"/>
                </a:solidFill>
                <a:latin typeface="Arial" pitchFamily="34" charset="0"/>
                <a:ea typeface="Arial" pitchFamily="34" charset="-122"/>
                <a:cs typeface="Arial" pitchFamily="34" charset="-120"/>
              </a:rPr>
              <a:t>Zero Data Retention (ZDR), dynamic PII masking &amp; safety rails</a:t>
            </a:r>
            <a:endParaRPr lang="en-US" sz="850" dirty="0"/>
          </a:p>
        </p:txBody>
      </p:sp>
      <p:sp>
        <p:nvSpPr>
          <p:cNvPr id="17" name="Shape 14"/>
          <p:cNvSpPr/>
          <p:nvPr/>
        </p:nvSpPr>
        <p:spPr>
          <a:xfrm>
            <a:off x="6080760" y="2697480"/>
            <a:ext cx="2423160" cy="1371600"/>
          </a:xfrm>
          <a:prstGeom prst="roundRect">
            <a:avLst>
              <a:gd name="adj" fmla="val 5333"/>
            </a:avLst>
          </a:prstGeom>
          <a:solidFill>
            <a:srgbClr val="131B2E"/>
          </a:solidFill>
          <a:ln w="15240">
            <a:solidFill>
              <a:srgbClr val="233354"/>
            </a:solidFill>
            <a:prstDash val="solid"/>
          </a:ln>
        </p:spPr>
      </p:sp>
      <p:sp>
        <p:nvSpPr>
          <p:cNvPr id="18" name="Shape 15"/>
          <p:cNvSpPr/>
          <p:nvPr/>
        </p:nvSpPr>
        <p:spPr>
          <a:xfrm>
            <a:off x="6080760" y="2697480"/>
            <a:ext cx="54864" cy="1371600"/>
          </a:xfrm>
          <a:prstGeom prst="rect">
            <a:avLst/>
          </a:prstGeom>
          <a:solidFill>
            <a:srgbClr val="8B5CF6"/>
          </a:solidFill>
          <a:ln w="12700">
            <a:solidFill>
              <a:srgbClr val="8B5CF6"/>
            </a:solidFill>
            <a:prstDash val="solid"/>
          </a:ln>
        </p:spPr>
      </p:sp>
      <p:sp>
        <p:nvSpPr>
          <p:cNvPr id="19" name="Text 16"/>
          <p:cNvSpPr/>
          <p:nvPr/>
        </p:nvSpPr>
        <p:spPr>
          <a:xfrm>
            <a:off x="6245352" y="2834640"/>
            <a:ext cx="2148840" cy="274320"/>
          </a:xfrm>
          <a:prstGeom prst="rect">
            <a:avLst/>
          </a:prstGeom>
          <a:noFill/>
          <a:ln/>
        </p:spPr>
        <p:txBody>
          <a:bodyPr wrap="square" rtlCol="0" anchor="ctr"/>
          <a:lstStyle/>
          <a:p>
            <a:pPr indent="0" marL="0">
              <a:buNone/>
            </a:pPr>
            <a:r>
              <a:rPr lang="en-US" sz="1100" b="1" dirty="0">
                <a:solidFill>
                  <a:srgbClr val="F8FAFC"/>
                </a:solidFill>
                <a:latin typeface="Arial" pitchFamily="34" charset="0"/>
                <a:ea typeface="Arial" pitchFamily="34" charset="-122"/>
                <a:cs typeface="Arial" pitchFamily="34" charset="-120"/>
              </a:rPr>
              <a:t>Builder Deployment</a:t>
            </a:r>
            <a:endParaRPr lang="en-US" sz="1100" dirty="0"/>
          </a:p>
        </p:txBody>
      </p:sp>
      <p:sp>
        <p:nvSpPr>
          <p:cNvPr id="20" name="Text 17"/>
          <p:cNvSpPr/>
          <p:nvPr/>
        </p:nvSpPr>
        <p:spPr>
          <a:xfrm>
            <a:off x="6245352" y="3154680"/>
            <a:ext cx="2148840" cy="777240"/>
          </a:xfrm>
          <a:prstGeom prst="rect">
            <a:avLst/>
          </a:prstGeom>
          <a:noFill/>
          <a:ln/>
        </p:spPr>
        <p:txBody>
          <a:bodyPr wrap="square" rtlCol="0" anchor="ctr"/>
          <a:lstStyle/>
          <a:p>
            <a:pPr indent="0" marL="0">
              <a:lnSpc>
                <a:spcPts val="1300"/>
              </a:lnSpc>
              <a:buNone/>
            </a:pPr>
            <a:r>
              <a:rPr lang="en-US" sz="850" dirty="0">
                <a:solidFill>
                  <a:srgbClr val="94A3B8"/>
                </a:solidFill>
                <a:latin typeface="Arial" pitchFamily="34" charset="0"/>
                <a:ea typeface="Arial" pitchFamily="34" charset="-122"/>
                <a:cs typeface="Arial" pitchFamily="34" charset="-120"/>
              </a:rPr>
              <a:t>Topic modeling, action binding &amp; live reasoning trace inspection</a:t>
            </a:r>
            <a:endParaRPr lang="en-US" sz="850" dirty="0"/>
          </a:p>
        </p:txBody>
      </p:sp>
      <p:sp>
        <p:nvSpPr>
          <p:cNvPr id="21" name="Text 18"/>
          <p:cNvSpPr/>
          <p:nvPr/>
        </p:nvSpPr>
        <p:spPr>
          <a:xfrm>
            <a:off x="685800" y="4434840"/>
            <a:ext cx="7772400" cy="228600"/>
          </a:xfrm>
          <a:prstGeom prst="rect">
            <a:avLst/>
          </a:prstGeom>
          <a:noFill/>
          <a:ln/>
        </p:spPr>
        <p:txBody>
          <a:bodyPr wrap="square" rtlCol="0" anchor="ctr"/>
          <a:lstStyle/>
          <a:p>
            <a:pPr indent="0" marL="0">
              <a:buNone/>
            </a:pPr>
            <a:r>
              <a:rPr lang="en-US" sz="800" dirty="0">
                <a:solidFill>
                  <a:srgbClr val="64748B"/>
                </a:solidFill>
                <a:latin typeface="Arial" pitchFamily="34" charset="0"/>
                <a:ea typeface="Arial" pitchFamily="34" charset="-122"/>
                <a:cs typeface="Arial" pitchFamily="34" charset="-120"/>
              </a:rPr>
              <a:t>Enterprise Architecture Enablement Series  •  Day 1 of 20  •  For Software Engineers &amp; Technical Architects</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457200" y="256032"/>
            <a:ext cx="1097280" cy="27432"/>
          </a:xfrm>
          <a:prstGeom prst="rect">
            <a:avLst/>
          </a:prstGeom>
          <a:solidFill>
            <a:srgbClr val="00A1E0"/>
          </a:solidFill>
          <a:ln w="12700">
            <a:solidFill>
              <a:srgbClr val="00A1E0"/>
            </a:solidFill>
            <a:prstDash val="solid"/>
          </a:ln>
        </p:spPr>
      </p:sp>
      <p:sp>
        <p:nvSpPr>
          <p:cNvPr id="3" name="Text 1"/>
          <p:cNvSpPr/>
          <p:nvPr/>
        </p:nvSpPr>
        <p:spPr>
          <a:xfrm>
            <a:off x="457200" y="320040"/>
            <a:ext cx="8229600" cy="164592"/>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EXECUTIVE AGENDA</a:t>
            </a:r>
            <a:endParaRPr lang="en-US" sz="800" dirty="0"/>
          </a:p>
        </p:txBody>
      </p:sp>
      <p:sp>
        <p:nvSpPr>
          <p:cNvPr id="4" name="Text 2"/>
          <p:cNvSpPr/>
          <p:nvPr/>
        </p:nvSpPr>
        <p:spPr>
          <a:xfrm>
            <a:off x="457200" y="493776"/>
            <a:ext cx="8229600" cy="320040"/>
          </a:xfrm>
          <a:prstGeom prst="rect">
            <a:avLst/>
          </a:prstGeom>
          <a:noFill/>
          <a:ln/>
        </p:spPr>
        <p:txBody>
          <a:bodyPr wrap="square" rtlCol="0" anchor="ctr"/>
          <a:lstStyle/>
          <a:p>
            <a:pPr indent="0" marL="0">
              <a:buNone/>
            </a:pPr>
            <a:r>
              <a:rPr lang="en-US" sz="1500" b="1" dirty="0">
                <a:solidFill>
                  <a:srgbClr val="F8FAFC"/>
                </a:solidFill>
                <a:latin typeface="Arial" pitchFamily="34" charset="0"/>
                <a:ea typeface="Arial" pitchFamily="34" charset="-122"/>
                <a:cs typeface="Arial" pitchFamily="34" charset="-120"/>
              </a:rPr>
              <a:t>Session Blueprint &amp; 120-Minute Delivery Schedule</a:t>
            </a:r>
            <a:endParaRPr lang="en-US" sz="1500" dirty="0"/>
          </a:p>
        </p:txBody>
      </p:sp>
      <p:sp>
        <p:nvSpPr>
          <p:cNvPr id="5" name="Shape 3"/>
          <p:cNvSpPr/>
          <p:nvPr/>
        </p:nvSpPr>
        <p:spPr>
          <a:xfrm>
            <a:off x="457200" y="859536"/>
            <a:ext cx="8229600" cy="0"/>
          </a:xfrm>
          <a:prstGeom prst="line">
            <a:avLst/>
          </a:prstGeom>
          <a:noFill/>
          <a:ln w="12700">
            <a:solidFill>
              <a:srgbClr val="1E293B"/>
            </a:solidFill>
            <a:prstDash val="solid"/>
          </a:ln>
        </p:spPr>
      </p:sp>
      <p:sp>
        <p:nvSpPr>
          <p:cNvPr id="6" name="Text 4"/>
          <p:cNvSpPr/>
          <p:nvPr/>
        </p:nvSpPr>
        <p:spPr>
          <a:xfrm>
            <a:off x="457200" y="4791456"/>
            <a:ext cx="6400800" cy="228600"/>
          </a:xfrm>
          <a:prstGeom prst="rect">
            <a:avLst/>
          </a:prstGeom>
          <a:noFill/>
          <a:ln/>
        </p:spPr>
        <p:txBody>
          <a:bodyPr wrap="square" rtlCol="0" anchor="ctr"/>
          <a:lstStyle/>
          <a:p>
            <a:pPr indent="0" marL="0">
              <a:buNone/>
            </a:pPr>
            <a:r>
              <a:rPr lang="en-US" sz="750" dirty="0">
                <a:solidFill>
                  <a:srgbClr val="94A3B8"/>
                </a:solidFill>
                <a:latin typeface="Arial" pitchFamily="34" charset="0"/>
                <a:ea typeface="Arial" pitchFamily="34" charset="-122"/>
                <a:cs typeface="Arial" pitchFamily="34" charset="-120"/>
              </a:rPr>
              <a:t>Salesforce Agentforce &amp; Data 360 Enablement  •  Day 1: Atlas Reasoning Engine &amp; ReAct Loop</a:t>
            </a:r>
            <a:endParaRPr lang="en-US" sz="750" dirty="0"/>
          </a:p>
        </p:txBody>
      </p:sp>
      <p:sp>
        <p:nvSpPr>
          <p:cNvPr id="7" name="Text 5"/>
          <p:cNvSpPr/>
          <p:nvPr/>
        </p:nvSpPr>
        <p:spPr>
          <a:xfrm>
            <a:off x="7315200" y="4791456"/>
            <a:ext cx="1371600" cy="228600"/>
          </a:xfrm>
          <a:prstGeom prst="rect">
            <a:avLst/>
          </a:prstGeom>
          <a:noFill/>
          <a:ln/>
        </p:spPr>
        <p:txBody>
          <a:bodyPr wrap="square" rtlCol="0" anchor="ctr"/>
          <a:lstStyle/>
          <a:p>
            <a:pPr algn="r" indent="0" marL="0">
              <a:buNone/>
            </a:pPr>
            <a:r>
              <a:rPr lang="en-US" sz="750" b="1" dirty="0">
                <a:solidFill>
                  <a:srgbClr val="00A1E0"/>
                </a:solidFill>
                <a:latin typeface="Arial" pitchFamily="34" charset="0"/>
                <a:ea typeface="Arial" pitchFamily="34" charset="-122"/>
                <a:cs typeface="Arial" pitchFamily="34" charset="-120"/>
              </a:rPr>
              <a:t>2 / 19</a:t>
            </a:r>
            <a:endParaRPr lang="en-US" sz="750" dirty="0"/>
          </a:p>
        </p:txBody>
      </p:sp>
      <p:sp>
        <p:nvSpPr>
          <p:cNvPr id="9" name="Shape 6"/>
          <p:cNvSpPr/>
          <p:nvPr/>
        </p:nvSpPr>
        <p:spPr>
          <a:xfrm>
            <a:off x="457200" y="1024128"/>
            <a:ext cx="1920240" cy="2971800"/>
          </a:xfrm>
          <a:prstGeom prst="roundRect">
            <a:avLst>
              <a:gd name="adj" fmla="val 3810"/>
            </a:avLst>
          </a:prstGeom>
          <a:solidFill>
            <a:srgbClr val="131B2E"/>
          </a:solidFill>
          <a:ln w="12700">
            <a:solidFill>
              <a:srgbClr val="233354"/>
            </a:solidFill>
            <a:prstDash val="solid"/>
          </a:ln>
        </p:spPr>
      </p:sp>
      <p:sp>
        <p:nvSpPr>
          <p:cNvPr id="10" name="Shape 7"/>
          <p:cNvSpPr/>
          <p:nvPr/>
        </p:nvSpPr>
        <p:spPr>
          <a:xfrm>
            <a:off x="457200" y="1024128"/>
            <a:ext cx="1920240" cy="45720"/>
          </a:xfrm>
          <a:prstGeom prst="rect">
            <a:avLst/>
          </a:prstGeom>
          <a:solidFill>
            <a:srgbClr val="00A1E0"/>
          </a:solidFill>
          <a:ln w="12700">
            <a:solidFill>
              <a:srgbClr val="00A1E0"/>
            </a:solidFill>
            <a:prstDash val="solid"/>
          </a:ln>
        </p:spPr>
      </p:sp>
      <p:sp>
        <p:nvSpPr>
          <p:cNvPr id="11" name="Shape 8"/>
          <p:cNvSpPr/>
          <p:nvPr/>
        </p:nvSpPr>
        <p:spPr>
          <a:xfrm>
            <a:off x="566928" y="1143000"/>
            <a:ext cx="1700784" cy="219456"/>
          </a:xfrm>
          <a:prstGeom prst="roundRect">
            <a:avLst>
              <a:gd name="adj" fmla="val 20833"/>
            </a:avLst>
          </a:prstGeom>
          <a:solidFill>
            <a:srgbClr val="1E293B"/>
          </a:solidFill>
          <a:ln w="10160">
            <a:solidFill>
              <a:srgbClr val="00A1E0"/>
            </a:solidFill>
            <a:prstDash val="solid"/>
          </a:ln>
        </p:spPr>
      </p:sp>
      <p:sp>
        <p:nvSpPr>
          <p:cNvPr id="12" name="Text 9"/>
          <p:cNvSpPr/>
          <p:nvPr/>
        </p:nvSpPr>
        <p:spPr>
          <a:xfrm>
            <a:off x="566928" y="1143000"/>
            <a:ext cx="1700784" cy="219456"/>
          </a:xfrm>
          <a:prstGeom prst="rect">
            <a:avLst/>
          </a:prstGeom>
          <a:noFill/>
          <a:ln/>
        </p:spPr>
        <p:txBody>
          <a:bodyPr wrap="square" rtlCol="0" anchor="ctr"/>
          <a:lstStyle/>
          <a:p>
            <a:pPr algn="ctr" indent="0" marL="0">
              <a:buNone/>
            </a:pPr>
            <a:r>
              <a:rPr lang="en-US" sz="750" b="1" dirty="0">
                <a:solidFill>
                  <a:srgbClr val="00A1E0"/>
                </a:solidFill>
                <a:latin typeface="Arial" pitchFamily="34" charset="0"/>
                <a:ea typeface="Arial" pitchFamily="34" charset="-122"/>
                <a:cs typeface="Arial" pitchFamily="34" charset="-120"/>
              </a:rPr>
              <a:t>00:00 - 00:25 (25m)</a:t>
            </a:r>
            <a:endParaRPr lang="en-US" sz="750" dirty="0"/>
          </a:p>
        </p:txBody>
      </p:sp>
      <p:sp>
        <p:nvSpPr>
          <p:cNvPr id="13" name="Text 10"/>
          <p:cNvSpPr/>
          <p:nvPr/>
        </p:nvSpPr>
        <p:spPr>
          <a:xfrm>
            <a:off x="566928" y="1444752"/>
            <a:ext cx="1700784" cy="411480"/>
          </a:xfrm>
          <a:prstGeom prst="rect">
            <a:avLst/>
          </a:prstGeom>
          <a:noFill/>
          <a:ln/>
        </p:spPr>
        <p:txBody>
          <a:bodyPr wrap="square" rtlCol="0" anchor="ctr"/>
          <a:lstStyle/>
          <a:p>
            <a:pPr indent="0" marL="0">
              <a:buNone/>
            </a:pPr>
            <a:r>
              <a:rPr lang="en-US" sz="1000" b="1" dirty="0">
                <a:solidFill>
                  <a:srgbClr val="F8FAFC"/>
                </a:solidFill>
                <a:latin typeface="Arial" pitchFamily="34" charset="0"/>
                <a:ea typeface="Arial" pitchFamily="34" charset="-122"/>
                <a:cs typeface="Arial" pitchFamily="34" charset="-120"/>
              </a:rPr>
              <a:t>1. Paradigm Shift &amp; Atlas</a:t>
            </a:r>
            <a:endParaRPr lang="en-US" sz="1000" dirty="0"/>
          </a:p>
        </p:txBody>
      </p:sp>
      <p:sp>
        <p:nvSpPr>
          <p:cNvPr id="14" name="Text 11"/>
          <p:cNvSpPr/>
          <p:nvPr/>
        </p:nvSpPr>
        <p:spPr>
          <a:xfrm>
            <a:off x="566928" y="1901952"/>
            <a:ext cx="1700784" cy="2011680"/>
          </a:xfrm>
          <a:prstGeom prst="rect">
            <a:avLst/>
          </a:prstGeom>
          <a:noFill/>
          <a:ln/>
        </p:spPr>
        <p:txBody>
          <a:bodyPr wrap="square" rtlCol="0" anchor="ctr"/>
          <a:lstStyle/>
          <a:p>
            <a:pPr indent="0" marL="0">
              <a:lnSpc>
                <a:spcPts val="1100"/>
              </a:lnSpc>
              <a:buNone/>
            </a:pPr>
            <a:r>
              <a:rPr lang="en-US" sz="750" dirty="0">
                <a:solidFill>
                  <a:srgbClr val="CBD5E1"/>
                </a:solidFill>
                <a:latin typeface="Arial" pitchFamily="34" charset="0"/>
                <a:ea typeface="Arial" pitchFamily="34" charset="-122"/>
                <a:cs typeface="Arial" pitchFamily="34" charset="-120"/>
              </a:rPr>
              <a:t>• Failure modes of traditional rule-based bots</a:t>
            </a:r>
            <a:endParaRPr lang="en-US" sz="750" dirty="0"/>
          </a:p>
          <a:p>
            <a:pPr indent="0" marL="0">
              <a:lnSpc>
                <a:spcPts val="1100"/>
              </a:lnSpc>
              <a:buNone/>
            </a:pPr>
            <a:endParaRPr lang="en-US" sz="750" dirty="0"/>
          </a:p>
          <a:p>
            <a:pPr indent="0" marL="0">
              <a:lnSpc>
                <a:spcPts val="1100"/>
              </a:lnSpc>
              <a:buNone/>
            </a:pPr>
            <a:r>
              <a:rPr lang="en-US" sz="750" dirty="0">
                <a:solidFill>
                  <a:srgbClr val="CBD5E1"/>
                </a:solidFill>
                <a:latin typeface="Arial" pitchFamily="34" charset="0"/>
                <a:ea typeface="Arial" pitchFamily="34" charset="-122"/>
                <a:cs typeface="Arial" pitchFamily="34" charset="-120"/>
              </a:rPr>
              <a:t>• The ReAct cognitive paradigm: Thought, Action, Observation</a:t>
            </a:r>
            <a:endParaRPr lang="en-US" sz="750" dirty="0"/>
          </a:p>
          <a:p>
            <a:pPr indent="0" marL="0">
              <a:lnSpc>
                <a:spcPts val="1100"/>
              </a:lnSpc>
              <a:buNone/>
            </a:pPr>
            <a:endParaRPr lang="en-US" sz="750" dirty="0"/>
          </a:p>
          <a:p>
            <a:pPr indent="0" marL="0">
              <a:lnSpc>
                <a:spcPts val="1100"/>
              </a:lnSpc>
              <a:buNone/>
            </a:pPr>
            <a:r>
              <a:rPr lang="en-US" sz="750" dirty="0">
                <a:solidFill>
                  <a:srgbClr val="CBD5E1"/>
                </a:solidFill>
                <a:latin typeface="Arial" pitchFamily="34" charset="0"/>
                <a:ea typeface="Arial" pitchFamily="34" charset="-122"/>
                <a:cs typeface="Arial" pitchFamily="34" charset="-120"/>
              </a:rPr>
              <a:t>• Architecture of the Atlas Reasoning Engine</a:t>
            </a:r>
            <a:endParaRPr lang="en-US" sz="750" dirty="0"/>
          </a:p>
        </p:txBody>
      </p:sp>
      <p:sp>
        <p:nvSpPr>
          <p:cNvPr id="15" name="Shape 12"/>
          <p:cNvSpPr/>
          <p:nvPr/>
        </p:nvSpPr>
        <p:spPr>
          <a:xfrm>
            <a:off x="2560320" y="1024128"/>
            <a:ext cx="1920240" cy="2971800"/>
          </a:xfrm>
          <a:prstGeom prst="roundRect">
            <a:avLst>
              <a:gd name="adj" fmla="val 3810"/>
            </a:avLst>
          </a:prstGeom>
          <a:solidFill>
            <a:srgbClr val="131B2E"/>
          </a:solidFill>
          <a:ln w="12700">
            <a:solidFill>
              <a:srgbClr val="233354"/>
            </a:solidFill>
            <a:prstDash val="solid"/>
          </a:ln>
        </p:spPr>
      </p:sp>
      <p:sp>
        <p:nvSpPr>
          <p:cNvPr id="16" name="Shape 13"/>
          <p:cNvSpPr/>
          <p:nvPr/>
        </p:nvSpPr>
        <p:spPr>
          <a:xfrm>
            <a:off x="2560320" y="1024128"/>
            <a:ext cx="1920240" cy="45720"/>
          </a:xfrm>
          <a:prstGeom prst="rect">
            <a:avLst/>
          </a:prstGeom>
          <a:solidFill>
            <a:srgbClr val="10B981"/>
          </a:solidFill>
          <a:ln w="12700">
            <a:solidFill>
              <a:srgbClr val="10B981"/>
            </a:solidFill>
            <a:prstDash val="solid"/>
          </a:ln>
        </p:spPr>
      </p:sp>
      <p:sp>
        <p:nvSpPr>
          <p:cNvPr id="17" name="Shape 14"/>
          <p:cNvSpPr/>
          <p:nvPr/>
        </p:nvSpPr>
        <p:spPr>
          <a:xfrm>
            <a:off x="2670048" y="1143000"/>
            <a:ext cx="1700784" cy="219456"/>
          </a:xfrm>
          <a:prstGeom prst="roundRect">
            <a:avLst>
              <a:gd name="adj" fmla="val 20833"/>
            </a:avLst>
          </a:prstGeom>
          <a:solidFill>
            <a:srgbClr val="1E293B"/>
          </a:solidFill>
          <a:ln w="10160">
            <a:solidFill>
              <a:srgbClr val="10B981"/>
            </a:solidFill>
            <a:prstDash val="solid"/>
          </a:ln>
        </p:spPr>
      </p:sp>
      <p:sp>
        <p:nvSpPr>
          <p:cNvPr id="18" name="Text 15"/>
          <p:cNvSpPr/>
          <p:nvPr/>
        </p:nvSpPr>
        <p:spPr>
          <a:xfrm>
            <a:off x="2670048" y="1143000"/>
            <a:ext cx="1700784" cy="219456"/>
          </a:xfrm>
          <a:prstGeom prst="rect">
            <a:avLst/>
          </a:prstGeom>
          <a:noFill/>
          <a:ln/>
        </p:spPr>
        <p:txBody>
          <a:bodyPr wrap="square" rtlCol="0" anchor="ctr"/>
          <a:lstStyle/>
          <a:p>
            <a:pPr algn="ctr" indent="0" marL="0">
              <a:buNone/>
            </a:pPr>
            <a:r>
              <a:rPr lang="en-US" sz="750" b="1" dirty="0">
                <a:solidFill>
                  <a:srgbClr val="10B981"/>
                </a:solidFill>
                <a:latin typeface="Arial" pitchFamily="34" charset="0"/>
                <a:ea typeface="Arial" pitchFamily="34" charset="-122"/>
                <a:cs typeface="Arial" pitchFamily="34" charset="-120"/>
              </a:rPr>
              <a:t>00:25 - 00:55 (30m)</a:t>
            </a:r>
            <a:endParaRPr lang="en-US" sz="750" dirty="0"/>
          </a:p>
        </p:txBody>
      </p:sp>
      <p:sp>
        <p:nvSpPr>
          <p:cNvPr id="19" name="Text 16"/>
          <p:cNvSpPr/>
          <p:nvPr/>
        </p:nvSpPr>
        <p:spPr>
          <a:xfrm>
            <a:off x="2670048" y="1444752"/>
            <a:ext cx="1700784" cy="411480"/>
          </a:xfrm>
          <a:prstGeom prst="rect">
            <a:avLst/>
          </a:prstGeom>
          <a:noFill/>
          <a:ln/>
        </p:spPr>
        <p:txBody>
          <a:bodyPr wrap="square" rtlCol="0" anchor="ctr"/>
          <a:lstStyle/>
          <a:p>
            <a:pPr indent="0" marL="0">
              <a:buNone/>
            </a:pPr>
            <a:r>
              <a:rPr lang="en-US" sz="1000" b="1" dirty="0">
                <a:solidFill>
                  <a:srgbClr val="F8FAFC"/>
                </a:solidFill>
                <a:latin typeface="Arial" pitchFamily="34" charset="0"/>
                <a:ea typeface="Arial" pitchFamily="34" charset="-122"/>
                <a:cs typeface="Arial" pitchFamily="34" charset="-120"/>
              </a:rPr>
              <a:t>2. 3 Pillars &amp; Trust Layer</a:t>
            </a:r>
            <a:endParaRPr lang="en-US" sz="1000" dirty="0"/>
          </a:p>
        </p:txBody>
      </p:sp>
      <p:sp>
        <p:nvSpPr>
          <p:cNvPr id="20" name="Text 17"/>
          <p:cNvSpPr/>
          <p:nvPr/>
        </p:nvSpPr>
        <p:spPr>
          <a:xfrm>
            <a:off x="2670048" y="1901952"/>
            <a:ext cx="1700784" cy="2011680"/>
          </a:xfrm>
          <a:prstGeom prst="rect">
            <a:avLst/>
          </a:prstGeom>
          <a:noFill/>
          <a:ln/>
        </p:spPr>
        <p:txBody>
          <a:bodyPr wrap="square" rtlCol="0" anchor="ctr"/>
          <a:lstStyle/>
          <a:p>
            <a:pPr indent="0" marL="0">
              <a:lnSpc>
                <a:spcPts val="1100"/>
              </a:lnSpc>
              <a:buNone/>
            </a:pPr>
            <a:r>
              <a:rPr lang="en-US" sz="750" dirty="0">
                <a:solidFill>
                  <a:srgbClr val="CBD5E1"/>
                </a:solidFill>
                <a:latin typeface="Arial" pitchFamily="34" charset="0"/>
                <a:ea typeface="Arial" pitchFamily="34" charset="-122"/>
                <a:cs typeface="Arial" pitchFamily="34" charset="-120"/>
              </a:rPr>
              <a:t>• Agent Persona, Topic Boundaries &amp; Action Tools</a:t>
            </a:r>
            <a:endParaRPr lang="en-US" sz="750" dirty="0"/>
          </a:p>
          <a:p>
            <a:pPr indent="0" marL="0">
              <a:lnSpc>
                <a:spcPts val="1100"/>
              </a:lnSpc>
              <a:buNone/>
            </a:pPr>
            <a:endParaRPr lang="en-US" sz="750" dirty="0"/>
          </a:p>
          <a:p>
            <a:pPr indent="0" marL="0">
              <a:lnSpc>
                <a:spcPts val="1100"/>
              </a:lnSpc>
              <a:buNone/>
            </a:pPr>
            <a:r>
              <a:rPr lang="en-US" sz="750" dirty="0">
                <a:solidFill>
                  <a:srgbClr val="CBD5E1"/>
                </a:solidFill>
                <a:latin typeface="Arial" pitchFamily="34" charset="0"/>
                <a:ea typeface="Arial" pitchFamily="34" charset="-122"/>
                <a:cs typeface="Arial" pitchFamily="34" charset="-120"/>
              </a:rPr>
              <a:t>• Zero Data Retention (ZDR) &amp; Private AI Gateway</a:t>
            </a:r>
            <a:endParaRPr lang="en-US" sz="750" dirty="0"/>
          </a:p>
          <a:p>
            <a:pPr indent="0" marL="0">
              <a:lnSpc>
                <a:spcPts val="1100"/>
              </a:lnSpc>
              <a:buNone/>
            </a:pPr>
            <a:endParaRPr lang="en-US" sz="750" dirty="0"/>
          </a:p>
          <a:p>
            <a:pPr indent="0" marL="0">
              <a:lnSpc>
                <a:spcPts val="1100"/>
              </a:lnSpc>
              <a:buNone/>
            </a:pPr>
            <a:r>
              <a:rPr lang="en-US" sz="750" dirty="0">
                <a:solidFill>
                  <a:srgbClr val="CBD5E1"/>
                </a:solidFill>
                <a:latin typeface="Arial" pitchFamily="34" charset="0"/>
                <a:ea typeface="Arial" pitchFamily="34" charset="-122"/>
                <a:cs typeface="Arial" pitchFamily="34" charset="-120"/>
              </a:rPr>
              <a:t>• Dynamic PII Masking &amp; Safety Guardrails</a:t>
            </a:r>
            <a:endParaRPr lang="en-US" sz="750" dirty="0"/>
          </a:p>
        </p:txBody>
      </p:sp>
      <p:sp>
        <p:nvSpPr>
          <p:cNvPr id="21" name="Shape 18"/>
          <p:cNvSpPr/>
          <p:nvPr/>
        </p:nvSpPr>
        <p:spPr>
          <a:xfrm>
            <a:off x="4663440" y="1024128"/>
            <a:ext cx="1920240" cy="2971800"/>
          </a:xfrm>
          <a:prstGeom prst="roundRect">
            <a:avLst>
              <a:gd name="adj" fmla="val 3810"/>
            </a:avLst>
          </a:prstGeom>
          <a:solidFill>
            <a:srgbClr val="131B2E"/>
          </a:solidFill>
          <a:ln w="12700">
            <a:solidFill>
              <a:srgbClr val="233354"/>
            </a:solidFill>
            <a:prstDash val="solid"/>
          </a:ln>
        </p:spPr>
      </p:sp>
      <p:sp>
        <p:nvSpPr>
          <p:cNvPr id="22" name="Shape 19"/>
          <p:cNvSpPr/>
          <p:nvPr/>
        </p:nvSpPr>
        <p:spPr>
          <a:xfrm>
            <a:off x="4663440" y="1024128"/>
            <a:ext cx="1920240" cy="45720"/>
          </a:xfrm>
          <a:prstGeom prst="rect">
            <a:avLst/>
          </a:prstGeom>
          <a:solidFill>
            <a:srgbClr val="8B5CF6"/>
          </a:solidFill>
          <a:ln w="12700">
            <a:solidFill>
              <a:srgbClr val="8B5CF6"/>
            </a:solidFill>
            <a:prstDash val="solid"/>
          </a:ln>
        </p:spPr>
      </p:sp>
      <p:sp>
        <p:nvSpPr>
          <p:cNvPr id="23" name="Shape 20"/>
          <p:cNvSpPr/>
          <p:nvPr/>
        </p:nvSpPr>
        <p:spPr>
          <a:xfrm>
            <a:off x="4773168" y="1143000"/>
            <a:ext cx="1700784" cy="219456"/>
          </a:xfrm>
          <a:prstGeom prst="roundRect">
            <a:avLst>
              <a:gd name="adj" fmla="val 20833"/>
            </a:avLst>
          </a:prstGeom>
          <a:solidFill>
            <a:srgbClr val="1E293B"/>
          </a:solidFill>
          <a:ln w="10160">
            <a:solidFill>
              <a:srgbClr val="8B5CF6"/>
            </a:solidFill>
            <a:prstDash val="solid"/>
          </a:ln>
        </p:spPr>
      </p:sp>
      <p:sp>
        <p:nvSpPr>
          <p:cNvPr id="24" name="Text 21"/>
          <p:cNvSpPr/>
          <p:nvPr/>
        </p:nvSpPr>
        <p:spPr>
          <a:xfrm>
            <a:off x="4773168" y="1143000"/>
            <a:ext cx="1700784" cy="219456"/>
          </a:xfrm>
          <a:prstGeom prst="rect">
            <a:avLst/>
          </a:prstGeom>
          <a:noFill/>
          <a:ln/>
        </p:spPr>
        <p:txBody>
          <a:bodyPr wrap="square" rtlCol="0" anchor="ctr"/>
          <a:lstStyle/>
          <a:p>
            <a:pPr algn="ctr" indent="0" marL="0">
              <a:buNone/>
            </a:pPr>
            <a:r>
              <a:rPr lang="en-US" sz="750" b="1" dirty="0">
                <a:solidFill>
                  <a:srgbClr val="8B5CF6"/>
                </a:solidFill>
                <a:latin typeface="Arial" pitchFamily="34" charset="0"/>
                <a:ea typeface="Arial" pitchFamily="34" charset="-122"/>
                <a:cs typeface="Arial" pitchFamily="34" charset="-120"/>
              </a:rPr>
              <a:t>00:55 - 01:35 (40m)</a:t>
            </a:r>
            <a:endParaRPr lang="en-US" sz="750" dirty="0"/>
          </a:p>
        </p:txBody>
      </p:sp>
      <p:sp>
        <p:nvSpPr>
          <p:cNvPr id="25" name="Text 22"/>
          <p:cNvSpPr/>
          <p:nvPr/>
        </p:nvSpPr>
        <p:spPr>
          <a:xfrm>
            <a:off x="4773168" y="1444752"/>
            <a:ext cx="1700784" cy="411480"/>
          </a:xfrm>
          <a:prstGeom prst="rect">
            <a:avLst/>
          </a:prstGeom>
          <a:noFill/>
          <a:ln/>
        </p:spPr>
        <p:txBody>
          <a:bodyPr wrap="square" rtlCol="0" anchor="ctr"/>
          <a:lstStyle/>
          <a:p>
            <a:pPr indent="0" marL="0">
              <a:buNone/>
            </a:pPr>
            <a:r>
              <a:rPr lang="en-US" sz="1000" b="1" dirty="0">
                <a:solidFill>
                  <a:srgbClr val="F8FAFC"/>
                </a:solidFill>
                <a:latin typeface="Arial" pitchFamily="34" charset="0"/>
                <a:ea typeface="Arial" pitchFamily="34" charset="-122"/>
                <a:cs typeface="Arial" pitchFamily="34" charset="-120"/>
              </a:rPr>
              <a:t>3. Hands-On Builder Demo</a:t>
            </a:r>
            <a:endParaRPr lang="en-US" sz="1000" dirty="0"/>
          </a:p>
        </p:txBody>
      </p:sp>
      <p:sp>
        <p:nvSpPr>
          <p:cNvPr id="26" name="Text 23"/>
          <p:cNvSpPr/>
          <p:nvPr/>
        </p:nvSpPr>
        <p:spPr>
          <a:xfrm>
            <a:off x="4773168" y="1901952"/>
            <a:ext cx="1700784" cy="2011680"/>
          </a:xfrm>
          <a:prstGeom prst="rect">
            <a:avLst/>
          </a:prstGeom>
          <a:noFill/>
          <a:ln/>
        </p:spPr>
        <p:txBody>
          <a:bodyPr wrap="square" rtlCol="0" anchor="ctr"/>
          <a:lstStyle/>
          <a:p>
            <a:pPr indent="0" marL="0">
              <a:lnSpc>
                <a:spcPts val="1100"/>
              </a:lnSpc>
              <a:buNone/>
            </a:pPr>
            <a:r>
              <a:rPr lang="en-US" sz="750" dirty="0">
                <a:solidFill>
                  <a:srgbClr val="CBD5E1"/>
                </a:solidFill>
                <a:latin typeface="Arial" pitchFamily="34" charset="0"/>
                <a:ea typeface="Arial" pitchFamily="34" charset="-122"/>
                <a:cs typeface="Arial" pitchFamily="34" charset="-120"/>
              </a:rPr>
              <a:t>• Einstein Setup &amp; Agentforce Studio configuration</a:t>
            </a:r>
            <a:endParaRPr lang="en-US" sz="750" dirty="0"/>
          </a:p>
          <a:p>
            <a:pPr indent="0" marL="0">
              <a:lnSpc>
                <a:spcPts val="1100"/>
              </a:lnSpc>
              <a:buNone/>
            </a:pPr>
            <a:endParaRPr lang="en-US" sz="750" dirty="0"/>
          </a:p>
          <a:p>
            <a:pPr indent="0" marL="0">
              <a:lnSpc>
                <a:spcPts val="1100"/>
              </a:lnSpc>
              <a:buNone/>
            </a:pPr>
            <a:r>
              <a:rPr lang="en-US" sz="750" dirty="0">
                <a:solidFill>
                  <a:srgbClr val="CBD5E1"/>
                </a:solidFill>
                <a:latin typeface="Arial" pitchFamily="34" charset="0"/>
                <a:ea typeface="Arial" pitchFamily="34" charset="-122"/>
                <a:cs typeface="Arial" pitchFamily="34" charset="-120"/>
              </a:rPr>
              <a:t>• Defining Topics, Scope rules, and Action bindings</a:t>
            </a:r>
            <a:endParaRPr lang="en-US" sz="750" dirty="0"/>
          </a:p>
          <a:p>
            <a:pPr indent="0" marL="0">
              <a:lnSpc>
                <a:spcPts val="1100"/>
              </a:lnSpc>
              <a:buNone/>
            </a:pPr>
            <a:endParaRPr lang="en-US" sz="750" dirty="0"/>
          </a:p>
          <a:p>
            <a:pPr indent="0" marL="0">
              <a:lnSpc>
                <a:spcPts val="1100"/>
              </a:lnSpc>
              <a:buNone/>
            </a:pPr>
            <a:r>
              <a:rPr lang="en-US" sz="750" dirty="0">
                <a:solidFill>
                  <a:srgbClr val="CBD5E1"/>
                </a:solidFill>
                <a:latin typeface="Arial" pitchFamily="34" charset="0"/>
                <a:ea typeface="Arial" pitchFamily="34" charset="-122"/>
                <a:cs typeface="Arial" pitchFamily="34" charset="-120"/>
              </a:rPr>
              <a:t>• Live preview testing with natural utterances</a:t>
            </a:r>
            <a:endParaRPr lang="en-US" sz="750" dirty="0"/>
          </a:p>
        </p:txBody>
      </p:sp>
      <p:sp>
        <p:nvSpPr>
          <p:cNvPr id="27" name="Shape 24"/>
          <p:cNvSpPr/>
          <p:nvPr/>
        </p:nvSpPr>
        <p:spPr>
          <a:xfrm>
            <a:off x="6766560" y="1024128"/>
            <a:ext cx="1920240" cy="2971800"/>
          </a:xfrm>
          <a:prstGeom prst="roundRect">
            <a:avLst>
              <a:gd name="adj" fmla="val 3810"/>
            </a:avLst>
          </a:prstGeom>
          <a:solidFill>
            <a:srgbClr val="131B2E"/>
          </a:solidFill>
          <a:ln w="12700">
            <a:solidFill>
              <a:srgbClr val="233354"/>
            </a:solidFill>
            <a:prstDash val="solid"/>
          </a:ln>
        </p:spPr>
      </p:sp>
      <p:sp>
        <p:nvSpPr>
          <p:cNvPr id="28" name="Shape 25"/>
          <p:cNvSpPr/>
          <p:nvPr/>
        </p:nvSpPr>
        <p:spPr>
          <a:xfrm>
            <a:off x="6766560" y="1024128"/>
            <a:ext cx="1920240" cy="45720"/>
          </a:xfrm>
          <a:prstGeom prst="rect">
            <a:avLst/>
          </a:prstGeom>
          <a:solidFill>
            <a:srgbClr val="F59E0B"/>
          </a:solidFill>
          <a:ln w="12700">
            <a:solidFill>
              <a:srgbClr val="F59E0B"/>
            </a:solidFill>
            <a:prstDash val="solid"/>
          </a:ln>
        </p:spPr>
      </p:sp>
      <p:sp>
        <p:nvSpPr>
          <p:cNvPr id="29" name="Shape 26"/>
          <p:cNvSpPr/>
          <p:nvPr/>
        </p:nvSpPr>
        <p:spPr>
          <a:xfrm>
            <a:off x="6876288" y="1143000"/>
            <a:ext cx="1700784" cy="219456"/>
          </a:xfrm>
          <a:prstGeom prst="roundRect">
            <a:avLst>
              <a:gd name="adj" fmla="val 20833"/>
            </a:avLst>
          </a:prstGeom>
          <a:solidFill>
            <a:srgbClr val="1E293B"/>
          </a:solidFill>
          <a:ln w="10160">
            <a:solidFill>
              <a:srgbClr val="F59E0B"/>
            </a:solidFill>
            <a:prstDash val="solid"/>
          </a:ln>
        </p:spPr>
      </p:sp>
      <p:sp>
        <p:nvSpPr>
          <p:cNvPr id="30" name="Text 27"/>
          <p:cNvSpPr/>
          <p:nvPr/>
        </p:nvSpPr>
        <p:spPr>
          <a:xfrm>
            <a:off x="6876288" y="1143000"/>
            <a:ext cx="1700784" cy="219456"/>
          </a:xfrm>
          <a:prstGeom prst="rect">
            <a:avLst/>
          </a:prstGeom>
          <a:noFill/>
          <a:ln/>
        </p:spPr>
        <p:txBody>
          <a:bodyPr wrap="square" rtlCol="0" anchor="ctr"/>
          <a:lstStyle/>
          <a:p>
            <a:pPr algn="ctr" indent="0" marL="0">
              <a:buNone/>
            </a:pPr>
            <a:r>
              <a:rPr lang="en-US" sz="750" b="1" dirty="0">
                <a:solidFill>
                  <a:srgbClr val="F59E0B"/>
                </a:solidFill>
                <a:latin typeface="Arial" pitchFamily="34" charset="0"/>
                <a:ea typeface="Arial" pitchFamily="34" charset="-122"/>
                <a:cs typeface="Arial" pitchFamily="34" charset="-120"/>
              </a:rPr>
              <a:t>01:35 - 02:00 (25m)</a:t>
            </a:r>
            <a:endParaRPr lang="en-US" sz="750" dirty="0"/>
          </a:p>
        </p:txBody>
      </p:sp>
      <p:sp>
        <p:nvSpPr>
          <p:cNvPr id="31" name="Text 28"/>
          <p:cNvSpPr/>
          <p:nvPr/>
        </p:nvSpPr>
        <p:spPr>
          <a:xfrm>
            <a:off x="6876288" y="1444752"/>
            <a:ext cx="1700784" cy="411480"/>
          </a:xfrm>
          <a:prstGeom prst="rect">
            <a:avLst/>
          </a:prstGeom>
          <a:noFill/>
          <a:ln/>
        </p:spPr>
        <p:txBody>
          <a:bodyPr wrap="square" rtlCol="0" anchor="ctr"/>
          <a:lstStyle/>
          <a:p>
            <a:pPr indent="0" marL="0">
              <a:buNone/>
            </a:pPr>
            <a:r>
              <a:rPr lang="en-US" sz="1000" b="1" dirty="0">
                <a:solidFill>
                  <a:srgbClr val="F8FAFC"/>
                </a:solidFill>
                <a:latin typeface="Arial" pitchFamily="34" charset="0"/>
                <a:ea typeface="Arial" pitchFamily="34" charset="-122"/>
                <a:cs typeface="Arial" pitchFamily="34" charset="-120"/>
              </a:rPr>
              <a:t>4. Tracing &amp; Pitfalls</a:t>
            </a:r>
            <a:endParaRPr lang="en-US" sz="1000" dirty="0"/>
          </a:p>
        </p:txBody>
      </p:sp>
      <p:sp>
        <p:nvSpPr>
          <p:cNvPr id="32" name="Text 29"/>
          <p:cNvSpPr/>
          <p:nvPr/>
        </p:nvSpPr>
        <p:spPr>
          <a:xfrm>
            <a:off x="6876288" y="1901952"/>
            <a:ext cx="1700784" cy="2011680"/>
          </a:xfrm>
          <a:prstGeom prst="rect">
            <a:avLst/>
          </a:prstGeom>
          <a:noFill/>
          <a:ln/>
        </p:spPr>
        <p:txBody>
          <a:bodyPr wrap="square" rtlCol="0" anchor="ctr"/>
          <a:lstStyle/>
          <a:p>
            <a:pPr indent="0" marL="0">
              <a:lnSpc>
                <a:spcPts val="1100"/>
              </a:lnSpc>
              <a:buNone/>
            </a:pPr>
            <a:r>
              <a:rPr lang="en-US" sz="750" dirty="0">
                <a:solidFill>
                  <a:srgbClr val="CBD5E1"/>
                </a:solidFill>
                <a:latin typeface="Arial" pitchFamily="34" charset="0"/>
                <a:ea typeface="Arial" pitchFamily="34" charset="-122"/>
                <a:cs typeface="Arial" pitchFamily="34" charset="-120"/>
              </a:rPr>
              <a:t>• Deconstructing the Agentforce Reasoning Log</a:t>
            </a:r>
            <a:endParaRPr lang="en-US" sz="750" dirty="0"/>
          </a:p>
          <a:p>
            <a:pPr indent="0" marL="0">
              <a:lnSpc>
                <a:spcPts val="1100"/>
              </a:lnSpc>
              <a:buNone/>
            </a:pPr>
            <a:endParaRPr lang="en-US" sz="750" dirty="0"/>
          </a:p>
          <a:p>
            <a:pPr indent="0" marL="0">
              <a:lnSpc>
                <a:spcPts val="1100"/>
              </a:lnSpc>
              <a:buNone/>
            </a:pPr>
            <a:r>
              <a:rPr lang="en-US" sz="750" dirty="0">
                <a:solidFill>
                  <a:srgbClr val="CBD5E1"/>
                </a:solidFill>
                <a:latin typeface="Arial" pitchFamily="34" charset="0"/>
                <a:ea typeface="Arial" pitchFamily="34" charset="-122"/>
                <a:cs typeface="Arial" pitchFamily="34" charset="-120"/>
              </a:rPr>
              <a:t>• Top 4 production architecture traps &amp; hard limits</a:t>
            </a:r>
            <a:endParaRPr lang="en-US" sz="750" dirty="0"/>
          </a:p>
          <a:p>
            <a:pPr indent="0" marL="0">
              <a:lnSpc>
                <a:spcPts val="1100"/>
              </a:lnSpc>
              <a:buNone/>
            </a:pPr>
            <a:endParaRPr lang="en-US" sz="750" dirty="0"/>
          </a:p>
          <a:p>
            <a:pPr indent="0" marL="0">
              <a:lnSpc>
                <a:spcPts val="1100"/>
              </a:lnSpc>
              <a:buNone/>
            </a:pPr>
            <a:r>
              <a:rPr lang="en-US" sz="750" dirty="0">
                <a:solidFill>
                  <a:srgbClr val="CBD5E1"/>
                </a:solidFill>
                <a:latin typeface="Arial" pitchFamily="34" charset="0"/>
                <a:ea typeface="Arial" pitchFamily="34" charset="-122"/>
                <a:cs typeface="Arial" pitchFamily="34" charset="-120"/>
              </a:rPr>
              <a:t>• Architecture checkpoint quiz &amp; wrap-up</a:t>
            </a:r>
            <a:endParaRPr lang="en-US" sz="750" dirty="0"/>
          </a:p>
        </p:txBody>
      </p:sp>
      <p:sp>
        <p:nvSpPr>
          <p:cNvPr id="33" name="Shape 30"/>
          <p:cNvSpPr/>
          <p:nvPr/>
        </p:nvSpPr>
        <p:spPr>
          <a:xfrm>
            <a:off x="457200" y="4133088"/>
            <a:ext cx="8229600" cy="502920"/>
          </a:xfrm>
          <a:prstGeom prst="roundRect">
            <a:avLst>
              <a:gd name="adj" fmla="val 10909"/>
            </a:avLst>
          </a:prstGeom>
          <a:solidFill>
            <a:srgbClr val="0D1527"/>
          </a:solidFill>
          <a:ln w="10160">
            <a:solidFill>
              <a:srgbClr val="00A1E0"/>
            </a:solidFill>
            <a:prstDash val="solid"/>
          </a:ln>
        </p:spPr>
      </p:sp>
      <p:sp>
        <p:nvSpPr>
          <p:cNvPr id="34" name="Text 31"/>
          <p:cNvSpPr/>
          <p:nvPr/>
        </p:nvSpPr>
        <p:spPr>
          <a:xfrm>
            <a:off x="640080" y="4178808"/>
            <a:ext cx="7863840" cy="411480"/>
          </a:xfrm>
          <a:prstGeom prst="rect">
            <a:avLst/>
          </a:prstGeom>
          <a:noFill/>
          <a:ln/>
        </p:spPr>
        <p:txBody>
          <a:bodyPr wrap="square" rtlCol="0" anchor="ctr"/>
          <a:lstStyle/>
          <a:p>
            <a:pPr indent="0" marL="0">
              <a:buNone/>
            </a:pPr>
            <a:r>
              <a:rPr lang="en-US" sz="850" b="1" dirty="0">
                <a:solidFill>
                  <a:srgbClr val="F8FAFC"/>
                </a:solidFill>
                <a:latin typeface="Arial" pitchFamily="34" charset="0"/>
                <a:ea typeface="Arial" pitchFamily="34" charset="-122"/>
                <a:cs typeface="Arial" pitchFamily="34" charset="-120"/>
              </a:rPr>
              <a:t>Core Architecture Objective: Equip engineers to architect, deploy, and debug autonomous Agentforce agents in under 2 hours without hardcoded dialog trees or static intent branching.</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457200" y="256032"/>
            <a:ext cx="1097280" cy="27432"/>
          </a:xfrm>
          <a:prstGeom prst="rect">
            <a:avLst/>
          </a:prstGeom>
          <a:solidFill>
            <a:srgbClr val="00A1E0"/>
          </a:solidFill>
          <a:ln w="12700">
            <a:solidFill>
              <a:srgbClr val="00A1E0"/>
            </a:solidFill>
            <a:prstDash val="solid"/>
          </a:ln>
        </p:spPr>
      </p:sp>
      <p:sp>
        <p:nvSpPr>
          <p:cNvPr id="3" name="Text 1"/>
          <p:cNvSpPr/>
          <p:nvPr/>
        </p:nvSpPr>
        <p:spPr>
          <a:xfrm>
            <a:off x="457200" y="320040"/>
            <a:ext cx="8229600" cy="164592"/>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FOUNDATIONAL CONCEPTS</a:t>
            </a:r>
            <a:endParaRPr lang="en-US" sz="800" dirty="0"/>
          </a:p>
        </p:txBody>
      </p:sp>
      <p:sp>
        <p:nvSpPr>
          <p:cNvPr id="4" name="Text 2"/>
          <p:cNvSpPr/>
          <p:nvPr/>
        </p:nvSpPr>
        <p:spPr>
          <a:xfrm>
            <a:off x="457200" y="493776"/>
            <a:ext cx="8229600" cy="320040"/>
          </a:xfrm>
          <a:prstGeom prst="rect">
            <a:avLst/>
          </a:prstGeom>
          <a:noFill/>
          <a:ln/>
        </p:spPr>
        <p:txBody>
          <a:bodyPr wrap="square" rtlCol="0" anchor="ctr"/>
          <a:lstStyle/>
          <a:p>
            <a:pPr indent="0" marL="0">
              <a:buNone/>
            </a:pPr>
            <a:r>
              <a:rPr lang="en-US" sz="1500" b="1" dirty="0">
                <a:solidFill>
                  <a:srgbClr val="F8FAFC"/>
                </a:solidFill>
                <a:latin typeface="Arial" pitchFamily="34" charset="0"/>
                <a:ea typeface="Arial" pitchFamily="34" charset="-122"/>
                <a:cs typeface="Arial" pitchFamily="34" charset="-120"/>
              </a:rPr>
              <a:t>The Paradigm Shift: Bots vs Autonomous Agents</a:t>
            </a:r>
            <a:endParaRPr lang="en-US" sz="1500" dirty="0"/>
          </a:p>
        </p:txBody>
      </p:sp>
      <p:sp>
        <p:nvSpPr>
          <p:cNvPr id="5" name="Shape 3"/>
          <p:cNvSpPr/>
          <p:nvPr/>
        </p:nvSpPr>
        <p:spPr>
          <a:xfrm>
            <a:off x="457200" y="859536"/>
            <a:ext cx="8229600" cy="0"/>
          </a:xfrm>
          <a:prstGeom prst="line">
            <a:avLst/>
          </a:prstGeom>
          <a:noFill/>
          <a:ln w="12700">
            <a:solidFill>
              <a:srgbClr val="1E293B"/>
            </a:solidFill>
            <a:prstDash val="solid"/>
          </a:ln>
        </p:spPr>
      </p:sp>
      <p:sp>
        <p:nvSpPr>
          <p:cNvPr id="6" name="Text 4"/>
          <p:cNvSpPr/>
          <p:nvPr/>
        </p:nvSpPr>
        <p:spPr>
          <a:xfrm>
            <a:off x="457200" y="4791456"/>
            <a:ext cx="6400800" cy="228600"/>
          </a:xfrm>
          <a:prstGeom prst="rect">
            <a:avLst/>
          </a:prstGeom>
          <a:noFill/>
          <a:ln/>
        </p:spPr>
        <p:txBody>
          <a:bodyPr wrap="square" rtlCol="0" anchor="ctr"/>
          <a:lstStyle/>
          <a:p>
            <a:pPr indent="0" marL="0">
              <a:buNone/>
            </a:pPr>
            <a:r>
              <a:rPr lang="en-US" sz="750" dirty="0">
                <a:solidFill>
                  <a:srgbClr val="94A3B8"/>
                </a:solidFill>
                <a:latin typeface="Arial" pitchFamily="34" charset="0"/>
                <a:ea typeface="Arial" pitchFamily="34" charset="-122"/>
                <a:cs typeface="Arial" pitchFamily="34" charset="-120"/>
              </a:rPr>
              <a:t>Salesforce Agentforce &amp; Data 360 Enablement  •  Day 1: Atlas Reasoning Engine &amp; ReAct Loop</a:t>
            </a:r>
            <a:endParaRPr lang="en-US" sz="750" dirty="0"/>
          </a:p>
        </p:txBody>
      </p:sp>
      <p:sp>
        <p:nvSpPr>
          <p:cNvPr id="7" name="Text 5"/>
          <p:cNvSpPr/>
          <p:nvPr/>
        </p:nvSpPr>
        <p:spPr>
          <a:xfrm>
            <a:off x="7315200" y="4791456"/>
            <a:ext cx="1371600" cy="228600"/>
          </a:xfrm>
          <a:prstGeom prst="rect">
            <a:avLst/>
          </a:prstGeom>
          <a:noFill/>
          <a:ln/>
        </p:spPr>
        <p:txBody>
          <a:bodyPr wrap="square" rtlCol="0" anchor="ctr"/>
          <a:lstStyle/>
          <a:p>
            <a:pPr algn="r" indent="0" marL="0">
              <a:buNone/>
            </a:pPr>
            <a:r>
              <a:rPr lang="en-US" sz="750" b="1" dirty="0">
                <a:solidFill>
                  <a:srgbClr val="00A1E0"/>
                </a:solidFill>
                <a:latin typeface="Arial" pitchFamily="34" charset="0"/>
                <a:ea typeface="Arial" pitchFamily="34" charset="-122"/>
                <a:cs typeface="Arial" pitchFamily="34" charset="-120"/>
              </a:rPr>
              <a:t>3 / 19</a:t>
            </a:r>
            <a:endParaRPr lang="en-US" sz="750" dirty="0"/>
          </a:p>
        </p:txBody>
      </p:sp>
      <p:sp>
        <p:nvSpPr>
          <p:cNvPr id="9" name="Shape 6"/>
          <p:cNvSpPr/>
          <p:nvPr/>
        </p:nvSpPr>
        <p:spPr>
          <a:xfrm>
            <a:off x="457200" y="1024128"/>
            <a:ext cx="3977640" cy="3566160"/>
          </a:xfrm>
          <a:prstGeom prst="roundRect">
            <a:avLst>
              <a:gd name="adj" fmla="val 2051"/>
            </a:avLst>
          </a:prstGeom>
          <a:solidFill>
            <a:srgbClr val="131B2E"/>
          </a:solidFill>
          <a:ln w="15240">
            <a:solidFill>
              <a:srgbClr val="F43F5E"/>
            </a:solidFill>
            <a:prstDash val="solid"/>
          </a:ln>
        </p:spPr>
      </p:sp>
      <p:sp>
        <p:nvSpPr>
          <p:cNvPr id="10" name="Shape 7"/>
          <p:cNvSpPr/>
          <p:nvPr/>
        </p:nvSpPr>
        <p:spPr>
          <a:xfrm>
            <a:off x="457200" y="1024128"/>
            <a:ext cx="3977640" cy="45720"/>
          </a:xfrm>
          <a:prstGeom prst="rect">
            <a:avLst/>
          </a:prstGeom>
          <a:solidFill>
            <a:srgbClr val="F43F5E"/>
          </a:solidFill>
          <a:ln w="12700">
            <a:solidFill>
              <a:srgbClr val="F43F5E"/>
            </a:solidFill>
            <a:prstDash val="solid"/>
          </a:ln>
        </p:spPr>
      </p:sp>
      <p:sp>
        <p:nvSpPr>
          <p:cNvPr id="11" name="Text 8"/>
          <p:cNvSpPr/>
          <p:nvPr/>
        </p:nvSpPr>
        <p:spPr>
          <a:xfrm>
            <a:off x="640080" y="1143000"/>
            <a:ext cx="3611880" cy="228600"/>
          </a:xfrm>
          <a:prstGeom prst="rect">
            <a:avLst/>
          </a:prstGeom>
          <a:noFill/>
          <a:ln/>
        </p:spPr>
        <p:txBody>
          <a:bodyPr wrap="square" rtlCol="0" anchor="ctr"/>
          <a:lstStyle/>
          <a:p>
            <a:pPr indent="0" marL="0">
              <a:buNone/>
            </a:pPr>
            <a:r>
              <a:rPr lang="en-US" sz="850" b="1" dirty="0">
                <a:solidFill>
                  <a:srgbClr val="F43F5E"/>
                </a:solidFill>
                <a:latin typeface="Arial" pitchFamily="34" charset="0"/>
                <a:ea typeface="Arial" pitchFamily="34" charset="-122"/>
                <a:cs typeface="Arial" pitchFamily="34" charset="-120"/>
              </a:rPr>
              <a:t>LEGACY DETERMINISTIC CHATBOTS (EINSTEIN BOTS)</a:t>
            </a:r>
            <a:endParaRPr lang="en-US" sz="850" dirty="0"/>
          </a:p>
        </p:txBody>
      </p:sp>
      <p:sp>
        <p:nvSpPr>
          <p:cNvPr id="12" name="Text 9"/>
          <p:cNvSpPr/>
          <p:nvPr/>
        </p:nvSpPr>
        <p:spPr>
          <a:xfrm>
            <a:off x="640080" y="1371600"/>
            <a:ext cx="3611880" cy="274320"/>
          </a:xfrm>
          <a:prstGeom prst="rect">
            <a:avLst/>
          </a:prstGeom>
          <a:noFill/>
          <a:ln/>
        </p:spPr>
        <p:txBody>
          <a:bodyPr wrap="square" rtlCol="0" anchor="ctr"/>
          <a:lstStyle/>
          <a:p>
            <a:pPr indent="0" marL="0">
              <a:buNone/>
            </a:pPr>
            <a:r>
              <a:rPr lang="en-US" sz="1200" b="1" dirty="0">
                <a:solidFill>
                  <a:srgbClr val="F8FAFC"/>
                </a:solidFill>
                <a:latin typeface="Arial" pitchFamily="34" charset="0"/>
                <a:ea typeface="Arial" pitchFamily="34" charset="-122"/>
                <a:cs typeface="Arial" pitchFamily="34" charset="-120"/>
              </a:rPr>
              <a:t>Rigid Decision Trees &amp; Static Branching</a:t>
            </a:r>
            <a:endParaRPr lang="en-US" sz="1200" dirty="0"/>
          </a:p>
        </p:txBody>
      </p:sp>
      <p:sp>
        <p:nvSpPr>
          <p:cNvPr id="13" name="Text 10"/>
          <p:cNvSpPr/>
          <p:nvPr/>
        </p:nvSpPr>
        <p:spPr>
          <a:xfrm>
            <a:off x="640080" y="1719072"/>
            <a:ext cx="3611880" cy="2743200"/>
          </a:xfrm>
          <a:prstGeom prst="rect">
            <a:avLst/>
          </a:prstGeom>
          <a:noFill/>
          <a:ln/>
        </p:spPr>
        <p:txBody>
          <a:bodyPr wrap="square" rtlCol="0" anchor="ctr"/>
          <a:lstStyle/>
          <a:p>
            <a:pPr indent="0" marL="0">
              <a:lnSpc>
                <a:spcPts val="1200"/>
              </a:lnSpc>
              <a:buNone/>
            </a:pPr>
            <a:r>
              <a:rPr lang="en-US" sz="800" dirty="0">
                <a:solidFill>
                  <a:srgbClr val="CBD5E1"/>
                </a:solidFill>
                <a:latin typeface="Arial" pitchFamily="34" charset="0"/>
                <a:ea typeface="Arial" pitchFamily="34" charset="-122"/>
                <a:cs typeface="Arial" pitchFamily="34" charset="-120"/>
              </a:rPr>
              <a:t>❌  Fixed Dialog Flows: Relies on pre-programmed if-then scripts; breaks as soon as user phrasing alters.</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Keyword &amp; Regex Matching: Easily fooled by misspellings, colloquial expressions, or compound goals.</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Brittle Integration: Every branching condition requires hardcoded invocations and manual state variables.</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Zero Real-Time Reasoning: Incapable of synthesizing multiple data sources on the fly; outputs canned text.</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High Maintenance Overhead: Adding one new capability requires re-wiring dozens of existing dialog menus.</a:t>
            </a:r>
            <a:endParaRPr lang="en-US" sz="800" dirty="0"/>
          </a:p>
        </p:txBody>
      </p:sp>
      <p:sp>
        <p:nvSpPr>
          <p:cNvPr id="14" name="Shape 11"/>
          <p:cNvSpPr/>
          <p:nvPr/>
        </p:nvSpPr>
        <p:spPr>
          <a:xfrm>
            <a:off x="4709160" y="1024128"/>
            <a:ext cx="3977640" cy="3566160"/>
          </a:xfrm>
          <a:prstGeom prst="roundRect">
            <a:avLst>
              <a:gd name="adj" fmla="val 2051"/>
            </a:avLst>
          </a:prstGeom>
          <a:solidFill>
            <a:srgbClr val="131B2E"/>
          </a:solidFill>
          <a:ln w="15240">
            <a:solidFill>
              <a:srgbClr val="10B981"/>
            </a:solidFill>
            <a:prstDash val="solid"/>
          </a:ln>
        </p:spPr>
      </p:sp>
      <p:sp>
        <p:nvSpPr>
          <p:cNvPr id="15" name="Shape 12"/>
          <p:cNvSpPr/>
          <p:nvPr/>
        </p:nvSpPr>
        <p:spPr>
          <a:xfrm>
            <a:off x="4709160" y="1024128"/>
            <a:ext cx="3977640" cy="45720"/>
          </a:xfrm>
          <a:prstGeom prst="rect">
            <a:avLst/>
          </a:prstGeom>
          <a:solidFill>
            <a:srgbClr val="10B981"/>
          </a:solidFill>
          <a:ln w="12700">
            <a:solidFill>
              <a:srgbClr val="10B981"/>
            </a:solidFill>
            <a:prstDash val="solid"/>
          </a:ln>
        </p:spPr>
      </p:sp>
      <p:sp>
        <p:nvSpPr>
          <p:cNvPr id="16" name="Text 13"/>
          <p:cNvSpPr/>
          <p:nvPr/>
        </p:nvSpPr>
        <p:spPr>
          <a:xfrm>
            <a:off x="4892040" y="1143000"/>
            <a:ext cx="3611880" cy="228600"/>
          </a:xfrm>
          <a:prstGeom prst="rect">
            <a:avLst/>
          </a:prstGeom>
          <a:noFill/>
          <a:ln/>
        </p:spPr>
        <p:txBody>
          <a:bodyPr wrap="square" rtlCol="0" anchor="ctr"/>
          <a:lstStyle/>
          <a:p>
            <a:pPr indent="0" marL="0">
              <a:buNone/>
            </a:pPr>
            <a:r>
              <a:rPr lang="en-US" sz="850" b="1" dirty="0">
                <a:solidFill>
                  <a:srgbClr val="10B981"/>
                </a:solidFill>
                <a:latin typeface="Arial" pitchFamily="34" charset="0"/>
                <a:ea typeface="Arial" pitchFamily="34" charset="-122"/>
                <a:cs typeface="Arial" pitchFamily="34" charset="-120"/>
              </a:rPr>
              <a:t>AUTONOMOUS AI AGENTS (AGENTFORCE)</a:t>
            </a:r>
            <a:endParaRPr lang="en-US" sz="850" dirty="0"/>
          </a:p>
        </p:txBody>
      </p:sp>
      <p:sp>
        <p:nvSpPr>
          <p:cNvPr id="17" name="Text 14"/>
          <p:cNvSpPr/>
          <p:nvPr/>
        </p:nvSpPr>
        <p:spPr>
          <a:xfrm>
            <a:off x="4892040" y="1371600"/>
            <a:ext cx="3611880" cy="274320"/>
          </a:xfrm>
          <a:prstGeom prst="rect">
            <a:avLst/>
          </a:prstGeom>
          <a:noFill/>
          <a:ln/>
        </p:spPr>
        <p:txBody>
          <a:bodyPr wrap="square" rtlCol="0" anchor="ctr"/>
          <a:lstStyle/>
          <a:p>
            <a:pPr indent="0" marL="0">
              <a:buNone/>
            </a:pPr>
            <a:r>
              <a:rPr lang="en-US" sz="1200" b="1" dirty="0">
                <a:solidFill>
                  <a:srgbClr val="F8FAFC"/>
                </a:solidFill>
                <a:latin typeface="Arial" pitchFamily="34" charset="0"/>
                <a:ea typeface="Arial" pitchFamily="34" charset="-122"/>
                <a:cs typeface="Arial" pitchFamily="34" charset="-120"/>
              </a:rPr>
              <a:t>Atlas Reasoning Engine &amp; Dynamic ReAct Loops</a:t>
            </a:r>
            <a:endParaRPr lang="en-US" sz="1200" dirty="0"/>
          </a:p>
        </p:txBody>
      </p:sp>
      <p:sp>
        <p:nvSpPr>
          <p:cNvPr id="18" name="Text 15"/>
          <p:cNvSpPr/>
          <p:nvPr/>
        </p:nvSpPr>
        <p:spPr>
          <a:xfrm>
            <a:off x="4892040" y="1719072"/>
            <a:ext cx="3611880" cy="2743200"/>
          </a:xfrm>
          <a:prstGeom prst="rect">
            <a:avLst/>
          </a:prstGeom>
          <a:noFill/>
          <a:ln/>
        </p:spPr>
        <p:txBody>
          <a:bodyPr wrap="square" rtlCol="0" anchor="ctr"/>
          <a:lstStyle/>
          <a:p>
            <a:pPr indent="0" marL="0">
              <a:lnSpc>
                <a:spcPts val="1200"/>
              </a:lnSpc>
              <a:buNone/>
            </a:pPr>
            <a:r>
              <a:rPr lang="en-US" sz="800" dirty="0">
                <a:solidFill>
                  <a:srgbClr val="CBD5E1"/>
                </a:solidFill>
                <a:latin typeface="Arial" pitchFamily="34" charset="0"/>
                <a:ea typeface="Arial" pitchFamily="34" charset="-122"/>
                <a:cs typeface="Arial" pitchFamily="34" charset="-120"/>
              </a:rPr>
              <a:t>✅  Dynamic Cognitive Loop: Reasons through multi-turn human goals using the ReAct cognitive architecture.</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Semantic Intent Resolution: Comprehends nuances, context, and unstructured intent without rigid keywords.</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Autonomous Tool Orchestration: Dynamically discovers, chains, and executes Flows, Apex, and APIs as needed.</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Grounded in CRM &amp; Data 360: Synthesizes real-time enterprise data into tailored, personalized answers.</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Extensible Micro-Topic Design: New capabilities are added as modular Actions; Atlas automatically routes to them.</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457200" y="256032"/>
            <a:ext cx="1097280" cy="27432"/>
          </a:xfrm>
          <a:prstGeom prst="rect">
            <a:avLst/>
          </a:prstGeom>
          <a:solidFill>
            <a:srgbClr val="00A1E0"/>
          </a:solidFill>
          <a:ln w="12700">
            <a:solidFill>
              <a:srgbClr val="00A1E0"/>
            </a:solidFill>
            <a:prstDash val="solid"/>
          </a:ln>
        </p:spPr>
      </p:sp>
      <p:sp>
        <p:nvSpPr>
          <p:cNvPr id="3" name="Text 1"/>
          <p:cNvSpPr/>
          <p:nvPr/>
        </p:nvSpPr>
        <p:spPr>
          <a:xfrm>
            <a:off x="457200" y="320040"/>
            <a:ext cx="8229600" cy="164592"/>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ARCHITECTURAL CONCEPT</a:t>
            </a:r>
            <a:endParaRPr lang="en-US" sz="800" dirty="0"/>
          </a:p>
        </p:txBody>
      </p:sp>
      <p:sp>
        <p:nvSpPr>
          <p:cNvPr id="4" name="Text 2"/>
          <p:cNvSpPr/>
          <p:nvPr/>
        </p:nvSpPr>
        <p:spPr>
          <a:xfrm>
            <a:off x="457200" y="493776"/>
            <a:ext cx="8229600" cy="320040"/>
          </a:xfrm>
          <a:prstGeom prst="rect">
            <a:avLst/>
          </a:prstGeom>
          <a:noFill/>
          <a:ln/>
        </p:spPr>
        <p:txBody>
          <a:bodyPr wrap="square" rtlCol="0" anchor="ctr"/>
          <a:lstStyle/>
          <a:p>
            <a:pPr indent="0" marL="0">
              <a:buNone/>
            </a:pPr>
            <a:r>
              <a:rPr lang="en-US" sz="1500" b="1" dirty="0">
                <a:solidFill>
                  <a:srgbClr val="F8FAFC"/>
                </a:solidFill>
                <a:latin typeface="Arial" pitchFamily="34" charset="0"/>
                <a:ea typeface="Arial" pitchFamily="34" charset="-122"/>
                <a:cs typeface="Arial" pitchFamily="34" charset="-120"/>
              </a:rPr>
              <a:t>The Mental Model: Train on Tracks vs Autonomous Vehicle</a:t>
            </a:r>
            <a:endParaRPr lang="en-US" sz="1500" dirty="0"/>
          </a:p>
        </p:txBody>
      </p:sp>
      <p:sp>
        <p:nvSpPr>
          <p:cNvPr id="5" name="Shape 3"/>
          <p:cNvSpPr/>
          <p:nvPr/>
        </p:nvSpPr>
        <p:spPr>
          <a:xfrm>
            <a:off x="457200" y="859536"/>
            <a:ext cx="8229600" cy="0"/>
          </a:xfrm>
          <a:prstGeom prst="line">
            <a:avLst/>
          </a:prstGeom>
          <a:noFill/>
          <a:ln w="12700">
            <a:solidFill>
              <a:srgbClr val="1E293B"/>
            </a:solidFill>
            <a:prstDash val="solid"/>
          </a:ln>
        </p:spPr>
      </p:sp>
      <p:sp>
        <p:nvSpPr>
          <p:cNvPr id="6" name="Text 4"/>
          <p:cNvSpPr/>
          <p:nvPr/>
        </p:nvSpPr>
        <p:spPr>
          <a:xfrm>
            <a:off x="457200" y="4791456"/>
            <a:ext cx="6400800" cy="228600"/>
          </a:xfrm>
          <a:prstGeom prst="rect">
            <a:avLst/>
          </a:prstGeom>
          <a:noFill/>
          <a:ln/>
        </p:spPr>
        <p:txBody>
          <a:bodyPr wrap="square" rtlCol="0" anchor="ctr"/>
          <a:lstStyle/>
          <a:p>
            <a:pPr indent="0" marL="0">
              <a:buNone/>
            </a:pPr>
            <a:r>
              <a:rPr lang="en-US" sz="750" dirty="0">
                <a:solidFill>
                  <a:srgbClr val="94A3B8"/>
                </a:solidFill>
                <a:latin typeface="Arial" pitchFamily="34" charset="0"/>
                <a:ea typeface="Arial" pitchFamily="34" charset="-122"/>
                <a:cs typeface="Arial" pitchFamily="34" charset="-120"/>
              </a:rPr>
              <a:t>Salesforce Agentforce &amp; Data 360 Enablement  •  Day 1: Atlas Reasoning Engine &amp; ReAct Loop</a:t>
            </a:r>
            <a:endParaRPr lang="en-US" sz="750" dirty="0"/>
          </a:p>
        </p:txBody>
      </p:sp>
      <p:sp>
        <p:nvSpPr>
          <p:cNvPr id="7" name="Text 5"/>
          <p:cNvSpPr/>
          <p:nvPr/>
        </p:nvSpPr>
        <p:spPr>
          <a:xfrm>
            <a:off x="7315200" y="4791456"/>
            <a:ext cx="1371600" cy="228600"/>
          </a:xfrm>
          <a:prstGeom prst="rect">
            <a:avLst/>
          </a:prstGeom>
          <a:noFill/>
          <a:ln/>
        </p:spPr>
        <p:txBody>
          <a:bodyPr wrap="square" rtlCol="0" anchor="ctr"/>
          <a:lstStyle/>
          <a:p>
            <a:pPr algn="r" indent="0" marL="0">
              <a:buNone/>
            </a:pPr>
            <a:r>
              <a:rPr lang="en-US" sz="750" b="1" dirty="0">
                <a:solidFill>
                  <a:srgbClr val="00A1E0"/>
                </a:solidFill>
                <a:latin typeface="Arial" pitchFamily="34" charset="0"/>
                <a:ea typeface="Arial" pitchFamily="34" charset="-122"/>
                <a:cs typeface="Arial" pitchFamily="34" charset="-120"/>
              </a:rPr>
              <a:t>4 / 19</a:t>
            </a:r>
            <a:endParaRPr lang="en-US" sz="750" dirty="0"/>
          </a:p>
        </p:txBody>
      </p:sp>
      <p:sp>
        <p:nvSpPr>
          <p:cNvPr id="9" name="Shape 6"/>
          <p:cNvSpPr/>
          <p:nvPr/>
        </p:nvSpPr>
        <p:spPr>
          <a:xfrm>
            <a:off x="457200" y="1024128"/>
            <a:ext cx="3977640" cy="3566160"/>
          </a:xfrm>
          <a:prstGeom prst="roundRect">
            <a:avLst>
              <a:gd name="adj" fmla="val 2051"/>
            </a:avLst>
          </a:prstGeom>
          <a:solidFill>
            <a:srgbClr val="131B2E"/>
          </a:solidFill>
          <a:ln w="12700">
            <a:solidFill>
              <a:srgbClr val="334155"/>
            </a:solidFill>
            <a:prstDash val="solid"/>
          </a:ln>
        </p:spPr>
      </p:sp>
      <p:sp>
        <p:nvSpPr>
          <p:cNvPr id="10" name="Text 7"/>
          <p:cNvSpPr/>
          <p:nvPr/>
        </p:nvSpPr>
        <p:spPr>
          <a:xfrm>
            <a:off x="640080" y="1143000"/>
            <a:ext cx="3611880" cy="228600"/>
          </a:xfrm>
          <a:prstGeom prst="rect">
            <a:avLst/>
          </a:prstGeom>
          <a:noFill/>
          <a:ln/>
        </p:spPr>
        <p:txBody>
          <a:bodyPr wrap="square" rtlCol="0" anchor="ctr"/>
          <a:lstStyle/>
          <a:p>
            <a:pPr indent="0" marL="0">
              <a:buNone/>
            </a:pPr>
            <a:r>
              <a:rPr lang="en-US" sz="900" b="1" dirty="0">
                <a:solidFill>
                  <a:srgbClr val="F59E0B"/>
                </a:solidFill>
                <a:latin typeface="Arial" pitchFamily="34" charset="0"/>
                <a:ea typeface="Arial" pitchFamily="34" charset="-122"/>
                <a:cs typeface="Arial" pitchFamily="34" charset="-120"/>
              </a:rPr>
              <a:t>🚆 THE TRAIN ON TRACKS (LEGACY BOT)</a:t>
            </a:r>
            <a:endParaRPr lang="en-US" sz="900" dirty="0"/>
          </a:p>
        </p:txBody>
      </p:sp>
      <p:sp>
        <p:nvSpPr>
          <p:cNvPr id="11" name="Text 8"/>
          <p:cNvSpPr/>
          <p:nvPr/>
        </p:nvSpPr>
        <p:spPr>
          <a:xfrm>
            <a:off x="640080" y="1389888"/>
            <a:ext cx="3611880" cy="256032"/>
          </a:xfrm>
          <a:prstGeom prst="rect">
            <a:avLst/>
          </a:prstGeom>
          <a:noFill/>
          <a:ln/>
        </p:spPr>
        <p:txBody>
          <a:bodyPr wrap="square" rtlCol="0" anchor="ctr"/>
          <a:lstStyle/>
          <a:p>
            <a:pPr indent="0" marL="0">
              <a:buNone/>
            </a:pPr>
            <a:r>
              <a:rPr lang="en-US" sz="1200" b="1" dirty="0">
                <a:solidFill>
                  <a:srgbClr val="F8FAFC"/>
                </a:solidFill>
                <a:latin typeface="Arial" pitchFamily="34" charset="0"/>
                <a:ea typeface="Arial" pitchFamily="34" charset="-122"/>
                <a:cs typeface="Arial" pitchFamily="34" charset="-120"/>
              </a:rPr>
              <a:t>Predictable but Fragile &amp; Inflexible</a:t>
            </a:r>
            <a:endParaRPr lang="en-US" sz="1200" dirty="0"/>
          </a:p>
        </p:txBody>
      </p:sp>
      <p:sp>
        <p:nvSpPr>
          <p:cNvPr id="12" name="Text 9"/>
          <p:cNvSpPr/>
          <p:nvPr/>
        </p:nvSpPr>
        <p:spPr>
          <a:xfrm>
            <a:off x="640080" y="1719072"/>
            <a:ext cx="3611880" cy="2743200"/>
          </a:xfrm>
          <a:prstGeom prst="rect">
            <a:avLst/>
          </a:prstGeom>
          <a:noFill/>
          <a:ln/>
        </p:spPr>
        <p:txBody>
          <a:bodyPr wrap="square" rtlCol="0" anchor="ctr"/>
          <a:lstStyle/>
          <a:p>
            <a:pPr indent="0" marL="0">
              <a:lnSpc>
                <a:spcPts val="1200"/>
              </a:lnSpc>
              <a:buNone/>
            </a:pPr>
            <a:r>
              <a:rPr lang="en-US" sz="800" dirty="0">
                <a:solidFill>
                  <a:srgbClr val="CBD5E1"/>
                </a:solidFill>
                <a:latin typeface="Arial" pitchFamily="34" charset="0"/>
                <a:ea typeface="Arial" pitchFamily="34" charset="-122"/>
                <a:cs typeface="Arial" pitchFamily="34" charset="-120"/>
              </a:rPr>
              <a:t>• Track Dependency: Can only visit nodes that an administrator pre-built into the dialog tree.</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Zero Obstacle Handling: If a customer inputs unexpected phrasing or asks a side-question, the bot hits a dead end.</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Linear Escalation: Can only transfer to a human agent when rule execution fails.</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Scalability Friction: Every new business rule requires physical re-laying of track across all menus.</a:t>
            </a:r>
            <a:endParaRPr lang="en-US" sz="800" dirty="0"/>
          </a:p>
        </p:txBody>
      </p:sp>
      <p:sp>
        <p:nvSpPr>
          <p:cNvPr id="13" name="Shape 10"/>
          <p:cNvSpPr/>
          <p:nvPr/>
        </p:nvSpPr>
        <p:spPr>
          <a:xfrm>
            <a:off x="4709160" y="1024128"/>
            <a:ext cx="3977640" cy="3566160"/>
          </a:xfrm>
          <a:prstGeom prst="roundRect">
            <a:avLst>
              <a:gd name="adj" fmla="val 2051"/>
            </a:avLst>
          </a:prstGeom>
          <a:solidFill>
            <a:srgbClr val="131B2E"/>
          </a:solidFill>
          <a:ln w="15240">
            <a:solidFill>
              <a:srgbClr val="00A1E0"/>
            </a:solidFill>
            <a:prstDash val="solid"/>
          </a:ln>
        </p:spPr>
      </p:sp>
      <p:sp>
        <p:nvSpPr>
          <p:cNvPr id="14" name="Text 11"/>
          <p:cNvSpPr/>
          <p:nvPr/>
        </p:nvSpPr>
        <p:spPr>
          <a:xfrm>
            <a:off x="4892040" y="1143000"/>
            <a:ext cx="3611880" cy="228600"/>
          </a:xfrm>
          <a:prstGeom prst="rect">
            <a:avLst/>
          </a:prstGeom>
          <a:noFill/>
          <a:ln/>
        </p:spPr>
        <p:txBody>
          <a:bodyPr wrap="square" rtlCol="0" anchor="ctr"/>
          <a:lstStyle/>
          <a:p>
            <a:pPr indent="0" marL="0">
              <a:buNone/>
            </a:pPr>
            <a:r>
              <a:rPr lang="en-US" sz="900" b="1" dirty="0">
                <a:solidFill>
                  <a:srgbClr val="00A1E0"/>
                </a:solidFill>
                <a:latin typeface="Arial" pitchFamily="34" charset="0"/>
                <a:ea typeface="Arial" pitchFamily="34" charset="-122"/>
                <a:cs typeface="Arial" pitchFamily="34" charset="-120"/>
              </a:rPr>
              <a:t>🚗 THE AUTONOMOUS VEHICLE (AGENTFORCE)</a:t>
            </a:r>
            <a:endParaRPr lang="en-US" sz="900" dirty="0"/>
          </a:p>
        </p:txBody>
      </p:sp>
      <p:sp>
        <p:nvSpPr>
          <p:cNvPr id="15" name="Text 12"/>
          <p:cNvSpPr/>
          <p:nvPr/>
        </p:nvSpPr>
        <p:spPr>
          <a:xfrm>
            <a:off x="4892040" y="1389888"/>
            <a:ext cx="3611880" cy="256032"/>
          </a:xfrm>
          <a:prstGeom prst="rect">
            <a:avLst/>
          </a:prstGeom>
          <a:noFill/>
          <a:ln/>
        </p:spPr>
        <p:txBody>
          <a:bodyPr wrap="square" rtlCol="0" anchor="ctr"/>
          <a:lstStyle/>
          <a:p>
            <a:pPr indent="0" marL="0">
              <a:buNone/>
            </a:pPr>
            <a:r>
              <a:rPr lang="en-US" sz="1200" b="1" dirty="0">
                <a:solidFill>
                  <a:srgbClr val="F8FAFC"/>
                </a:solidFill>
                <a:latin typeface="Arial" pitchFamily="34" charset="0"/>
                <a:ea typeface="Arial" pitchFamily="34" charset="-122"/>
                <a:cs typeface="Arial" pitchFamily="34" charset="-120"/>
              </a:rPr>
              <a:t>Goal-Oriented, Cognitive &amp; Adaptive</a:t>
            </a:r>
            <a:endParaRPr lang="en-US" sz="1200" dirty="0"/>
          </a:p>
        </p:txBody>
      </p:sp>
      <p:sp>
        <p:nvSpPr>
          <p:cNvPr id="16" name="Text 13"/>
          <p:cNvSpPr/>
          <p:nvPr/>
        </p:nvSpPr>
        <p:spPr>
          <a:xfrm>
            <a:off x="4892040" y="1719072"/>
            <a:ext cx="3611880" cy="2743200"/>
          </a:xfrm>
          <a:prstGeom prst="rect">
            <a:avLst/>
          </a:prstGeom>
          <a:noFill/>
          <a:ln/>
        </p:spPr>
        <p:txBody>
          <a:bodyPr wrap="square" rtlCol="0" anchor="ctr"/>
          <a:lstStyle/>
          <a:p>
            <a:pPr indent="0" marL="0">
              <a:lnSpc>
                <a:spcPts val="1200"/>
              </a:lnSpc>
              <a:buNone/>
            </a:pPr>
            <a:r>
              <a:rPr lang="en-US" sz="800" dirty="0">
                <a:solidFill>
                  <a:srgbClr val="CBD5E1"/>
                </a:solidFill>
                <a:latin typeface="Arial" pitchFamily="34" charset="0"/>
                <a:ea typeface="Arial" pitchFamily="34" charset="-122"/>
                <a:cs typeface="Arial" pitchFamily="34" charset="-120"/>
              </a:rPr>
              <a:t>• Goal Navigation: Receives a high-level goal and maps the optimal sequence of actions to reach it.</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Dynamic Sensor Fusion: Ingests user input, conversational history, CRM records, and Data 360 graphs.</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Adaptive Rerouting: If an action returns an unexpected outcome, the engine recalibrates its plan in real time.</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Continuous Extension: Adding a new tool (Action) instantly makes it available to the navigation engine.</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457200" y="256032"/>
            <a:ext cx="1097280" cy="27432"/>
          </a:xfrm>
          <a:prstGeom prst="rect">
            <a:avLst/>
          </a:prstGeom>
          <a:solidFill>
            <a:srgbClr val="00A1E0"/>
          </a:solidFill>
          <a:ln w="12700">
            <a:solidFill>
              <a:srgbClr val="00A1E0"/>
            </a:solidFill>
            <a:prstDash val="solid"/>
          </a:ln>
        </p:spPr>
      </p:sp>
      <p:sp>
        <p:nvSpPr>
          <p:cNvPr id="3" name="Text 1"/>
          <p:cNvSpPr/>
          <p:nvPr/>
        </p:nvSpPr>
        <p:spPr>
          <a:xfrm>
            <a:off x="457200" y="320040"/>
            <a:ext cx="8229600" cy="164592"/>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COGNITIVE ARCHITECTURE</a:t>
            </a:r>
            <a:endParaRPr lang="en-US" sz="800" dirty="0"/>
          </a:p>
        </p:txBody>
      </p:sp>
      <p:sp>
        <p:nvSpPr>
          <p:cNvPr id="4" name="Text 2"/>
          <p:cNvSpPr/>
          <p:nvPr/>
        </p:nvSpPr>
        <p:spPr>
          <a:xfrm>
            <a:off x="457200" y="493776"/>
            <a:ext cx="8229600" cy="320040"/>
          </a:xfrm>
          <a:prstGeom prst="rect">
            <a:avLst/>
          </a:prstGeom>
          <a:noFill/>
          <a:ln/>
        </p:spPr>
        <p:txBody>
          <a:bodyPr wrap="square" rtlCol="0" anchor="ctr"/>
          <a:lstStyle/>
          <a:p>
            <a:pPr indent="0" marL="0">
              <a:buNone/>
            </a:pPr>
            <a:r>
              <a:rPr lang="en-US" sz="1500" b="1" dirty="0">
                <a:solidFill>
                  <a:srgbClr val="F8FAFC"/>
                </a:solidFill>
                <a:latin typeface="Arial" pitchFamily="34" charset="0"/>
                <a:ea typeface="Arial" pitchFamily="34" charset="-122"/>
                <a:cs typeface="Arial" pitchFamily="34" charset="-120"/>
              </a:rPr>
              <a:t>The Atlas Reasoning Engine: Architecture Overview</a:t>
            </a:r>
            <a:endParaRPr lang="en-US" sz="1500" dirty="0"/>
          </a:p>
        </p:txBody>
      </p:sp>
      <p:sp>
        <p:nvSpPr>
          <p:cNvPr id="5" name="Shape 3"/>
          <p:cNvSpPr/>
          <p:nvPr/>
        </p:nvSpPr>
        <p:spPr>
          <a:xfrm>
            <a:off x="457200" y="859536"/>
            <a:ext cx="8229600" cy="0"/>
          </a:xfrm>
          <a:prstGeom prst="line">
            <a:avLst/>
          </a:prstGeom>
          <a:noFill/>
          <a:ln w="12700">
            <a:solidFill>
              <a:srgbClr val="1E293B"/>
            </a:solidFill>
            <a:prstDash val="solid"/>
          </a:ln>
        </p:spPr>
      </p:sp>
      <p:sp>
        <p:nvSpPr>
          <p:cNvPr id="6" name="Text 4"/>
          <p:cNvSpPr/>
          <p:nvPr/>
        </p:nvSpPr>
        <p:spPr>
          <a:xfrm>
            <a:off x="457200" y="4791456"/>
            <a:ext cx="6400800" cy="228600"/>
          </a:xfrm>
          <a:prstGeom prst="rect">
            <a:avLst/>
          </a:prstGeom>
          <a:noFill/>
          <a:ln/>
        </p:spPr>
        <p:txBody>
          <a:bodyPr wrap="square" rtlCol="0" anchor="ctr"/>
          <a:lstStyle/>
          <a:p>
            <a:pPr indent="0" marL="0">
              <a:buNone/>
            </a:pPr>
            <a:r>
              <a:rPr lang="en-US" sz="750" dirty="0">
                <a:solidFill>
                  <a:srgbClr val="94A3B8"/>
                </a:solidFill>
                <a:latin typeface="Arial" pitchFamily="34" charset="0"/>
                <a:ea typeface="Arial" pitchFamily="34" charset="-122"/>
                <a:cs typeface="Arial" pitchFamily="34" charset="-120"/>
              </a:rPr>
              <a:t>Salesforce Agentforce &amp; Data 360 Enablement  •  Day 1: Atlas Reasoning Engine &amp; ReAct Loop</a:t>
            </a:r>
            <a:endParaRPr lang="en-US" sz="750" dirty="0"/>
          </a:p>
        </p:txBody>
      </p:sp>
      <p:sp>
        <p:nvSpPr>
          <p:cNvPr id="7" name="Text 5"/>
          <p:cNvSpPr/>
          <p:nvPr/>
        </p:nvSpPr>
        <p:spPr>
          <a:xfrm>
            <a:off x="7315200" y="4791456"/>
            <a:ext cx="1371600" cy="228600"/>
          </a:xfrm>
          <a:prstGeom prst="rect">
            <a:avLst/>
          </a:prstGeom>
          <a:noFill/>
          <a:ln/>
        </p:spPr>
        <p:txBody>
          <a:bodyPr wrap="square" rtlCol="0" anchor="ctr"/>
          <a:lstStyle/>
          <a:p>
            <a:pPr algn="r" indent="0" marL="0">
              <a:buNone/>
            </a:pPr>
            <a:r>
              <a:rPr lang="en-US" sz="750" b="1" dirty="0">
                <a:solidFill>
                  <a:srgbClr val="00A1E0"/>
                </a:solidFill>
                <a:latin typeface="Arial" pitchFamily="34" charset="0"/>
                <a:ea typeface="Arial" pitchFamily="34" charset="-122"/>
                <a:cs typeface="Arial" pitchFamily="34" charset="-120"/>
              </a:rPr>
              <a:t>5 / 19</a:t>
            </a:r>
            <a:endParaRPr lang="en-US" sz="750" dirty="0"/>
          </a:p>
        </p:txBody>
      </p:sp>
      <p:sp>
        <p:nvSpPr>
          <p:cNvPr id="9" name="Shape 6"/>
          <p:cNvSpPr/>
          <p:nvPr/>
        </p:nvSpPr>
        <p:spPr>
          <a:xfrm>
            <a:off x="457200" y="1024128"/>
            <a:ext cx="8229600" cy="1051560"/>
          </a:xfrm>
          <a:prstGeom prst="roundRect">
            <a:avLst>
              <a:gd name="adj" fmla="val 6957"/>
            </a:avLst>
          </a:prstGeom>
          <a:solidFill>
            <a:srgbClr val="162238"/>
          </a:solidFill>
          <a:ln w="15240">
            <a:solidFill>
              <a:srgbClr val="00A1E0"/>
            </a:solidFill>
            <a:prstDash val="solid"/>
          </a:ln>
        </p:spPr>
      </p:sp>
      <p:sp>
        <p:nvSpPr>
          <p:cNvPr id="10" name="Text 7"/>
          <p:cNvSpPr/>
          <p:nvPr/>
        </p:nvSpPr>
        <p:spPr>
          <a:xfrm>
            <a:off x="640080" y="1115568"/>
            <a:ext cx="7315200" cy="201168"/>
          </a:xfrm>
          <a:prstGeom prst="rect">
            <a:avLst/>
          </a:prstGeom>
          <a:noFill/>
          <a:ln/>
        </p:spPr>
        <p:txBody>
          <a:bodyPr wrap="square" rtlCol="0" anchor="ctr"/>
          <a:lstStyle/>
          <a:p>
            <a:pPr indent="0" marL="0">
              <a:buNone/>
            </a:pPr>
            <a:r>
              <a:rPr lang="en-US" sz="800" b="1" dirty="0">
                <a:solidFill>
                  <a:srgbClr val="38BDF8"/>
                </a:solidFill>
                <a:latin typeface="Arial" pitchFamily="34" charset="0"/>
                <a:ea typeface="Arial" pitchFamily="34" charset="-122"/>
                <a:cs typeface="Arial" pitchFamily="34" charset="-120"/>
              </a:rPr>
              <a:t>WHAT IS THE ATLAS REASONING ENGINE?</a:t>
            </a:r>
            <a:endParaRPr lang="en-US" sz="800" dirty="0"/>
          </a:p>
        </p:txBody>
      </p:sp>
      <p:sp>
        <p:nvSpPr>
          <p:cNvPr id="11" name="Text 8"/>
          <p:cNvSpPr/>
          <p:nvPr/>
        </p:nvSpPr>
        <p:spPr>
          <a:xfrm>
            <a:off x="640080" y="1353312"/>
            <a:ext cx="7863840" cy="640080"/>
          </a:xfrm>
          <a:prstGeom prst="rect">
            <a:avLst/>
          </a:prstGeom>
          <a:noFill/>
          <a:ln/>
        </p:spPr>
        <p:txBody>
          <a:bodyPr wrap="square" rtlCol="0" anchor="ctr"/>
          <a:lstStyle/>
          <a:p>
            <a:pPr indent="0" marL="0">
              <a:lnSpc>
                <a:spcPts val="1400"/>
              </a:lnSpc>
              <a:buNone/>
            </a:pPr>
            <a:r>
              <a:rPr lang="en-US" sz="900" dirty="0">
                <a:solidFill>
                  <a:srgbClr val="F8FAFC"/>
                </a:solidFill>
                <a:latin typeface="Arial" pitchFamily="34" charset="0"/>
                <a:ea typeface="Arial" pitchFamily="34" charset="-122"/>
                <a:cs typeface="Arial" pitchFamily="34" charset="-120"/>
              </a:rPr>
              <a:t>The Atlas Reasoning Engine is Salesforce's enterprise cognitive runtime. Unlike a standalone LLM that simply generates text, Atlas dynamically plans, reasons, and executes multi-step business operations against real Salesforce data while strictly enforcing security, permissions, and governor limits.</a:t>
            </a:r>
            <a:endParaRPr lang="en-US" sz="900" dirty="0"/>
          </a:p>
        </p:txBody>
      </p:sp>
      <p:sp>
        <p:nvSpPr>
          <p:cNvPr id="12" name="Shape 9"/>
          <p:cNvSpPr/>
          <p:nvPr/>
        </p:nvSpPr>
        <p:spPr>
          <a:xfrm>
            <a:off x="457200" y="2194560"/>
            <a:ext cx="2596896" cy="2395728"/>
          </a:xfrm>
          <a:prstGeom prst="roundRect">
            <a:avLst>
              <a:gd name="adj" fmla="val 3053"/>
            </a:avLst>
          </a:prstGeom>
          <a:solidFill>
            <a:srgbClr val="131B2E"/>
          </a:solidFill>
          <a:ln w="12700">
            <a:solidFill>
              <a:srgbClr val="00A1E0"/>
            </a:solidFill>
            <a:prstDash val="solid"/>
          </a:ln>
        </p:spPr>
      </p:sp>
      <p:sp>
        <p:nvSpPr>
          <p:cNvPr id="13" name="Shape 10"/>
          <p:cNvSpPr/>
          <p:nvPr/>
        </p:nvSpPr>
        <p:spPr>
          <a:xfrm>
            <a:off x="457200" y="2194560"/>
            <a:ext cx="2596896" cy="45720"/>
          </a:xfrm>
          <a:prstGeom prst="rect">
            <a:avLst/>
          </a:prstGeom>
          <a:solidFill>
            <a:srgbClr val="00A1E0"/>
          </a:solidFill>
          <a:ln w="12700">
            <a:solidFill>
              <a:srgbClr val="00A1E0"/>
            </a:solidFill>
            <a:prstDash val="solid"/>
          </a:ln>
        </p:spPr>
      </p:sp>
      <p:sp>
        <p:nvSpPr>
          <p:cNvPr id="14" name="Text 11"/>
          <p:cNvSpPr/>
          <p:nvPr/>
        </p:nvSpPr>
        <p:spPr>
          <a:xfrm>
            <a:off x="594360" y="2331720"/>
            <a:ext cx="2322576" cy="274320"/>
          </a:xfrm>
          <a:prstGeom prst="rect">
            <a:avLst/>
          </a:prstGeom>
          <a:noFill/>
          <a:ln/>
        </p:spPr>
        <p:txBody>
          <a:bodyPr wrap="square" rtlCol="0" anchor="ctr"/>
          <a:lstStyle/>
          <a:p>
            <a:pPr indent="0" marL="0">
              <a:buNone/>
            </a:pPr>
            <a:r>
              <a:rPr lang="en-US" sz="1100" b="1" dirty="0">
                <a:solidFill>
                  <a:srgbClr val="F8FAFC"/>
                </a:solidFill>
                <a:latin typeface="Arial" pitchFamily="34" charset="0"/>
                <a:ea typeface="Arial" pitchFamily="34" charset="-122"/>
                <a:cs typeface="Arial" pitchFamily="34" charset="-120"/>
              </a:rPr>
              <a:t>Semantic Orchestration</a:t>
            </a:r>
            <a:endParaRPr lang="en-US" sz="1100" dirty="0"/>
          </a:p>
        </p:txBody>
      </p:sp>
      <p:sp>
        <p:nvSpPr>
          <p:cNvPr id="15" name="Text 12"/>
          <p:cNvSpPr/>
          <p:nvPr/>
        </p:nvSpPr>
        <p:spPr>
          <a:xfrm>
            <a:off x="594360" y="2670048"/>
            <a:ext cx="2322576" cy="1783080"/>
          </a:xfrm>
          <a:prstGeom prst="rect">
            <a:avLst/>
          </a:prstGeom>
          <a:noFill/>
          <a:ln/>
        </p:spPr>
        <p:txBody>
          <a:bodyPr wrap="square" rtlCol="0" anchor="ctr"/>
          <a:lstStyle/>
          <a:p>
            <a:pPr indent="0" marL="0">
              <a:lnSpc>
                <a:spcPts val="1200"/>
              </a:lnSpc>
              <a:buNone/>
            </a:pPr>
            <a:r>
              <a:rPr lang="en-US" sz="800" dirty="0">
                <a:solidFill>
                  <a:srgbClr val="CBD5E1"/>
                </a:solidFill>
                <a:latin typeface="Arial" pitchFamily="34" charset="0"/>
                <a:ea typeface="Arial" pitchFamily="34" charset="-122"/>
                <a:cs typeface="Arial" pitchFamily="34" charset="-120"/>
              </a:rPr>
              <a:t>Interprets unstructured human intent and dynamically maps requests into discrete Topic boundaries and Action tools without pre-programmed dialog trees.</a:t>
            </a:r>
            <a:endParaRPr lang="en-US" sz="800" dirty="0"/>
          </a:p>
        </p:txBody>
      </p:sp>
      <p:sp>
        <p:nvSpPr>
          <p:cNvPr id="16" name="Shape 13"/>
          <p:cNvSpPr/>
          <p:nvPr/>
        </p:nvSpPr>
        <p:spPr>
          <a:xfrm>
            <a:off x="3273552" y="2194560"/>
            <a:ext cx="2596896" cy="2395728"/>
          </a:xfrm>
          <a:prstGeom prst="roundRect">
            <a:avLst>
              <a:gd name="adj" fmla="val 3053"/>
            </a:avLst>
          </a:prstGeom>
          <a:solidFill>
            <a:srgbClr val="131B2E"/>
          </a:solidFill>
          <a:ln w="12700">
            <a:solidFill>
              <a:srgbClr val="10B981"/>
            </a:solidFill>
            <a:prstDash val="solid"/>
          </a:ln>
        </p:spPr>
      </p:sp>
      <p:sp>
        <p:nvSpPr>
          <p:cNvPr id="17" name="Shape 14"/>
          <p:cNvSpPr/>
          <p:nvPr/>
        </p:nvSpPr>
        <p:spPr>
          <a:xfrm>
            <a:off x="3273552" y="2194560"/>
            <a:ext cx="2596896" cy="45720"/>
          </a:xfrm>
          <a:prstGeom prst="rect">
            <a:avLst/>
          </a:prstGeom>
          <a:solidFill>
            <a:srgbClr val="10B981"/>
          </a:solidFill>
          <a:ln w="12700">
            <a:solidFill>
              <a:srgbClr val="10B981"/>
            </a:solidFill>
            <a:prstDash val="solid"/>
          </a:ln>
        </p:spPr>
      </p:sp>
      <p:sp>
        <p:nvSpPr>
          <p:cNvPr id="18" name="Text 15"/>
          <p:cNvSpPr/>
          <p:nvPr/>
        </p:nvSpPr>
        <p:spPr>
          <a:xfrm>
            <a:off x="3410712" y="2331720"/>
            <a:ext cx="2322576" cy="274320"/>
          </a:xfrm>
          <a:prstGeom prst="rect">
            <a:avLst/>
          </a:prstGeom>
          <a:noFill/>
          <a:ln/>
        </p:spPr>
        <p:txBody>
          <a:bodyPr wrap="square" rtlCol="0" anchor="ctr"/>
          <a:lstStyle/>
          <a:p>
            <a:pPr indent="0" marL="0">
              <a:buNone/>
            </a:pPr>
            <a:r>
              <a:rPr lang="en-US" sz="1100" b="1" dirty="0">
                <a:solidFill>
                  <a:srgbClr val="F8FAFC"/>
                </a:solidFill>
                <a:latin typeface="Arial" pitchFamily="34" charset="0"/>
                <a:ea typeface="Arial" pitchFamily="34" charset="-122"/>
                <a:cs typeface="Arial" pitchFamily="34" charset="-120"/>
              </a:rPr>
              <a:t>Context Grounding</a:t>
            </a:r>
            <a:endParaRPr lang="en-US" sz="1100" dirty="0"/>
          </a:p>
        </p:txBody>
      </p:sp>
      <p:sp>
        <p:nvSpPr>
          <p:cNvPr id="19" name="Text 16"/>
          <p:cNvSpPr/>
          <p:nvPr/>
        </p:nvSpPr>
        <p:spPr>
          <a:xfrm>
            <a:off x="3410712" y="2670048"/>
            <a:ext cx="2322576" cy="1783080"/>
          </a:xfrm>
          <a:prstGeom prst="rect">
            <a:avLst/>
          </a:prstGeom>
          <a:noFill/>
          <a:ln/>
        </p:spPr>
        <p:txBody>
          <a:bodyPr wrap="square" rtlCol="0" anchor="ctr"/>
          <a:lstStyle/>
          <a:p>
            <a:pPr indent="0" marL="0">
              <a:lnSpc>
                <a:spcPts val="1200"/>
              </a:lnSpc>
              <a:buNone/>
            </a:pPr>
            <a:r>
              <a:rPr lang="en-US" sz="800" dirty="0">
                <a:solidFill>
                  <a:srgbClr val="CBD5E1"/>
                </a:solidFill>
                <a:latin typeface="Arial" pitchFamily="34" charset="0"/>
                <a:ea typeface="Arial" pitchFamily="34" charset="-122"/>
                <a:cs typeface="Arial" pitchFamily="34" charset="-120"/>
              </a:rPr>
              <a:t>Injects verified CRM records, Data 360 unified profiles, and organizational metadata into prompt payloads so responses are factual and 100% hallucination-free.</a:t>
            </a:r>
            <a:endParaRPr lang="en-US" sz="800" dirty="0"/>
          </a:p>
        </p:txBody>
      </p:sp>
      <p:sp>
        <p:nvSpPr>
          <p:cNvPr id="20" name="Shape 17"/>
          <p:cNvSpPr/>
          <p:nvPr/>
        </p:nvSpPr>
        <p:spPr>
          <a:xfrm>
            <a:off x="6089904" y="2194560"/>
            <a:ext cx="2596896" cy="2395728"/>
          </a:xfrm>
          <a:prstGeom prst="roundRect">
            <a:avLst>
              <a:gd name="adj" fmla="val 3053"/>
            </a:avLst>
          </a:prstGeom>
          <a:solidFill>
            <a:srgbClr val="131B2E"/>
          </a:solidFill>
          <a:ln w="12700">
            <a:solidFill>
              <a:srgbClr val="8B5CF6"/>
            </a:solidFill>
            <a:prstDash val="solid"/>
          </a:ln>
        </p:spPr>
      </p:sp>
      <p:sp>
        <p:nvSpPr>
          <p:cNvPr id="21" name="Shape 18"/>
          <p:cNvSpPr/>
          <p:nvPr/>
        </p:nvSpPr>
        <p:spPr>
          <a:xfrm>
            <a:off x="6089904" y="2194560"/>
            <a:ext cx="2596896" cy="45720"/>
          </a:xfrm>
          <a:prstGeom prst="rect">
            <a:avLst/>
          </a:prstGeom>
          <a:solidFill>
            <a:srgbClr val="8B5CF6"/>
          </a:solidFill>
          <a:ln w="12700">
            <a:solidFill>
              <a:srgbClr val="8B5CF6"/>
            </a:solidFill>
            <a:prstDash val="solid"/>
          </a:ln>
        </p:spPr>
      </p:sp>
      <p:sp>
        <p:nvSpPr>
          <p:cNvPr id="22" name="Text 19"/>
          <p:cNvSpPr/>
          <p:nvPr/>
        </p:nvSpPr>
        <p:spPr>
          <a:xfrm>
            <a:off x="6227064" y="2331720"/>
            <a:ext cx="2322576" cy="274320"/>
          </a:xfrm>
          <a:prstGeom prst="rect">
            <a:avLst/>
          </a:prstGeom>
          <a:noFill/>
          <a:ln/>
        </p:spPr>
        <p:txBody>
          <a:bodyPr wrap="square" rtlCol="0" anchor="ctr"/>
          <a:lstStyle/>
          <a:p>
            <a:pPr indent="0" marL="0">
              <a:buNone/>
            </a:pPr>
            <a:r>
              <a:rPr lang="en-US" sz="1100" b="1" dirty="0">
                <a:solidFill>
                  <a:srgbClr val="F8FAFC"/>
                </a:solidFill>
                <a:latin typeface="Arial" pitchFamily="34" charset="0"/>
                <a:ea typeface="Arial" pitchFamily="34" charset="-122"/>
                <a:cs typeface="Arial" pitchFamily="34" charset="-120"/>
              </a:rPr>
              <a:t>Governed Tool Execution</a:t>
            </a:r>
            <a:endParaRPr lang="en-US" sz="1100" dirty="0"/>
          </a:p>
        </p:txBody>
      </p:sp>
      <p:sp>
        <p:nvSpPr>
          <p:cNvPr id="23" name="Text 20"/>
          <p:cNvSpPr/>
          <p:nvPr/>
        </p:nvSpPr>
        <p:spPr>
          <a:xfrm>
            <a:off x="6227064" y="2670048"/>
            <a:ext cx="2322576" cy="1783080"/>
          </a:xfrm>
          <a:prstGeom prst="rect">
            <a:avLst/>
          </a:prstGeom>
          <a:noFill/>
          <a:ln/>
        </p:spPr>
        <p:txBody>
          <a:bodyPr wrap="square" rtlCol="0" anchor="ctr"/>
          <a:lstStyle/>
          <a:p>
            <a:pPr indent="0" marL="0">
              <a:lnSpc>
                <a:spcPts val="1200"/>
              </a:lnSpc>
              <a:buNone/>
            </a:pPr>
            <a:r>
              <a:rPr lang="en-US" sz="800" dirty="0">
                <a:solidFill>
                  <a:srgbClr val="CBD5E1"/>
                </a:solidFill>
                <a:latin typeface="Arial" pitchFamily="34" charset="0"/>
                <a:ea typeface="Arial" pitchFamily="34" charset="-122"/>
                <a:cs typeface="Arial" pitchFamily="34" charset="-120"/>
              </a:rPr>
              <a:t>Safely triggers autolaunched Flows, Apex invocables, and external APIs under the permissions of the Einstein Agent User, respecting all Field-Level Security.</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457200" y="256032"/>
            <a:ext cx="1097280" cy="27432"/>
          </a:xfrm>
          <a:prstGeom prst="rect">
            <a:avLst/>
          </a:prstGeom>
          <a:solidFill>
            <a:srgbClr val="00A1E0"/>
          </a:solidFill>
          <a:ln w="12700">
            <a:solidFill>
              <a:srgbClr val="00A1E0"/>
            </a:solidFill>
            <a:prstDash val="solid"/>
          </a:ln>
        </p:spPr>
      </p:sp>
      <p:sp>
        <p:nvSpPr>
          <p:cNvPr id="3" name="Text 1"/>
          <p:cNvSpPr/>
          <p:nvPr/>
        </p:nvSpPr>
        <p:spPr>
          <a:xfrm>
            <a:off x="457200" y="320040"/>
            <a:ext cx="8229600" cy="164592"/>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COGNITIVE ARCHITECTURE</a:t>
            </a:r>
            <a:endParaRPr lang="en-US" sz="800" dirty="0"/>
          </a:p>
        </p:txBody>
      </p:sp>
      <p:sp>
        <p:nvSpPr>
          <p:cNvPr id="4" name="Text 2"/>
          <p:cNvSpPr/>
          <p:nvPr/>
        </p:nvSpPr>
        <p:spPr>
          <a:xfrm>
            <a:off x="457200" y="493776"/>
            <a:ext cx="8229600" cy="320040"/>
          </a:xfrm>
          <a:prstGeom prst="rect">
            <a:avLst/>
          </a:prstGeom>
          <a:noFill/>
          <a:ln/>
        </p:spPr>
        <p:txBody>
          <a:bodyPr wrap="square" rtlCol="0" anchor="ctr"/>
          <a:lstStyle/>
          <a:p>
            <a:pPr indent="0" marL="0">
              <a:buNone/>
            </a:pPr>
            <a:r>
              <a:rPr lang="en-US" sz="1500" b="1" dirty="0">
                <a:solidFill>
                  <a:srgbClr val="F8FAFC"/>
                </a:solidFill>
                <a:latin typeface="Arial" pitchFamily="34" charset="0"/>
                <a:ea typeface="Arial" pitchFamily="34" charset="-122"/>
                <a:cs typeface="Arial" pitchFamily="34" charset="-120"/>
              </a:rPr>
              <a:t>The 4-Phase ReAct Cognitive Loop in Detail</a:t>
            </a:r>
            <a:endParaRPr lang="en-US" sz="1500" dirty="0"/>
          </a:p>
        </p:txBody>
      </p:sp>
      <p:sp>
        <p:nvSpPr>
          <p:cNvPr id="5" name="Shape 3"/>
          <p:cNvSpPr/>
          <p:nvPr/>
        </p:nvSpPr>
        <p:spPr>
          <a:xfrm>
            <a:off x="457200" y="859536"/>
            <a:ext cx="8229600" cy="0"/>
          </a:xfrm>
          <a:prstGeom prst="line">
            <a:avLst/>
          </a:prstGeom>
          <a:noFill/>
          <a:ln w="12700">
            <a:solidFill>
              <a:srgbClr val="1E293B"/>
            </a:solidFill>
            <a:prstDash val="solid"/>
          </a:ln>
        </p:spPr>
      </p:sp>
      <p:sp>
        <p:nvSpPr>
          <p:cNvPr id="6" name="Text 4"/>
          <p:cNvSpPr/>
          <p:nvPr/>
        </p:nvSpPr>
        <p:spPr>
          <a:xfrm>
            <a:off x="457200" y="4791456"/>
            <a:ext cx="6400800" cy="228600"/>
          </a:xfrm>
          <a:prstGeom prst="rect">
            <a:avLst/>
          </a:prstGeom>
          <a:noFill/>
          <a:ln/>
        </p:spPr>
        <p:txBody>
          <a:bodyPr wrap="square" rtlCol="0" anchor="ctr"/>
          <a:lstStyle/>
          <a:p>
            <a:pPr indent="0" marL="0">
              <a:buNone/>
            </a:pPr>
            <a:r>
              <a:rPr lang="en-US" sz="750" dirty="0">
                <a:solidFill>
                  <a:srgbClr val="94A3B8"/>
                </a:solidFill>
                <a:latin typeface="Arial" pitchFamily="34" charset="0"/>
                <a:ea typeface="Arial" pitchFamily="34" charset="-122"/>
                <a:cs typeface="Arial" pitchFamily="34" charset="-120"/>
              </a:rPr>
              <a:t>Salesforce Agentforce &amp; Data 360 Enablement  •  Day 1: Atlas Reasoning Engine &amp; ReAct Loop</a:t>
            </a:r>
            <a:endParaRPr lang="en-US" sz="750" dirty="0"/>
          </a:p>
        </p:txBody>
      </p:sp>
      <p:sp>
        <p:nvSpPr>
          <p:cNvPr id="7" name="Text 5"/>
          <p:cNvSpPr/>
          <p:nvPr/>
        </p:nvSpPr>
        <p:spPr>
          <a:xfrm>
            <a:off x="7315200" y="4791456"/>
            <a:ext cx="1371600" cy="228600"/>
          </a:xfrm>
          <a:prstGeom prst="rect">
            <a:avLst/>
          </a:prstGeom>
          <a:noFill/>
          <a:ln/>
        </p:spPr>
        <p:txBody>
          <a:bodyPr wrap="square" rtlCol="0" anchor="ctr"/>
          <a:lstStyle/>
          <a:p>
            <a:pPr algn="r" indent="0" marL="0">
              <a:buNone/>
            </a:pPr>
            <a:r>
              <a:rPr lang="en-US" sz="750" b="1" dirty="0">
                <a:solidFill>
                  <a:srgbClr val="00A1E0"/>
                </a:solidFill>
                <a:latin typeface="Arial" pitchFamily="34" charset="0"/>
                <a:ea typeface="Arial" pitchFamily="34" charset="-122"/>
                <a:cs typeface="Arial" pitchFamily="34" charset="-120"/>
              </a:rPr>
              <a:t>6 / 19</a:t>
            </a:r>
            <a:endParaRPr lang="en-US" sz="750" dirty="0"/>
          </a:p>
        </p:txBody>
      </p:sp>
      <p:sp>
        <p:nvSpPr>
          <p:cNvPr id="9" name="Shape 6"/>
          <p:cNvSpPr/>
          <p:nvPr/>
        </p:nvSpPr>
        <p:spPr>
          <a:xfrm>
            <a:off x="457200" y="1024128"/>
            <a:ext cx="1920240" cy="2011680"/>
          </a:xfrm>
          <a:prstGeom prst="roundRect">
            <a:avLst>
              <a:gd name="adj" fmla="val 3810"/>
            </a:avLst>
          </a:prstGeom>
          <a:solidFill>
            <a:srgbClr val="131B2E"/>
          </a:solidFill>
          <a:ln w="12700">
            <a:solidFill>
              <a:srgbClr val="00A1E0"/>
            </a:solidFill>
            <a:prstDash val="solid"/>
          </a:ln>
        </p:spPr>
      </p:sp>
      <p:sp>
        <p:nvSpPr>
          <p:cNvPr id="10" name="Text 7"/>
          <p:cNvSpPr/>
          <p:nvPr/>
        </p:nvSpPr>
        <p:spPr>
          <a:xfrm>
            <a:off x="566928" y="1097280"/>
            <a:ext cx="731520" cy="274320"/>
          </a:xfrm>
          <a:prstGeom prst="rect">
            <a:avLst/>
          </a:prstGeom>
          <a:noFill/>
          <a:ln/>
        </p:spPr>
        <p:txBody>
          <a:bodyPr wrap="square" rtlCol="0" anchor="ctr"/>
          <a:lstStyle/>
          <a:p>
            <a:pPr indent="0" marL="0">
              <a:buNone/>
            </a:pPr>
            <a:r>
              <a:rPr lang="en-US" sz="1600" b="1" dirty="0">
                <a:solidFill>
                  <a:srgbClr val="00A1E0"/>
                </a:solidFill>
                <a:latin typeface="Arial" pitchFamily="34" charset="0"/>
                <a:ea typeface="Arial" pitchFamily="34" charset="-122"/>
                <a:cs typeface="Arial" pitchFamily="34" charset="-120"/>
              </a:rPr>
              <a:t>01</a:t>
            </a:r>
            <a:endParaRPr lang="en-US" sz="1600" dirty="0"/>
          </a:p>
        </p:txBody>
      </p:sp>
      <p:sp>
        <p:nvSpPr>
          <p:cNvPr id="11" name="Text 8"/>
          <p:cNvSpPr/>
          <p:nvPr/>
        </p:nvSpPr>
        <p:spPr>
          <a:xfrm>
            <a:off x="566928" y="1417320"/>
            <a:ext cx="1700784" cy="182880"/>
          </a:xfrm>
          <a:prstGeom prst="rect">
            <a:avLst/>
          </a:prstGeom>
          <a:noFill/>
          <a:ln/>
        </p:spPr>
        <p:txBody>
          <a:bodyPr wrap="square" rtlCol="0" anchor="ctr"/>
          <a:lstStyle/>
          <a:p>
            <a:pPr indent="0" marL="0">
              <a:buNone/>
            </a:pPr>
            <a:r>
              <a:rPr lang="en-US" sz="750" b="1" dirty="0">
                <a:solidFill>
                  <a:srgbClr val="94A3B8"/>
                </a:solidFill>
                <a:latin typeface="Arial" pitchFamily="34" charset="0"/>
                <a:ea typeface="Arial" pitchFamily="34" charset="-122"/>
                <a:cs typeface="Arial" pitchFamily="34" charset="-120"/>
              </a:rPr>
              <a:t>INTENT EVALUATION</a:t>
            </a:r>
            <a:endParaRPr lang="en-US" sz="750" dirty="0"/>
          </a:p>
        </p:txBody>
      </p:sp>
      <p:sp>
        <p:nvSpPr>
          <p:cNvPr id="12" name="Text 9"/>
          <p:cNvSpPr/>
          <p:nvPr/>
        </p:nvSpPr>
        <p:spPr>
          <a:xfrm>
            <a:off x="566928" y="1600200"/>
            <a:ext cx="1700784" cy="228600"/>
          </a:xfrm>
          <a:prstGeom prst="rect">
            <a:avLst/>
          </a:prstGeom>
          <a:noFill/>
          <a:ln/>
        </p:spPr>
        <p:txBody>
          <a:bodyPr wrap="square" rtlCol="0" anchor="ctr"/>
          <a:lstStyle/>
          <a:p>
            <a:pPr indent="0" marL="0">
              <a:buNone/>
            </a:pPr>
            <a:r>
              <a:rPr lang="en-US" sz="1000" b="1" dirty="0">
                <a:solidFill>
                  <a:srgbClr val="F8FAFC"/>
                </a:solidFill>
                <a:latin typeface="Arial" pitchFamily="34" charset="0"/>
                <a:ea typeface="Arial" pitchFamily="34" charset="-122"/>
                <a:cs typeface="Arial" pitchFamily="34" charset="-120"/>
              </a:rPr>
              <a:t>Classify User Goal</a:t>
            </a:r>
            <a:endParaRPr lang="en-US" sz="1000" dirty="0"/>
          </a:p>
        </p:txBody>
      </p:sp>
      <p:sp>
        <p:nvSpPr>
          <p:cNvPr id="13" name="Text 10"/>
          <p:cNvSpPr/>
          <p:nvPr/>
        </p:nvSpPr>
        <p:spPr>
          <a:xfrm>
            <a:off x="566928" y="1874520"/>
            <a:ext cx="1700784" cy="1051560"/>
          </a:xfrm>
          <a:prstGeom prst="rect">
            <a:avLst/>
          </a:prstGeom>
          <a:noFill/>
          <a:ln/>
        </p:spPr>
        <p:txBody>
          <a:bodyPr wrap="square" rtlCol="0" anchor="ctr"/>
          <a:lstStyle/>
          <a:p>
            <a:pPr indent="0" marL="0">
              <a:lnSpc>
                <a:spcPts val="1100"/>
              </a:lnSpc>
              <a:buNone/>
            </a:pPr>
            <a:r>
              <a:rPr lang="en-US" sz="750" dirty="0">
                <a:solidFill>
                  <a:srgbClr val="CBD5E1"/>
                </a:solidFill>
                <a:latin typeface="Arial" pitchFamily="34" charset="0"/>
                <a:ea typeface="Arial" pitchFamily="34" charset="-122"/>
                <a:cs typeface="Arial" pitchFamily="34" charset="-120"/>
              </a:rPr>
              <a:t>Ingests user utterance and full conversation history. Evaluates Topic classification embeddings to select the active domain.</a:t>
            </a:r>
            <a:endParaRPr lang="en-US" sz="750" dirty="0"/>
          </a:p>
        </p:txBody>
      </p:sp>
      <p:sp>
        <p:nvSpPr>
          <p:cNvPr id="14" name="Shape 11"/>
          <p:cNvSpPr/>
          <p:nvPr/>
        </p:nvSpPr>
        <p:spPr>
          <a:xfrm>
            <a:off x="2560320" y="1024128"/>
            <a:ext cx="1920240" cy="2011680"/>
          </a:xfrm>
          <a:prstGeom prst="roundRect">
            <a:avLst>
              <a:gd name="adj" fmla="val 3810"/>
            </a:avLst>
          </a:prstGeom>
          <a:solidFill>
            <a:srgbClr val="131B2E"/>
          </a:solidFill>
          <a:ln w="12700">
            <a:solidFill>
              <a:srgbClr val="8B5CF6"/>
            </a:solidFill>
            <a:prstDash val="solid"/>
          </a:ln>
        </p:spPr>
      </p:sp>
      <p:sp>
        <p:nvSpPr>
          <p:cNvPr id="15" name="Text 12"/>
          <p:cNvSpPr/>
          <p:nvPr/>
        </p:nvSpPr>
        <p:spPr>
          <a:xfrm>
            <a:off x="2670048" y="1097280"/>
            <a:ext cx="731520" cy="274320"/>
          </a:xfrm>
          <a:prstGeom prst="rect">
            <a:avLst/>
          </a:prstGeom>
          <a:noFill/>
          <a:ln/>
        </p:spPr>
        <p:txBody>
          <a:bodyPr wrap="square" rtlCol="0" anchor="ctr"/>
          <a:lstStyle/>
          <a:p>
            <a:pPr indent="0" marL="0">
              <a:buNone/>
            </a:pPr>
            <a:r>
              <a:rPr lang="en-US" sz="1600" b="1" dirty="0">
                <a:solidFill>
                  <a:srgbClr val="8B5CF6"/>
                </a:solidFill>
                <a:latin typeface="Arial" pitchFamily="34" charset="0"/>
                <a:ea typeface="Arial" pitchFamily="34" charset="-122"/>
                <a:cs typeface="Arial" pitchFamily="34" charset="-120"/>
              </a:rPr>
              <a:t>02</a:t>
            </a:r>
            <a:endParaRPr lang="en-US" sz="1600" dirty="0"/>
          </a:p>
        </p:txBody>
      </p:sp>
      <p:sp>
        <p:nvSpPr>
          <p:cNvPr id="16" name="Text 13"/>
          <p:cNvSpPr/>
          <p:nvPr/>
        </p:nvSpPr>
        <p:spPr>
          <a:xfrm>
            <a:off x="2670048" y="1417320"/>
            <a:ext cx="1700784" cy="182880"/>
          </a:xfrm>
          <a:prstGeom prst="rect">
            <a:avLst/>
          </a:prstGeom>
          <a:noFill/>
          <a:ln/>
        </p:spPr>
        <p:txBody>
          <a:bodyPr wrap="square" rtlCol="0" anchor="ctr"/>
          <a:lstStyle/>
          <a:p>
            <a:pPr indent="0" marL="0">
              <a:buNone/>
            </a:pPr>
            <a:r>
              <a:rPr lang="en-US" sz="750" b="1" dirty="0">
                <a:solidFill>
                  <a:srgbClr val="94A3B8"/>
                </a:solidFill>
                <a:latin typeface="Arial" pitchFamily="34" charset="0"/>
                <a:ea typeface="Arial" pitchFamily="34" charset="-122"/>
                <a:cs typeface="Arial" pitchFamily="34" charset="-120"/>
              </a:rPr>
              <a:t>REASON &amp; PLAN</a:t>
            </a:r>
            <a:endParaRPr lang="en-US" sz="750" dirty="0"/>
          </a:p>
        </p:txBody>
      </p:sp>
      <p:sp>
        <p:nvSpPr>
          <p:cNvPr id="17" name="Text 14"/>
          <p:cNvSpPr/>
          <p:nvPr/>
        </p:nvSpPr>
        <p:spPr>
          <a:xfrm>
            <a:off x="2670048" y="1600200"/>
            <a:ext cx="1700784" cy="228600"/>
          </a:xfrm>
          <a:prstGeom prst="rect">
            <a:avLst/>
          </a:prstGeom>
          <a:noFill/>
          <a:ln/>
        </p:spPr>
        <p:txBody>
          <a:bodyPr wrap="square" rtlCol="0" anchor="ctr"/>
          <a:lstStyle/>
          <a:p>
            <a:pPr indent="0" marL="0">
              <a:buNone/>
            </a:pPr>
            <a:r>
              <a:rPr lang="en-US" sz="1000" b="1" dirty="0">
                <a:solidFill>
                  <a:srgbClr val="F8FAFC"/>
                </a:solidFill>
                <a:latin typeface="Arial" pitchFamily="34" charset="0"/>
                <a:ea typeface="Arial" pitchFamily="34" charset="-122"/>
                <a:cs typeface="Arial" pitchFamily="34" charset="-120"/>
              </a:rPr>
              <a:t>Formulate "Thought"</a:t>
            </a:r>
            <a:endParaRPr lang="en-US" sz="1000" dirty="0"/>
          </a:p>
        </p:txBody>
      </p:sp>
      <p:sp>
        <p:nvSpPr>
          <p:cNvPr id="18" name="Text 15"/>
          <p:cNvSpPr/>
          <p:nvPr/>
        </p:nvSpPr>
        <p:spPr>
          <a:xfrm>
            <a:off x="2670048" y="1874520"/>
            <a:ext cx="1700784" cy="1051560"/>
          </a:xfrm>
          <a:prstGeom prst="rect">
            <a:avLst/>
          </a:prstGeom>
          <a:noFill/>
          <a:ln/>
        </p:spPr>
        <p:txBody>
          <a:bodyPr wrap="square" rtlCol="0" anchor="ctr"/>
          <a:lstStyle/>
          <a:p>
            <a:pPr indent="0" marL="0">
              <a:lnSpc>
                <a:spcPts val="1100"/>
              </a:lnSpc>
              <a:buNone/>
            </a:pPr>
            <a:r>
              <a:rPr lang="en-US" sz="750" dirty="0">
                <a:solidFill>
                  <a:srgbClr val="CBD5E1"/>
                </a:solidFill>
                <a:latin typeface="Arial" pitchFamily="34" charset="0"/>
                <a:ea typeface="Arial" pitchFamily="34" charset="-122"/>
                <a:cs typeface="Arial" pitchFamily="34" charset="-120"/>
              </a:rPr>
              <a:t>Evaluates required data. Selects the appropriate Action tool bound to the active Topic and constructs the input argument payload.</a:t>
            </a:r>
            <a:endParaRPr lang="en-US" sz="750" dirty="0"/>
          </a:p>
        </p:txBody>
      </p:sp>
      <p:sp>
        <p:nvSpPr>
          <p:cNvPr id="19" name="Shape 16"/>
          <p:cNvSpPr/>
          <p:nvPr/>
        </p:nvSpPr>
        <p:spPr>
          <a:xfrm>
            <a:off x="4663440" y="1024128"/>
            <a:ext cx="1920240" cy="2011680"/>
          </a:xfrm>
          <a:prstGeom prst="roundRect">
            <a:avLst>
              <a:gd name="adj" fmla="val 3810"/>
            </a:avLst>
          </a:prstGeom>
          <a:solidFill>
            <a:srgbClr val="131B2E"/>
          </a:solidFill>
          <a:ln w="12700">
            <a:solidFill>
              <a:srgbClr val="F59E0B"/>
            </a:solidFill>
            <a:prstDash val="solid"/>
          </a:ln>
        </p:spPr>
      </p:sp>
      <p:sp>
        <p:nvSpPr>
          <p:cNvPr id="20" name="Text 17"/>
          <p:cNvSpPr/>
          <p:nvPr/>
        </p:nvSpPr>
        <p:spPr>
          <a:xfrm>
            <a:off x="4773168" y="1097280"/>
            <a:ext cx="731520" cy="274320"/>
          </a:xfrm>
          <a:prstGeom prst="rect">
            <a:avLst/>
          </a:prstGeom>
          <a:noFill/>
          <a:ln/>
        </p:spPr>
        <p:txBody>
          <a:bodyPr wrap="square" rtlCol="0" anchor="ctr"/>
          <a:lstStyle/>
          <a:p>
            <a:pPr indent="0" marL="0">
              <a:buNone/>
            </a:pPr>
            <a:r>
              <a:rPr lang="en-US" sz="1600" b="1" dirty="0">
                <a:solidFill>
                  <a:srgbClr val="F59E0B"/>
                </a:solidFill>
                <a:latin typeface="Arial" pitchFamily="34" charset="0"/>
                <a:ea typeface="Arial" pitchFamily="34" charset="-122"/>
                <a:cs typeface="Arial" pitchFamily="34" charset="-120"/>
              </a:rPr>
              <a:t>03</a:t>
            </a:r>
            <a:endParaRPr lang="en-US" sz="1600" dirty="0"/>
          </a:p>
        </p:txBody>
      </p:sp>
      <p:sp>
        <p:nvSpPr>
          <p:cNvPr id="21" name="Text 18"/>
          <p:cNvSpPr/>
          <p:nvPr/>
        </p:nvSpPr>
        <p:spPr>
          <a:xfrm>
            <a:off x="4773168" y="1417320"/>
            <a:ext cx="1700784" cy="182880"/>
          </a:xfrm>
          <a:prstGeom prst="rect">
            <a:avLst/>
          </a:prstGeom>
          <a:noFill/>
          <a:ln/>
        </p:spPr>
        <p:txBody>
          <a:bodyPr wrap="square" rtlCol="0" anchor="ctr"/>
          <a:lstStyle/>
          <a:p>
            <a:pPr indent="0" marL="0">
              <a:buNone/>
            </a:pPr>
            <a:r>
              <a:rPr lang="en-US" sz="750" b="1" dirty="0">
                <a:solidFill>
                  <a:srgbClr val="94A3B8"/>
                </a:solidFill>
                <a:latin typeface="Arial" pitchFamily="34" charset="0"/>
                <a:ea typeface="Arial" pitchFamily="34" charset="-122"/>
                <a:cs typeface="Arial" pitchFamily="34" charset="-120"/>
              </a:rPr>
              <a:t>ACT &amp; EXECUTE</a:t>
            </a:r>
            <a:endParaRPr lang="en-US" sz="750" dirty="0"/>
          </a:p>
        </p:txBody>
      </p:sp>
      <p:sp>
        <p:nvSpPr>
          <p:cNvPr id="22" name="Text 19"/>
          <p:cNvSpPr/>
          <p:nvPr/>
        </p:nvSpPr>
        <p:spPr>
          <a:xfrm>
            <a:off x="4773168" y="1600200"/>
            <a:ext cx="1700784" cy="228600"/>
          </a:xfrm>
          <a:prstGeom prst="rect">
            <a:avLst/>
          </a:prstGeom>
          <a:noFill/>
          <a:ln/>
        </p:spPr>
        <p:txBody>
          <a:bodyPr wrap="square" rtlCol="0" anchor="ctr"/>
          <a:lstStyle/>
          <a:p>
            <a:pPr indent="0" marL="0">
              <a:buNone/>
            </a:pPr>
            <a:r>
              <a:rPr lang="en-US" sz="1000" b="1" dirty="0">
                <a:solidFill>
                  <a:srgbClr val="F8FAFC"/>
                </a:solidFill>
                <a:latin typeface="Arial" pitchFamily="34" charset="0"/>
                <a:ea typeface="Arial" pitchFamily="34" charset="-122"/>
                <a:cs typeface="Arial" pitchFamily="34" charset="-120"/>
              </a:rPr>
              <a:t>Invoke Bound Tools</a:t>
            </a:r>
            <a:endParaRPr lang="en-US" sz="1000" dirty="0"/>
          </a:p>
        </p:txBody>
      </p:sp>
      <p:sp>
        <p:nvSpPr>
          <p:cNvPr id="23" name="Text 20"/>
          <p:cNvSpPr/>
          <p:nvPr/>
        </p:nvSpPr>
        <p:spPr>
          <a:xfrm>
            <a:off x="4773168" y="1874520"/>
            <a:ext cx="1700784" cy="1051560"/>
          </a:xfrm>
          <a:prstGeom prst="rect">
            <a:avLst/>
          </a:prstGeom>
          <a:noFill/>
          <a:ln/>
        </p:spPr>
        <p:txBody>
          <a:bodyPr wrap="square" rtlCol="0" anchor="ctr"/>
          <a:lstStyle/>
          <a:p>
            <a:pPr indent="0" marL="0">
              <a:lnSpc>
                <a:spcPts val="1100"/>
              </a:lnSpc>
              <a:buNone/>
            </a:pPr>
            <a:r>
              <a:rPr lang="en-US" sz="750" dirty="0">
                <a:solidFill>
                  <a:srgbClr val="CBD5E1"/>
                </a:solidFill>
                <a:latin typeface="Arial" pitchFamily="34" charset="0"/>
                <a:ea typeface="Arial" pitchFamily="34" charset="-122"/>
                <a:cs typeface="Arial" pitchFamily="34" charset="-120"/>
              </a:rPr>
              <a:t>Dispatches execution to the Salesforce runtime (Flow, Apex @InvocableMethod, or API) with strict parameter validation.</a:t>
            </a:r>
            <a:endParaRPr lang="en-US" sz="750" dirty="0"/>
          </a:p>
        </p:txBody>
      </p:sp>
      <p:sp>
        <p:nvSpPr>
          <p:cNvPr id="24" name="Shape 21"/>
          <p:cNvSpPr/>
          <p:nvPr/>
        </p:nvSpPr>
        <p:spPr>
          <a:xfrm>
            <a:off x="6766560" y="1024128"/>
            <a:ext cx="1920240" cy="2011680"/>
          </a:xfrm>
          <a:prstGeom prst="roundRect">
            <a:avLst>
              <a:gd name="adj" fmla="val 3810"/>
            </a:avLst>
          </a:prstGeom>
          <a:solidFill>
            <a:srgbClr val="131B2E"/>
          </a:solidFill>
          <a:ln w="12700">
            <a:solidFill>
              <a:srgbClr val="10B981"/>
            </a:solidFill>
            <a:prstDash val="solid"/>
          </a:ln>
        </p:spPr>
      </p:sp>
      <p:sp>
        <p:nvSpPr>
          <p:cNvPr id="25" name="Text 22"/>
          <p:cNvSpPr/>
          <p:nvPr/>
        </p:nvSpPr>
        <p:spPr>
          <a:xfrm>
            <a:off x="6876288" y="1097280"/>
            <a:ext cx="731520" cy="274320"/>
          </a:xfrm>
          <a:prstGeom prst="rect">
            <a:avLst/>
          </a:prstGeom>
          <a:noFill/>
          <a:ln/>
        </p:spPr>
        <p:txBody>
          <a:bodyPr wrap="square" rtlCol="0" anchor="ctr"/>
          <a:lstStyle/>
          <a:p>
            <a:pPr indent="0" marL="0">
              <a:buNone/>
            </a:pPr>
            <a:r>
              <a:rPr lang="en-US" sz="1600" b="1" dirty="0">
                <a:solidFill>
                  <a:srgbClr val="10B981"/>
                </a:solidFill>
                <a:latin typeface="Arial" pitchFamily="34" charset="0"/>
                <a:ea typeface="Arial" pitchFamily="34" charset="-122"/>
                <a:cs typeface="Arial" pitchFamily="34" charset="-120"/>
              </a:rPr>
              <a:t>04</a:t>
            </a:r>
            <a:endParaRPr lang="en-US" sz="1600" dirty="0"/>
          </a:p>
        </p:txBody>
      </p:sp>
      <p:sp>
        <p:nvSpPr>
          <p:cNvPr id="26" name="Text 23"/>
          <p:cNvSpPr/>
          <p:nvPr/>
        </p:nvSpPr>
        <p:spPr>
          <a:xfrm>
            <a:off x="6876288" y="1417320"/>
            <a:ext cx="1700784" cy="182880"/>
          </a:xfrm>
          <a:prstGeom prst="rect">
            <a:avLst/>
          </a:prstGeom>
          <a:noFill/>
          <a:ln/>
        </p:spPr>
        <p:txBody>
          <a:bodyPr wrap="square" rtlCol="0" anchor="ctr"/>
          <a:lstStyle/>
          <a:p>
            <a:pPr indent="0" marL="0">
              <a:buNone/>
            </a:pPr>
            <a:r>
              <a:rPr lang="en-US" sz="750" b="1" dirty="0">
                <a:solidFill>
                  <a:srgbClr val="94A3B8"/>
                </a:solidFill>
                <a:latin typeface="Arial" pitchFamily="34" charset="0"/>
                <a:ea typeface="Arial" pitchFamily="34" charset="-122"/>
                <a:cs typeface="Arial" pitchFamily="34" charset="-120"/>
              </a:rPr>
              <a:t>OBSERVE &amp; ITERATE</a:t>
            </a:r>
            <a:endParaRPr lang="en-US" sz="750" dirty="0"/>
          </a:p>
        </p:txBody>
      </p:sp>
      <p:sp>
        <p:nvSpPr>
          <p:cNvPr id="27" name="Text 24"/>
          <p:cNvSpPr/>
          <p:nvPr/>
        </p:nvSpPr>
        <p:spPr>
          <a:xfrm>
            <a:off x="6876288" y="1600200"/>
            <a:ext cx="1700784" cy="228600"/>
          </a:xfrm>
          <a:prstGeom prst="rect">
            <a:avLst/>
          </a:prstGeom>
          <a:noFill/>
          <a:ln/>
        </p:spPr>
        <p:txBody>
          <a:bodyPr wrap="square" rtlCol="0" anchor="ctr"/>
          <a:lstStyle/>
          <a:p>
            <a:pPr indent="0" marL="0">
              <a:buNone/>
            </a:pPr>
            <a:r>
              <a:rPr lang="en-US" sz="1000" b="1" dirty="0">
                <a:solidFill>
                  <a:srgbClr val="F8FAFC"/>
                </a:solidFill>
                <a:latin typeface="Arial" pitchFamily="34" charset="0"/>
                <a:ea typeface="Arial" pitchFamily="34" charset="-122"/>
                <a:cs typeface="Arial" pitchFamily="34" charset="-120"/>
              </a:rPr>
              <a:t>Evaluate &amp; Synthesize</a:t>
            </a:r>
            <a:endParaRPr lang="en-US" sz="1000" dirty="0"/>
          </a:p>
        </p:txBody>
      </p:sp>
      <p:sp>
        <p:nvSpPr>
          <p:cNvPr id="28" name="Text 25"/>
          <p:cNvSpPr/>
          <p:nvPr/>
        </p:nvSpPr>
        <p:spPr>
          <a:xfrm>
            <a:off x="6876288" y="1874520"/>
            <a:ext cx="1700784" cy="1051560"/>
          </a:xfrm>
          <a:prstGeom prst="rect">
            <a:avLst/>
          </a:prstGeom>
          <a:noFill/>
          <a:ln/>
        </p:spPr>
        <p:txBody>
          <a:bodyPr wrap="square" rtlCol="0" anchor="ctr"/>
          <a:lstStyle/>
          <a:p>
            <a:pPr indent="0" marL="0">
              <a:lnSpc>
                <a:spcPts val="1100"/>
              </a:lnSpc>
              <a:buNone/>
            </a:pPr>
            <a:r>
              <a:rPr lang="en-US" sz="750" dirty="0">
                <a:solidFill>
                  <a:srgbClr val="CBD5E1"/>
                </a:solidFill>
                <a:latin typeface="Arial" pitchFamily="34" charset="0"/>
                <a:ea typeface="Arial" pitchFamily="34" charset="-122"/>
                <a:cs typeface="Arial" pitchFamily="34" charset="-120"/>
              </a:rPr>
              <a:t>Ingests the tool return payload. If goal is satisfied, synthesizes final natural response; if missing data, loops back to Phase 2.</a:t>
            </a:r>
            <a:endParaRPr lang="en-US" sz="750" dirty="0"/>
          </a:p>
        </p:txBody>
      </p:sp>
      <p:sp>
        <p:nvSpPr>
          <p:cNvPr id="29" name="Shape 26"/>
          <p:cNvSpPr/>
          <p:nvPr/>
        </p:nvSpPr>
        <p:spPr>
          <a:xfrm>
            <a:off x="457200" y="3154680"/>
            <a:ext cx="8229600" cy="1463040"/>
          </a:xfrm>
          <a:prstGeom prst="roundRect">
            <a:avLst>
              <a:gd name="adj" fmla="val 3750"/>
            </a:avLst>
          </a:prstGeom>
          <a:solidFill>
            <a:srgbClr val="080C14"/>
          </a:solidFill>
          <a:ln w="10160">
            <a:solidFill>
              <a:srgbClr val="233354"/>
            </a:solidFill>
            <a:prstDash val="solid"/>
          </a:ln>
        </p:spPr>
      </p:sp>
      <p:sp>
        <p:nvSpPr>
          <p:cNvPr id="30" name="Text 27"/>
          <p:cNvSpPr/>
          <p:nvPr/>
        </p:nvSpPr>
        <p:spPr>
          <a:xfrm>
            <a:off x="640080" y="3218688"/>
            <a:ext cx="4114800" cy="182880"/>
          </a:xfrm>
          <a:prstGeom prst="rect">
            <a:avLst/>
          </a:prstGeom>
          <a:noFill/>
          <a:ln/>
        </p:spPr>
        <p:txBody>
          <a:bodyPr wrap="square" rtlCol="0" anchor="ctr"/>
          <a:lstStyle/>
          <a:p>
            <a:pPr indent="0" marL="0">
              <a:buNone/>
            </a:pPr>
            <a:r>
              <a:rPr lang="en-US" sz="750" b="1" dirty="0">
                <a:solidFill>
                  <a:srgbClr val="00A1E0"/>
                </a:solidFill>
                <a:latin typeface="Arial" pitchFamily="34" charset="0"/>
                <a:ea typeface="Arial" pitchFamily="34" charset="-122"/>
                <a:cs typeface="Arial" pitchFamily="34" charset="-120"/>
              </a:rPr>
              <a:t>REAL-WORLD REACT LOG TRACE IN ACTION:</a:t>
            </a:r>
            <a:endParaRPr lang="en-US" sz="750" dirty="0"/>
          </a:p>
        </p:txBody>
      </p:sp>
      <p:sp>
        <p:nvSpPr>
          <p:cNvPr id="31" name="Text 28"/>
          <p:cNvSpPr/>
          <p:nvPr/>
        </p:nvSpPr>
        <p:spPr>
          <a:xfrm>
            <a:off x="640080" y="3429000"/>
            <a:ext cx="7863840" cy="1115568"/>
          </a:xfrm>
          <a:prstGeom prst="rect">
            <a:avLst/>
          </a:prstGeom>
          <a:noFill/>
          <a:ln/>
        </p:spPr>
        <p:txBody>
          <a:bodyPr wrap="square" rtlCol="0" anchor="ctr"/>
          <a:lstStyle/>
          <a:p>
            <a:pPr indent="0" marL="0">
              <a:lnSpc>
                <a:spcPts val="1000"/>
              </a:lnSpc>
              <a:buNone/>
            </a:pPr>
            <a:r>
              <a:rPr lang="en-US" sz="700" dirty="0">
                <a:solidFill>
                  <a:srgbClr val="CBD5E1"/>
                </a:solidFill>
                <a:latin typeface="Consolas" pitchFamily="34" charset="0"/>
                <a:ea typeface="Consolas" pitchFamily="34" charset="-122"/>
                <a:cs typeface="Consolas" pitchFamily="34" charset="-120"/>
              </a:rPr>
              <a:t>[USER]: "What's the status of case #0001024 and can you bump it to High priority?"</a:t>
            </a:r>
            <a:endParaRPr lang="en-US" sz="700" dirty="0"/>
          </a:p>
          <a:p>
            <a:pPr indent="0" marL="0">
              <a:lnSpc>
                <a:spcPts val="1000"/>
              </a:lnSpc>
              <a:buNone/>
            </a:pPr>
            <a:r>
              <a:rPr lang="en-US" sz="700" dirty="0">
                <a:solidFill>
                  <a:srgbClr val="CBD5E1"/>
                </a:solidFill>
                <a:latin typeface="Consolas" pitchFamily="34" charset="0"/>
                <a:ea typeface="Consolas" pitchFamily="34" charset="-122"/>
                <a:cs typeface="Consolas" pitchFamily="34" charset="-120"/>
              </a:rPr>
              <a:t>[THOUGHT]: User wants Case 0001024 status and priority change. Query Case 0001024 first to inspect current state.</a:t>
            </a:r>
            <a:endParaRPr lang="en-US" sz="700" dirty="0"/>
          </a:p>
          <a:p>
            <a:pPr indent="0" marL="0">
              <a:lnSpc>
                <a:spcPts val="1000"/>
              </a:lnSpc>
              <a:buNone/>
            </a:pPr>
            <a:r>
              <a:rPr lang="en-US" sz="700" dirty="0">
                <a:solidFill>
                  <a:srgbClr val="CBD5E1"/>
                </a:solidFill>
                <a:latin typeface="Consolas" pitchFamily="34" charset="0"/>
                <a:ea typeface="Consolas" pitchFamily="34" charset="-122"/>
                <a:cs typeface="Consolas" pitchFamily="34" charset="-120"/>
              </a:rPr>
              <a:t>[ACTION]: Invoke Flow "Get_Case_Details" with argument { caseNumber: "0001024" }</a:t>
            </a:r>
            <a:endParaRPr lang="en-US" sz="700" dirty="0"/>
          </a:p>
          <a:p>
            <a:pPr indent="0" marL="0">
              <a:lnSpc>
                <a:spcPts val="1000"/>
              </a:lnSpc>
              <a:buNone/>
            </a:pPr>
            <a:r>
              <a:rPr lang="en-US" sz="700" dirty="0">
                <a:solidFill>
                  <a:srgbClr val="CBD5E1"/>
                </a:solidFill>
                <a:latin typeface="Consolas" pitchFamily="34" charset="0"/>
                <a:ea typeface="Consolas" pitchFamily="34" charset="-122"/>
                <a:cs typeface="Consolas" pitchFamily="34" charset="-120"/>
              </a:rPr>
              <a:t>[OBSERVATION]: Case found: { Subject: "Server Down", Status: "New", Priority: "Medium" }</a:t>
            </a:r>
            <a:endParaRPr lang="en-US" sz="700" dirty="0"/>
          </a:p>
          <a:p>
            <a:pPr indent="0" marL="0">
              <a:lnSpc>
                <a:spcPts val="1000"/>
              </a:lnSpc>
              <a:buNone/>
            </a:pPr>
            <a:r>
              <a:rPr lang="en-US" sz="700" dirty="0">
                <a:solidFill>
                  <a:srgbClr val="CBD5E1"/>
                </a:solidFill>
                <a:latin typeface="Consolas" pitchFamily="34" charset="0"/>
                <a:ea typeface="Consolas" pitchFamily="34" charset="-122"/>
                <a:cs typeface="Consolas" pitchFamily="34" charset="-120"/>
              </a:rPr>
              <a:t>[THOUGHT]: Status is "New". Now update Priority to "High" using the Update_Case_Priority action.</a:t>
            </a:r>
            <a:endParaRPr lang="en-US" sz="700" dirty="0"/>
          </a:p>
          <a:p>
            <a:pPr indent="0" marL="0">
              <a:lnSpc>
                <a:spcPts val="1000"/>
              </a:lnSpc>
              <a:buNone/>
            </a:pPr>
            <a:r>
              <a:rPr lang="en-US" sz="700" dirty="0">
                <a:solidFill>
                  <a:srgbClr val="CBD5E1"/>
                </a:solidFill>
                <a:latin typeface="Consolas" pitchFamily="34" charset="0"/>
                <a:ea typeface="Consolas" pitchFamily="34" charset="-122"/>
                <a:cs typeface="Consolas" pitchFamily="34" charset="-120"/>
              </a:rPr>
              <a:t>[ACTION]: Invoke Flow "Update_Case_Priority" with argument { caseId: "500xx...", priority: "High" }</a:t>
            </a:r>
            <a:endParaRPr lang="en-US" sz="700" dirty="0"/>
          </a:p>
          <a:p>
            <a:pPr indent="0" marL="0">
              <a:lnSpc>
                <a:spcPts val="1000"/>
              </a:lnSpc>
              <a:buNone/>
            </a:pPr>
            <a:r>
              <a:rPr lang="en-US" sz="700" dirty="0">
                <a:solidFill>
                  <a:srgbClr val="CBD5E1"/>
                </a:solidFill>
                <a:latin typeface="Consolas" pitchFamily="34" charset="0"/>
                <a:ea typeface="Consolas" pitchFamily="34" charset="-122"/>
                <a:cs typeface="Consolas" pitchFamily="34" charset="-120"/>
              </a:rPr>
              <a:t>[RESPONSE]: "Case #0001024 ('Server Down') is currently New. I have escalated the priority to High as requested."</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457200" y="256032"/>
            <a:ext cx="1097280" cy="27432"/>
          </a:xfrm>
          <a:prstGeom prst="rect">
            <a:avLst/>
          </a:prstGeom>
          <a:solidFill>
            <a:srgbClr val="00A1E0"/>
          </a:solidFill>
          <a:ln w="12700">
            <a:solidFill>
              <a:srgbClr val="00A1E0"/>
            </a:solidFill>
            <a:prstDash val="solid"/>
          </a:ln>
        </p:spPr>
      </p:sp>
      <p:sp>
        <p:nvSpPr>
          <p:cNvPr id="3" name="Text 1"/>
          <p:cNvSpPr/>
          <p:nvPr/>
        </p:nvSpPr>
        <p:spPr>
          <a:xfrm>
            <a:off x="457200" y="320040"/>
            <a:ext cx="8229600" cy="164592"/>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COGNITIVE ARCHITECTURE</a:t>
            </a:r>
            <a:endParaRPr lang="en-US" sz="800" dirty="0"/>
          </a:p>
        </p:txBody>
      </p:sp>
      <p:sp>
        <p:nvSpPr>
          <p:cNvPr id="4" name="Text 2"/>
          <p:cNvSpPr/>
          <p:nvPr/>
        </p:nvSpPr>
        <p:spPr>
          <a:xfrm>
            <a:off x="457200" y="493776"/>
            <a:ext cx="8229600" cy="320040"/>
          </a:xfrm>
          <a:prstGeom prst="rect">
            <a:avLst/>
          </a:prstGeom>
          <a:noFill/>
          <a:ln/>
        </p:spPr>
        <p:txBody>
          <a:bodyPr wrap="square" rtlCol="0" anchor="ctr"/>
          <a:lstStyle/>
          <a:p>
            <a:pPr indent="0" marL="0">
              <a:buNone/>
            </a:pPr>
            <a:r>
              <a:rPr lang="en-US" sz="1500" b="1" dirty="0">
                <a:solidFill>
                  <a:srgbClr val="F8FAFC"/>
                </a:solidFill>
                <a:latin typeface="Arial" pitchFamily="34" charset="0"/>
                <a:ea typeface="Arial" pitchFamily="34" charset="-122"/>
                <a:cs typeface="Arial" pitchFamily="34" charset="-120"/>
              </a:rPr>
              <a:t>ReAct Trace Deconstruction: Step-by-Step Walkthrough</a:t>
            </a:r>
            <a:endParaRPr lang="en-US" sz="1500" dirty="0"/>
          </a:p>
        </p:txBody>
      </p:sp>
      <p:sp>
        <p:nvSpPr>
          <p:cNvPr id="5" name="Shape 3"/>
          <p:cNvSpPr/>
          <p:nvPr/>
        </p:nvSpPr>
        <p:spPr>
          <a:xfrm>
            <a:off x="457200" y="859536"/>
            <a:ext cx="8229600" cy="0"/>
          </a:xfrm>
          <a:prstGeom prst="line">
            <a:avLst/>
          </a:prstGeom>
          <a:noFill/>
          <a:ln w="12700">
            <a:solidFill>
              <a:srgbClr val="1E293B"/>
            </a:solidFill>
            <a:prstDash val="solid"/>
          </a:ln>
        </p:spPr>
      </p:sp>
      <p:sp>
        <p:nvSpPr>
          <p:cNvPr id="6" name="Text 4"/>
          <p:cNvSpPr/>
          <p:nvPr/>
        </p:nvSpPr>
        <p:spPr>
          <a:xfrm>
            <a:off x="457200" y="4791456"/>
            <a:ext cx="6400800" cy="228600"/>
          </a:xfrm>
          <a:prstGeom prst="rect">
            <a:avLst/>
          </a:prstGeom>
          <a:noFill/>
          <a:ln/>
        </p:spPr>
        <p:txBody>
          <a:bodyPr wrap="square" rtlCol="0" anchor="ctr"/>
          <a:lstStyle/>
          <a:p>
            <a:pPr indent="0" marL="0">
              <a:buNone/>
            </a:pPr>
            <a:r>
              <a:rPr lang="en-US" sz="750" dirty="0">
                <a:solidFill>
                  <a:srgbClr val="94A3B8"/>
                </a:solidFill>
                <a:latin typeface="Arial" pitchFamily="34" charset="0"/>
                <a:ea typeface="Arial" pitchFamily="34" charset="-122"/>
                <a:cs typeface="Arial" pitchFamily="34" charset="-120"/>
              </a:rPr>
              <a:t>Salesforce Agentforce &amp; Data 360 Enablement  •  Day 1: Atlas Reasoning Engine &amp; ReAct Loop</a:t>
            </a:r>
            <a:endParaRPr lang="en-US" sz="750" dirty="0"/>
          </a:p>
        </p:txBody>
      </p:sp>
      <p:sp>
        <p:nvSpPr>
          <p:cNvPr id="7" name="Text 5"/>
          <p:cNvSpPr/>
          <p:nvPr/>
        </p:nvSpPr>
        <p:spPr>
          <a:xfrm>
            <a:off x="7315200" y="4791456"/>
            <a:ext cx="1371600" cy="228600"/>
          </a:xfrm>
          <a:prstGeom prst="rect">
            <a:avLst/>
          </a:prstGeom>
          <a:noFill/>
          <a:ln/>
        </p:spPr>
        <p:txBody>
          <a:bodyPr wrap="square" rtlCol="0" anchor="ctr"/>
          <a:lstStyle/>
          <a:p>
            <a:pPr algn="r" indent="0" marL="0">
              <a:buNone/>
            </a:pPr>
            <a:r>
              <a:rPr lang="en-US" sz="750" b="1" dirty="0">
                <a:solidFill>
                  <a:srgbClr val="00A1E0"/>
                </a:solidFill>
                <a:latin typeface="Arial" pitchFamily="34" charset="0"/>
                <a:ea typeface="Arial" pitchFamily="34" charset="-122"/>
                <a:cs typeface="Arial" pitchFamily="34" charset="-120"/>
              </a:rPr>
              <a:t>7 / 19</a:t>
            </a:r>
            <a:endParaRPr lang="en-US" sz="750" dirty="0"/>
          </a:p>
        </p:txBody>
      </p:sp>
      <p:sp>
        <p:nvSpPr>
          <p:cNvPr id="9" name="Shape 6"/>
          <p:cNvSpPr/>
          <p:nvPr/>
        </p:nvSpPr>
        <p:spPr>
          <a:xfrm>
            <a:off x="457200" y="1024128"/>
            <a:ext cx="3977640" cy="3566160"/>
          </a:xfrm>
          <a:prstGeom prst="roundRect">
            <a:avLst>
              <a:gd name="adj" fmla="val 2051"/>
            </a:avLst>
          </a:prstGeom>
          <a:solidFill>
            <a:srgbClr val="131B2E"/>
          </a:solidFill>
          <a:ln w="12700">
            <a:solidFill>
              <a:srgbClr val="00A1E0"/>
            </a:solidFill>
            <a:prstDash val="solid"/>
          </a:ln>
        </p:spPr>
      </p:sp>
      <p:sp>
        <p:nvSpPr>
          <p:cNvPr id="10" name="Text 7"/>
          <p:cNvSpPr/>
          <p:nvPr/>
        </p:nvSpPr>
        <p:spPr>
          <a:xfrm>
            <a:off x="640080" y="1143000"/>
            <a:ext cx="3611880" cy="201168"/>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CYCLE 1: LOOKUP &amp; CONTEXT GATHERING</a:t>
            </a:r>
            <a:endParaRPr lang="en-US" sz="800" dirty="0"/>
          </a:p>
        </p:txBody>
      </p:sp>
      <p:sp>
        <p:nvSpPr>
          <p:cNvPr id="11" name="Text 8"/>
          <p:cNvSpPr/>
          <p:nvPr/>
        </p:nvSpPr>
        <p:spPr>
          <a:xfrm>
            <a:off x="640080" y="1371600"/>
            <a:ext cx="3611880" cy="228600"/>
          </a:xfrm>
          <a:prstGeom prst="rect">
            <a:avLst/>
          </a:prstGeom>
          <a:noFill/>
          <a:ln/>
        </p:spPr>
        <p:txBody>
          <a:bodyPr wrap="square" rtlCol="0" anchor="ctr"/>
          <a:lstStyle/>
          <a:p>
            <a:pPr indent="0" marL="0">
              <a:buNone/>
            </a:pPr>
            <a:r>
              <a:rPr lang="en-US" sz="1050" b="1" dirty="0">
                <a:solidFill>
                  <a:srgbClr val="F8FAFC"/>
                </a:solidFill>
                <a:latin typeface="Arial" pitchFamily="34" charset="0"/>
                <a:ea typeface="Arial" pitchFamily="34" charset="-122"/>
                <a:cs typeface="Arial" pitchFamily="34" charset="-120"/>
              </a:rPr>
              <a:t>Step 1: Extract Parameters &amp; Fetch CRM Record</a:t>
            </a:r>
            <a:endParaRPr lang="en-US" sz="1050" dirty="0"/>
          </a:p>
        </p:txBody>
      </p:sp>
      <p:sp>
        <p:nvSpPr>
          <p:cNvPr id="12" name="Text 9"/>
          <p:cNvSpPr/>
          <p:nvPr/>
        </p:nvSpPr>
        <p:spPr>
          <a:xfrm>
            <a:off x="640080" y="1664208"/>
            <a:ext cx="3611880" cy="2788920"/>
          </a:xfrm>
          <a:prstGeom prst="rect">
            <a:avLst/>
          </a:prstGeom>
          <a:noFill/>
          <a:ln/>
        </p:spPr>
        <p:txBody>
          <a:bodyPr wrap="square" rtlCol="0" anchor="ctr"/>
          <a:lstStyle/>
          <a:p>
            <a:pPr indent="0" marL="0">
              <a:lnSpc>
                <a:spcPts val="1150"/>
              </a:lnSpc>
              <a:buNone/>
            </a:pPr>
            <a:r>
              <a:rPr lang="en-US" sz="780" dirty="0">
                <a:solidFill>
                  <a:srgbClr val="CBD5E1"/>
                </a:solidFill>
                <a:latin typeface="Arial" pitchFamily="34" charset="0"/>
                <a:ea typeface="Arial" pitchFamily="34" charset="-122"/>
                <a:cs typeface="Arial" pitchFamily="34" charset="-120"/>
              </a:rPr>
              <a:t>• Intent Parsing: Atlas identifies two sub-intents: (1) Check Status, (2) Update Priority.</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Entity Extraction: Extracts case identifier "0001024" and cleans trailing punctuation.</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Tool Selection: Determines that "Get_Case_Details" is the prerequisite action.</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Execution Payload: Passes { CaseNumber: "0001024" } to the autolaunched Flow.</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Observation Returned: Receives record ID 500xx..., Subject, Status "New", Priority "Medium".</a:t>
            </a:r>
            <a:endParaRPr lang="en-US" sz="780" dirty="0"/>
          </a:p>
        </p:txBody>
      </p:sp>
      <p:sp>
        <p:nvSpPr>
          <p:cNvPr id="13" name="Shape 10"/>
          <p:cNvSpPr/>
          <p:nvPr/>
        </p:nvSpPr>
        <p:spPr>
          <a:xfrm>
            <a:off x="4709160" y="1024128"/>
            <a:ext cx="3977640" cy="3566160"/>
          </a:xfrm>
          <a:prstGeom prst="roundRect">
            <a:avLst>
              <a:gd name="adj" fmla="val 2051"/>
            </a:avLst>
          </a:prstGeom>
          <a:solidFill>
            <a:srgbClr val="131B2E"/>
          </a:solidFill>
          <a:ln w="12700">
            <a:solidFill>
              <a:srgbClr val="10B981"/>
            </a:solidFill>
            <a:prstDash val="solid"/>
          </a:ln>
        </p:spPr>
      </p:sp>
      <p:sp>
        <p:nvSpPr>
          <p:cNvPr id="14" name="Text 11"/>
          <p:cNvSpPr/>
          <p:nvPr/>
        </p:nvSpPr>
        <p:spPr>
          <a:xfrm>
            <a:off x="4892040" y="1143000"/>
            <a:ext cx="3611880" cy="201168"/>
          </a:xfrm>
          <a:prstGeom prst="rect">
            <a:avLst/>
          </a:prstGeom>
          <a:noFill/>
          <a:ln/>
        </p:spPr>
        <p:txBody>
          <a:bodyPr wrap="square" rtlCol="0" anchor="ctr"/>
          <a:lstStyle/>
          <a:p>
            <a:pPr indent="0" marL="0">
              <a:buNone/>
            </a:pPr>
            <a:r>
              <a:rPr lang="en-US" sz="800" b="1" dirty="0">
                <a:solidFill>
                  <a:srgbClr val="10B981"/>
                </a:solidFill>
                <a:latin typeface="Arial" pitchFamily="34" charset="0"/>
                <a:ea typeface="Arial" pitchFamily="34" charset="-122"/>
                <a:cs typeface="Arial" pitchFamily="34" charset="-120"/>
              </a:rPr>
              <a:t>CYCLE 2: MUTATION &amp; FINAL SYNTHESIS</a:t>
            </a:r>
            <a:endParaRPr lang="en-US" sz="800" dirty="0"/>
          </a:p>
        </p:txBody>
      </p:sp>
      <p:sp>
        <p:nvSpPr>
          <p:cNvPr id="15" name="Text 12"/>
          <p:cNvSpPr/>
          <p:nvPr/>
        </p:nvSpPr>
        <p:spPr>
          <a:xfrm>
            <a:off x="4892040" y="1371600"/>
            <a:ext cx="3611880" cy="228600"/>
          </a:xfrm>
          <a:prstGeom prst="rect">
            <a:avLst/>
          </a:prstGeom>
          <a:noFill/>
          <a:ln/>
        </p:spPr>
        <p:txBody>
          <a:bodyPr wrap="square" rtlCol="0" anchor="ctr"/>
          <a:lstStyle/>
          <a:p>
            <a:pPr indent="0" marL="0">
              <a:buNone/>
            </a:pPr>
            <a:r>
              <a:rPr lang="en-US" sz="1050" b="1" dirty="0">
                <a:solidFill>
                  <a:srgbClr val="F8FAFC"/>
                </a:solidFill>
                <a:latin typeface="Arial" pitchFamily="34" charset="0"/>
                <a:ea typeface="Arial" pitchFamily="34" charset="-122"/>
                <a:cs typeface="Arial" pitchFamily="34" charset="-120"/>
              </a:rPr>
              <a:t>Step 2: Execute State Change &amp; Formulate Response</a:t>
            </a:r>
            <a:endParaRPr lang="en-US" sz="1050" dirty="0"/>
          </a:p>
        </p:txBody>
      </p:sp>
      <p:sp>
        <p:nvSpPr>
          <p:cNvPr id="16" name="Text 13"/>
          <p:cNvSpPr/>
          <p:nvPr/>
        </p:nvSpPr>
        <p:spPr>
          <a:xfrm>
            <a:off x="4892040" y="1664208"/>
            <a:ext cx="3611880" cy="2788920"/>
          </a:xfrm>
          <a:prstGeom prst="rect">
            <a:avLst/>
          </a:prstGeom>
          <a:noFill/>
          <a:ln/>
        </p:spPr>
        <p:txBody>
          <a:bodyPr wrap="square" rtlCol="0" anchor="ctr"/>
          <a:lstStyle/>
          <a:p>
            <a:pPr indent="0" marL="0">
              <a:lnSpc>
                <a:spcPts val="1150"/>
              </a:lnSpc>
              <a:buNone/>
            </a:pPr>
            <a:r>
              <a:rPr lang="en-US" sz="780" dirty="0">
                <a:solidFill>
                  <a:srgbClr val="CBD5E1"/>
                </a:solidFill>
                <a:latin typeface="Arial" pitchFamily="34" charset="0"/>
                <a:ea typeface="Arial" pitchFamily="34" charset="-122"/>
                <a:cs typeface="Arial" pitchFamily="34" charset="-120"/>
              </a:rPr>
              <a:t>• Goal Assessment: Sub-intent 1 completed. Sub-intent 2 (Escalate Priority) remains active.</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Context Re-Use: Re-uses Case ID obtained from Cycle 1 as input argument for Cycle 2.</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Tool Mutation: Calls "Update_Case_Priority" passing { caseId: "500xx...", priority: "High" }.</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Verification Check: Flow returns Success: true with updated timestamp.</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Grounded Generation: Synthesizes final conversational response stating confirmed facts only.</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457200" y="256032"/>
            <a:ext cx="1097280" cy="27432"/>
          </a:xfrm>
          <a:prstGeom prst="rect">
            <a:avLst/>
          </a:prstGeom>
          <a:solidFill>
            <a:srgbClr val="00A1E0"/>
          </a:solidFill>
          <a:ln w="12700">
            <a:solidFill>
              <a:srgbClr val="00A1E0"/>
            </a:solidFill>
            <a:prstDash val="solid"/>
          </a:ln>
        </p:spPr>
      </p:sp>
      <p:sp>
        <p:nvSpPr>
          <p:cNvPr id="3" name="Text 1"/>
          <p:cNvSpPr/>
          <p:nvPr/>
        </p:nvSpPr>
        <p:spPr>
          <a:xfrm>
            <a:off x="457200" y="320040"/>
            <a:ext cx="8229600" cy="164592"/>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CORE TAXONOMY</a:t>
            </a:r>
            <a:endParaRPr lang="en-US" sz="800" dirty="0"/>
          </a:p>
        </p:txBody>
      </p:sp>
      <p:sp>
        <p:nvSpPr>
          <p:cNvPr id="4" name="Text 2"/>
          <p:cNvSpPr/>
          <p:nvPr/>
        </p:nvSpPr>
        <p:spPr>
          <a:xfrm>
            <a:off x="457200" y="493776"/>
            <a:ext cx="8229600" cy="320040"/>
          </a:xfrm>
          <a:prstGeom prst="rect">
            <a:avLst/>
          </a:prstGeom>
          <a:noFill/>
          <a:ln/>
        </p:spPr>
        <p:txBody>
          <a:bodyPr wrap="square" rtlCol="0" anchor="ctr"/>
          <a:lstStyle/>
          <a:p>
            <a:pPr indent="0" marL="0">
              <a:buNone/>
            </a:pPr>
            <a:r>
              <a:rPr lang="en-US" sz="1500" b="1" dirty="0">
                <a:solidFill>
                  <a:srgbClr val="F8FAFC"/>
                </a:solidFill>
                <a:latin typeface="Arial" pitchFamily="34" charset="0"/>
                <a:ea typeface="Arial" pitchFamily="34" charset="-122"/>
                <a:cs typeface="Arial" pitchFamily="34" charset="-120"/>
              </a:rPr>
              <a:t>The 3 Architecture Pillars: Agent, Topic, and Action</a:t>
            </a:r>
            <a:endParaRPr lang="en-US" sz="1500" dirty="0"/>
          </a:p>
        </p:txBody>
      </p:sp>
      <p:sp>
        <p:nvSpPr>
          <p:cNvPr id="5" name="Shape 3"/>
          <p:cNvSpPr/>
          <p:nvPr/>
        </p:nvSpPr>
        <p:spPr>
          <a:xfrm>
            <a:off x="457200" y="859536"/>
            <a:ext cx="8229600" cy="0"/>
          </a:xfrm>
          <a:prstGeom prst="line">
            <a:avLst/>
          </a:prstGeom>
          <a:noFill/>
          <a:ln w="12700">
            <a:solidFill>
              <a:srgbClr val="1E293B"/>
            </a:solidFill>
            <a:prstDash val="solid"/>
          </a:ln>
        </p:spPr>
      </p:sp>
      <p:sp>
        <p:nvSpPr>
          <p:cNvPr id="6" name="Text 4"/>
          <p:cNvSpPr/>
          <p:nvPr/>
        </p:nvSpPr>
        <p:spPr>
          <a:xfrm>
            <a:off x="457200" y="4791456"/>
            <a:ext cx="6400800" cy="228600"/>
          </a:xfrm>
          <a:prstGeom prst="rect">
            <a:avLst/>
          </a:prstGeom>
          <a:noFill/>
          <a:ln/>
        </p:spPr>
        <p:txBody>
          <a:bodyPr wrap="square" rtlCol="0" anchor="ctr"/>
          <a:lstStyle/>
          <a:p>
            <a:pPr indent="0" marL="0">
              <a:buNone/>
            </a:pPr>
            <a:r>
              <a:rPr lang="en-US" sz="750" dirty="0">
                <a:solidFill>
                  <a:srgbClr val="94A3B8"/>
                </a:solidFill>
                <a:latin typeface="Arial" pitchFamily="34" charset="0"/>
                <a:ea typeface="Arial" pitchFamily="34" charset="-122"/>
                <a:cs typeface="Arial" pitchFamily="34" charset="-120"/>
              </a:rPr>
              <a:t>Salesforce Agentforce &amp; Data 360 Enablement  •  Day 1: Atlas Reasoning Engine &amp; ReAct Loop</a:t>
            </a:r>
            <a:endParaRPr lang="en-US" sz="750" dirty="0"/>
          </a:p>
        </p:txBody>
      </p:sp>
      <p:sp>
        <p:nvSpPr>
          <p:cNvPr id="7" name="Text 5"/>
          <p:cNvSpPr/>
          <p:nvPr/>
        </p:nvSpPr>
        <p:spPr>
          <a:xfrm>
            <a:off x="7315200" y="4791456"/>
            <a:ext cx="1371600" cy="228600"/>
          </a:xfrm>
          <a:prstGeom prst="rect">
            <a:avLst/>
          </a:prstGeom>
          <a:noFill/>
          <a:ln/>
        </p:spPr>
        <p:txBody>
          <a:bodyPr wrap="square" rtlCol="0" anchor="ctr"/>
          <a:lstStyle/>
          <a:p>
            <a:pPr algn="r" indent="0" marL="0">
              <a:buNone/>
            </a:pPr>
            <a:r>
              <a:rPr lang="en-US" sz="750" b="1" dirty="0">
                <a:solidFill>
                  <a:srgbClr val="00A1E0"/>
                </a:solidFill>
                <a:latin typeface="Arial" pitchFamily="34" charset="0"/>
                <a:ea typeface="Arial" pitchFamily="34" charset="-122"/>
                <a:cs typeface="Arial" pitchFamily="34" charset="-120"/>
              </a:rPr>
              <a:t>8 / 19</a:t>
            </a:r>
            <a:endParaRPr lang="en-US" sz="750" dirty="0"/>
          </a:p>
        </p:txBody>
      </p:sp>
      <p:sp>
        <p:nvSpPr>
          <p:cNvPr id="9" name="Shape 6"/>
          <p:cNvSpPr/>
          <p:nvPr/>
        </p:nvSpPr>
        <p:spPr>
          <a:xfrm>
            <a:off x="457200" y="1024128"/>
            <a:ext cx="2596896" cy="3566160"/>
          </a:xfrm>
          <a:prstGeom prst="roundRect">
            <a:avLst>
              <a:gd name="adj" fmla="val 2817"/>
            </a:avLst>
          </a:prstGeom>
          <a:solidFill>
            <a:srgbClr val="131B2E"/>
          </a:solidFill>
          <a:ln w="15240">
            <a:solidFill>
              <a:srgbClr val="00A1E0"/>
            </a:solidFill>
            <a:prstDash val="solid"/>
          </a:ln>
        </p:spPr>
      </p:sp>
      <p:sp>
        <p:nvSpPr>
          <p:cNvPr id="10" name="Shape 7"/>
          <p:cNvSpPr/>
          <p:nvPr/>
        </p:nvSpPr>
        <p:spPr>
          <a:xfrm>
            <a:off x="457200" y="1024128"/>
            <a:ext cx="2596896" cy="45720"/>
          </a:xfrm>
          <a:prstGeom prst="rect">
            <a:avLst/>
          </a:prstGeom>
          <a:solidFill>
            <a:srgbClr val="00A1E0"/>
          </a:solidFill>
          <a:ln w="12700">
            <a:solidFill>
              <a:srgbClr val="00A1E0"/>
            </a:solidFill>
            <a:prstDash val="solid"/>
          </a:ln>
        </p:spPr>
      </p:sp>
      <p:sp>
        <p:nvSpPr>
          <p:cNvPr id="11" name="Text 8"/>
          <p:cNvSpPr/>
          <p:nvPr/>
        </p:nvSpPr>
        <p:spPr>
          <a:xfrm>
            <a:off x="594360" y="1143000"/>
            <a:ext cx="2322576" cy="274320"/>
          </a:xfrm>
          <a:prstGeom prst="rect">
            <a:avLst/>
          </a:prstGeom>
          <a:noFill/>
          <a:ln/>
        </p:spPr>
        <p:txBody>
          <a:bodyPr wrap="square" rtlCol="0" anchor="ctr"/>
          <a:lstStyle/>
          <a:p>
            <a:pPr indent="0" marL="0">
              <a:buNone/>
            </a:pPr>
            <a:r>
              <a:rPr lang="en-US" sz="1200" b="1" dirty="0">
                <a:solidFill>
                  <a:srgbClr val="F8FAFC"/>
                </a:solidFill>
                <a:latin typeface="Arial" pitchFamily="34" charset="0"/>
                <a:ea typeface="Arial" pitchFamily="34" charset="-122"/>
                <a:cs typeface="Arial" pitchFamily="34" charset="-120"/>
              </a:rPr>
              <a:t>1. The Agent (Persona)</a:t>
            </a:r>
            <a:endParaRPr lang="en-US" sz="1200" dirty="0"/>
          </a:p>
        </p:txBody>
      </p:sp>
      <p:sp>
        <p:nvSpPr>
          <p:cNvPr id="12" name="Text 9"/>
          <p:cNvSpPr/>
          <p:nvPr/>
        </p:nvSpPr>
        <p:spPr>
          <a:xfrm>
            <a:off x="594360" y="1417320"/>
            <a:ext cx="2322576" cy="182880"/>
          </a:xfrm>
          <a:prstGeom prst="rect">
            <a:avLst/>
          </a:prstGeom>
          <a:noFill/>
          <a:ln/>
        </p:spPr>
        <p:txBody>
          <a:bodyPr wrap="square" rtlCol="0" anchor="ctr"/>
          <a:lstStyle/>
          <a:p>
            <a:pPr indent="0" marL="0">
              <a:buNone/>
            </a:pPr>
            <a:r>
              <a:rPr lang="en-US" sz="750" b="1" dirty="0">
                <a:solidFill>
                  <a:srgbClr val="00A1E0"/>
                </a:solidFill>
                <a:latin typeface="Arial" pitchFamily="34" charset="0"/>
                <a:ea typeface="Arial" pitchFamily="34" charset="-122"/>
                <a:cs typeface="Arial" pitchFamily="34" charset="-120"/>
              </a:rPr>
              <a:t>GLOBAL IDENTITY &amp; TONE</a:t>
            </a:r>
            <a:endParaRPr lang="en-US" sz="750" dirty="0"/>
          </a:p>
        </p:txBody>
      </p:sp>
      <p:sp>
        <p:nvSpPr>
          <p:cNvPr id="13" name="Text 10"/>
          <p:cNvSpPr/>
          <p:nvPr/>
        </p:nvSpPr>
        <p:spPr>
          <a:xfrm>
            <a:off x="594360" y="1645920"/>
            <a:ext cx="2322576" cy="594360"/>
          </a:xfrm>
          <a:prstGeom prst="rect">
            <a:avLst/>
          </a:prstGeom>
          <a:noFill/>
          <a:ln/>
        </p:spPr>
        <p:txBody>
          <a:bodyPr wrap="square" rtlCol="0" anchor="ctr"/>
          <a:lstStyle/>
          <a:p>
            <a:pPr indent="0" marL="0">
              <a:lnSpc>
                <a:spcPts val="1100"/>
              </a:lnSpc>
              <a:buNone/>
            </a:pPr>
            <a:r>
              <a:rPr lang="en-US" sz="800" dirty="0">
                <a:solidFill>
                  <a:srgbClr val="94A3B8"/>
                </a:solidFill>
                <a:latin typeface="Arial" pitchFamily="34" charset="0"/>
                <a:ea typeface="Arial" pitchFamily="34" charset="-122"/>
                <a:cs typeface="Arial" pitchFamily="34" charset="-120"/>
              </a:rPr>
              <a:t>Represents the master autonomous entity deployed across channels (Service Cloud, Messaging, Experience Cloud).</a:t>
            </a:r>
            <a:endParaRPr lang="en-US" sz="800" dirty="0"/>
          </a:p>
        </p:txBody>
      </p:sp>
      <p:sp>
        <p:nvSpPr>
          <p:cNvPr id="14" name="Shape 11"/>
          <p:cNvSpPr/>
          <p:nvPr/>
        </p:nvSpPr>
        <p:spPr>
          <a:xfrm>
            <a:off x="594360" y="2286000"/>
            <a:ext cx="2322576" cy="0"/>
          </a:xfrm>
          <a:prstGeom prst="line">
            <a:avLst/>
          </a:prstGeom>
          <a:noFill/>
          <a:ln w="10160">
            <a:solidFill>
              <a:srgbClr val="233354"/>
            </a:solidFill>
            <a:prstDash val="solid"/>
          </a:ln>
        </p:spPr>
      </p:sp>
      <p:sp>
        <p:nvSpPr>
          <p:cNvPr id="15" name="Text 12"/>
          <p:cNvSpPr/>
          <p:nvPr/>
        </p:nvSpPr>
        <p:spPr>
          <a:xfrm>
            <a:off x="594360" y="2377440"/>
            <a:ext cx="2322576" cy="182880"/>
          </a:xfrm>
          <a:prstGeom prst="rect">
            <a:avLst/>
          </a:prstGeom>
          <a:noFill/>
          <a:ln/>
        </p:spPr>
        <p:txBody>
          <a:bodyPr wrap="square" rtlCol="0" anchor="ctr"/>
          <a:lstStyle/>
          <a:p>
            <a:pPr indent="0" marL="0">
              <a:buNone/>
            </a:pPr>
            <a:r>
              <a:rPr lang="en-US" sz="750" b="1" dirty="0">
                <a:solidFill>
                  <a:srgbClr val="38BDF8"/>
                </a:solidFill>
                <a:latin typeface="Arial" pitchFamily="34" charset="0"/>
                <a:ea typeface="Arial" pitchFamily="34" charset="-122"/>
                <a:cs typeface="Arial" pitchFamily="34" charset="-120"/>
              </a:rPr>
              <a:t>KEY ARCHITECTURAL ELEMENTS:</a:t>
            </a:r>
            <a:endParaRPr lang="en-US" sz="750" dirty="0"/>
          </a:p>
        </p:txBody>
      </p:sp>
      <p:sp>
        <p:nvSpPr>
          <p:cNvPr id="16" name="Text 13"/>
          <p:cNvSpPr/>
          <p:nvPr/>
        </p:nvSpPr>
        <p:spPr>
          <a:xfrm>
            <a:off x="594360" y="2606040"/>
            <a:ext cx="2322576" cy="1874520"/>
          </a:xfrm>
          <a:prstGeom prst="rect">
            <a:avLst/>
          </a:prstGeom>
          <a:noFill/>
          <a:ln/>
        </p:spPr>
        <p:txBody>
          <a:bodyPr wrap="square" rtlCol="0" anchor="ctr"/>
          <a:lstStyle/>
          <a:p>
            <a:pPr indent="0" marL="0">
              <a:lnSpc>
                <a:spcPts val="1200"/>
              </a:lnSpc>
              <a:buNone/>
            </a:pPr>
            <a:r>
              <a:rPr lang="en-US" sz="800" dirty="0">
                <a:solidFill>
                  <a:srgbClr val="CBD5E1"/>
                </a:solidFill>
                <a:latin typeface="Arial" pitchFamily="34" charset="0"/>
                <a:ea typeface="Arial" pitchFamily="34" charset="-122"/>
                <a:cs typeface="Arial" pitchFamily="34" charset="-120"/>
              </a:rPr>
              <a:t>•  Master Agent Name &amp; Role Description</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Global Persona &amp; Tone Rules (Professional, concise)</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Strict Enterprise Negative Guardrails (What never to do)</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Multi-language &amp; Session context settings</a:t>
            </a:r>
            <a:endParaRPr lang="en-US" sz="800" dirty="0"/>
          </a:p>
        </p:txBody>
      </p:sp>
      <p:sp>
        <p:nvSpPr>
          <p:cNvPr id="17" name="Shape 14"/>
          <p:cNvSpPr/>
          <p:nvPr/>
        </p:nvSpPr>
        <p:spPr>
          <a:xfrm>
            <a:off x="3273552" y="1024128"/>
            <a:ext cx="2596896" cy="3566160"/>
          </a:xfrm>
          <a:prstGeom prst="roundRect">
            <a:avLst>
              <a:gd name="adj" fmla="val 2817"/>
            </a:avLst>
          </a:prstGeom>
          <a:solidFill>
            <a:srgbClr val="131B2E"/>
          </a:solidFill>
          <a:ln w="15240">
            <a:solidFill>
              <a:srgbClr val="8B5CF6"/>
            </a:solidFill>
            <a:prstDash val="solid"/>
          </a:ln>
        </p:spPr>
      </p:sp>
      <p:sp>
        <p:nvSpPr>
          <p:cNvPr id="18" name="Shape 15"/>
          <p:cNvSpPr/>
          <p:nvPr/>
        </p:nvSpPr>
        <p:spPr>
          <a:xfrm>
            <a:off x="3273552" y="1024128"/>
            <a:ext cx="2596896" cy="45720"/>
          </a:xfrm>
          <a:prstGeom prst="rect">
            <a:avLst/>
          </a:prstGeom>
          <a:solidFill>
            <a:srgbClr val="8B5CF6"/>
          </a:solidFill>
          <a:ln w="12700">
            <a:solidFill>
              <a:srgbClr val="8B5CF6"/>
            </a:solidFill>
            <a:prstDash val="solid"/>
          </a:ln>
        </p:spPr>
      </p:sp>
      <p:sp>
        <p:nvSpPr>
          <p:cNvPr id="19" name="Text 16"/>
          <p:cNvSpPr/>
          <p:nvPr/>
        </p:nvSpPr>
        <p:spPr>
          <a:xfrm>
            <a:off x="3410712" y="1143000"/>
            <a:ext cx="2322576" cy="274320"/>
          </a:xfrm>
          <a:prstGeom prst="rect">
            <a:avLst/>
          </a:prstGeom>
          <a:noFill/>
          <a:ln/>
        </p:spPr>
        <p:txBody>
          <a:bodyPr wrap="square" rtlCol="0" anchor="ctr"/>
          <a:lstStyle/>
          <a:p>
            <a:pPr indent="0" marL="0">
              <a:buNone/>
            </a:pPr>
            <a:r>
              <a:rPr lang="en-US" sz="1200" b="1" dirty="0">
                <a:solidFill>
                  <a:srgbClr val="F8FAFC"/>
                </a:solidFill>
                <a:latin typeface="Arial" pitchFamily="34" charset="0"/>
                <a:ea typeface="Arial" pitchFamily="34" charset="-122"/>
                <a:cs typeface="Arial" pitchFamily="34" charset="-120"/>
              </a:rPr>
              <a:t>2. The Topic (Boundary)</a:t>
            </a:r>
            <a:endParaRPr lang="en-US" sz="1200" dirty="0"/>
          </a:p>
        </p:txBody>
      </p:sp>
      <p:sp>
        <p:nvSpPr>
          <p:cNvPr id="20" name="Text 17"/>
          <p:cNvSpPr/>
          <p:nvPr/>
        </p:nvSpPr>
        <p:spPr>
          <a:xfrm>
            <a:off x="3410712" y="1417320"/>
            <a:ext cx="2322576" cy="182880"/>
          </a:xfrm>
          <a:prstGeom prst="rect">
            <a:avLst/>
          </a:prstGeom>
          <a:noFill/>
          <a:ln/>
        </p:spPr>
        <p:txBody>
          <a:bodyPr wrap="square" rtlCol="0" anchor="ctr"/>
          <a:lstStyle/>
          <a:p>
            <a:pPr indent="0" marL="0">
              <a:buNone/>
            </a:pPr>
            <a:r>
              <a:rPr lang="en-US" sz="750" b="1" dirty="0">
                <a:solidFill>
                  <a:srgbClr val="8B5CF6"/>
                </a:solidFill>
                <a:latin typeface="Arial" pitchFamily="34" charset="0"/>
                <a:ea typeface="Arial" pitchFamily="34" charset="-122"/>
                <a:cs typeface="Arial" pitchFamily="34" charset="-120"/>
              </a:rPr>
              <a:t>DOMAIN SCOPE &amp; RULES</a:t>
            </a:r>
            <a:endParaRPr lang="en-US" sz="750" dirty="0"/>
          </a:p>
        </p:txBody>
      </p:sp>
      <p:sp>
        <p:nvSpPr>
          <p:cNvPr id="21" name="Text 18"/>
          <p:cNvSpPr/>
          <p:nvPr/>
        </p:nvSpPr>
        <p:spPr>
          <a:xfrm>
            <a:off x="3410712" y="1645920"/>
            <a:ext cx="2322576" cy="594360"/>
          </a:xfrm>
          <a:prstGeom prst="rect">
            <a:avLst/>
          </a:prstGeom>
          <a:noFill/>
          <a:ln/>
        </p:spPr>
        <p:txBody>
          <a:bodyPr wrap="square" rtlCol="0" anchor="ctr"/>
          <a:lstStyle/>
          <a:p>
            <a:pPr indent="0" marL="0">
              <a:lnSpc>
                <a:spcPts val="1100"/>
              </a:lnSpc>
              <a:buNone/>
            </a:pPr>
            <a:r>
              <a:rPr lang="en-US" sz="800" dirty="0">
                <a:solidFill>
                  <a:srgbClr val="94A3B8"/>
                </a:solidFill>
                <a:latin typeface="Arial" pitchFamily="34" charset="0"/>
                <a:ea typeface="Arial" pitchFamily="34" charset="-122"/>
                <a:cs typeface="Arial" pitchFamily="34" charset="-120"/>
              </a:rPr>
              <a:t>Logical separation of business domains. Atlas switches between Topics dynamically based on user utterances.</a:t>
            </a:r>
            <a:endParaRPr lang="en-US" sz="800" dirty="0"/>
          </a:p>
        </p:txBody>
      </p:sp>
      <p:sp>
        <p:nvSpPr>
          <p:cNvPr id="22" name="Shape 19"/>
          <p:cNvSpPr/>
          <p:nvPr/>
        </p:nvSpPr>
        <p:spPr>
          <a:xfrm>
            <a:off x="3410712" y="2286000"/>
            <a:ext cx="2322576" cy="0"/>
          </a:xfrm>
          <a:prstGeom prst="line">
            <a:avLst/>
          </a:prstGeom>
          <a:noFill/>
          <a:ln w="10160">
            <a:solidFill>
              <a:srgbClr val="233354"/>
            </a:solidFill>
            <a:prstDash val="solid"/>
          </a:ln>
        </p:spPr>
      </p:sp>
      <p:sp>
        <p:nvSpPr>
          <p:cNvPr id="23" name="Text 20"/>
          <p:cNvSpPr/>
          <p:nvPr/>
        </p:nvSpPr>
        <p:spPr>
          <a:xfrm>
            <a:off x="3410712" y="2377440"/>
            <a:ext cx="2322576" cy="182880"/>
          </a:xfrm>
          <a:prstGeom prst="rect">
            <a:avLst/>
          </a:prstGeom>
          <a:noFill/>
          <a:ln/>
        </p:spPr>
        <p:txBody>
          <a:bodyPr wrap="square" rtlCol="0" anchor="ctr"/>
          <a:lstStyle/>
          <a:p>
            <a:pPr indent="0" marL="0">
              <a:buNone/>
            </a:pPr>
            <a:r>
              <a:rPr lang="en-US" sz="750" b="1" dirty="0">
                <a:solidFill>
                  <a:srgbClr val="38BDF8"/>
                </a:solidFill>
                <a:latin typeface="Arial" pitchFamily="34" charset="0"/>
                <a:ea typeface="Arial" pitchFamily="34" charset="-122"/>
                <a:cs typeface="Arial" pitchFamily="34" charset="-120"/>
              </a:rPr>
              <a:t>KEY ARCHITECTURAL ELEMENTS:</a:t>
            </a:r>
            <a:endParaRPr lang="en-US" sz="750" dirty="0"/>
          </a:p>
        </p:txBody>
      </p:sp>
      <p:sp>
        <p:nvSpPr>
          <p:cNvPr id="24" name="Text 21"/>
          <p:cNvSpPr/>
          <p:nvPr/>
        </p:nvSpPr>
        <p:spPr>
          <a:xfrm>
            <a:off x="3410712" y="2606040"/>
            <a:ext cx="2322576" cy="1874520"/>
          </a:xfrm>
          <a:prstGeom prst="rect">
            <a:avLst/>
          </a:prstGeom>
          <a:noFill/>
          <a:ln/>
        </p:spPr>
        <p:txBody>
          <a:bodyPr wrap="square" rtlCol="0" anchor="ctr"/>
          <a:lstStyle/>
          <a:p>
            <a:pPr indent="0" marL="0">
              <a:lnSpc>
                <a:spcPts val="1200"/>
              </a:lnSpc>
              <a:buNone/>
            </a:pPr>
            <a:r>
              <a:rPr lang="en-US" sz="800" dirty="0">
                <a:solidFill>
                  <a:srgbClr val="CBD5E1"/>
                </a:solidFill>
                <a:latin typeface="Arial" pitchFamily="34" charset="0"/>
                <a:ea typeface="Arial" pitchFamily="34" charset="-122"/>
                <a:cs typeface="Arial" pitchFamily="34" charset="-120"/>
              </a:rPr>
              <a:t>•  High-Precision Semantic Classification Description</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Scope Boundaries: Explicitly defines IN vs OUT of scope</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Topic-specific instructions &amp; procedural rules</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Best Practice: 3 to 7 focused Topics per Agent</a:t>
            </a:r>
            <a:endParaRPr lang="en-US" sz="800" dirty="0"/>
          </a:p>
        </p:txBody>
      </p:sp>
      <p:sp>
        <p:nvSpPr>
          <p:cNvPr id="25" name="Shape 22"/>
          <p:cNvSpPr/>
          <p:nvPr/>
        </p:nvSpPr>
        <p:spPr>
          <a:xfrm>
            <a:off x="6089904" y="1024128"/>
            <a:ext cx="2596896" cy="3566160"/>
          </a:xfrm>
          <a:prstGeom prst="roundRect">
            <a:avLst>
              <a:gd name="adj" fmla="val 2817"/>
            </a:avLst>
          </a:prstGeom>
          <a:solidFill>
            <a:srgbClr val="131B2E"/>
          </a:solidFill>
          <a:ln w="15240">
            <a:solidFill>
              <a:srgbClr val="10B981"/>
            </a:solidFill>
            <a:prstDash val="solid"/>
          </a:ln>
        </p:spPr>
      </p:sp>
      <p:sp>
        <p:nvSpPr>
          <p:cNvPr id="26" name="Shape 23"/>
          <p:cNvSpPr/>
          <p:nvPr/>
        </p:nvSpPr>
        <p:spPr>
          <a:xfrm>
            <a:off x="6089904" y="1024128"/>
            <a:ext cx="2596896" cy="45720"/>
          </a:xfrm>
          <a:prstGeom prst="rect">
            <a:avLst/>
          </a:prstGeom>
          <a:solidFill>
            <a:srgbClr val="10B981"/>
          </a:solidFill>
          <a:ln w="12700">
            <a:solidFill>
              <a:srgbClr val="10B981"/>
            </a:solidFill>
            <a:prstDash val="solid"/>
          </a:ln>
        </p:spPr>
      </p:sp>
      <p:sp>
        <p:nvSpPr>
          <p:cNvPr id="27" name="Text 24"/>
          <p:cNvSpPr/>
          <p:nvPr/>
        </p:nvSpPr>
        <p:spPr>
          <a:xfrm>
            <a:off x="6227064" y="1143000"/>
            <a:ext cx="2322576" cy="274320"/>
          </a:xfrm>
          <a:prstGeom prst="rect">
            <a:avLst/>
          </a:prstGeom>
          <a:noFill/>
          <a:ln/>
        </p:spPr>
        <p:txBody>
          <a:bodyPr wrap="square" rtlCol="0" anchor="ctr"/>
          <a:lstStyle/>
          <a:p>
            <a:pPr indent="0" marL="0">
              <a:buNone/>
            </a:pPr>
            <a:r>
              <a:rPr lang="en-US" sz="1200" b="1" dirty="0">
                <a:solidFill>
                  <a:srgbClr val="F8FAFC"/>
                </a:solidFill>
                <a:latin typeface="Arial" pitchFamily="34" charset="0"/>
                <a:ea typeface="Arial" pitchFamily="34" charset="-122"/>
                <a:cs typeface="Arial" pitchFamily="34" charset="-120"/>
              </a:rPr>
              <a:t>3. The Action (Tool)</a:t>
            </a:r>
            <a:endParaRPr lang="en-US" sz="1200" dirty="0"/>
          </a:p>
        </p:txBody>
      </p:sp>
      <p:sp>
        <p:nvSpPr>
          <p:cNvPr id="28" name="Text 25"/>
          <p:cNvSpPr/>
          <p:nvPr/>
        </p:nvSpPr>
        <p:spPr>
          <a:xfrm>
            <a:off x="6227064" y="1417320"/>
            <a:ext cx="2322576" cy="182880"/>
          </a:xfrm>
          <a:prstGeom prst="rect">
            <a:avLst/>
          </a:prstGeom>
          <a:noFill/>
          <a:ln/>
        </p:spPr>
        <p:txBody>
          <a:bodyPr wrap="square" rtlCol="0" anchor="ctr"/>
          <a:lstStyle/>
          <a:p>
            <a:pPr indent="0" marL="0">
              <a:buNone/>
            </a:pPr>
            <a:r>
              <a:rPr lang="en-US" sz="750" b="1" dirty="0">
                <a:solidFill>
                  <a:srgbClr val="10B981"/>
                </a:solidFill>
                <a:latin typeface="Arial" pitchFamily="34" charset="0"/>
                <a:ea typeface="Arial" pitchFamily="34" charset="-122"/>
                <a:cs typeface="Arial" pitchFamily="34" charset="-120"/>
              </a:rPr>
              <a:t>EXECUTABLE INTEGRATIONS</a:t>
            </a:r>
            <a:endParaRPr lang="en-US" sz="750" dirty="0"/>
          </a:p>
        </p:txBody>
      </p:sp>
      <p:sp>
        <p:nvSpPr>
          <p:cNvPr id="29" name="Text 26"/>
          <p:cNvSpPr/>
          <p:nvPr/>
        </p:nvSpPr>
        <p:spPr>
          <a:xfrm>
            <a:off x="6227064" y="1645920"/>
            <a:ext cx="2322576" cy="594360"/>
          </a:xfrm>
          <a:prstGeom prst="rect">
            <a:avLst/>
          </a:prstGeom>
          <a:noFill/>
          <a:ln/>
        </p:spPr>
        <p:txBody>
          <a:bodyPr wrap="square" rtlCol="0" anchor="ctr"/>
          <a:lstStyle/>
          <a:p>
            <a:pPr indent="0" marL="0">
              <a:lnSpc>
                <a:spcPts val="1100"/>
              </a:lnSpc>
              <a:buNone/>
            </a:pPr>
            <a:r>
              <a:rPr lang="en-US" sz="800" dirty="0">
                <a:solidFill>
                  <a:srgbClr val="94A3B8"/>
                </a:solidFill>
                <a:latin typeface="Arial" pitchFamily="34" charset="0"/>
                <a:ea typeface="Arial" pitchFamily="34" charset="-122"/>
                <a:cs typeface="Arial" pitchFamily="34" charset="-120"/>
              </a:rPr>
              <a:t>The concrete capabilities bound to a Topic that execute business logic inside or outside Salesforce.</a:t>
            </a:r>
            <a:endParaRPr lang="en-US" sz="800" dirty="0"/>
          </a:p>
        </p:txBody>
      </p:sp>
      <p:sp>
        <p:nvSpPr>
          <p:cNvPr id="30" name="Shape 27"/>
          <p:cNvSpPr/>
          <p:nvPr/>
        </p:nvSpPr>
        <p:spPr>
          <a:xfrm>
            <a:off x="6227064" y="2286000"/>
            <a:ext cx="2322576" cy="0"/>
          </a:xfrm>
          <a:prstGeom prst="line">
            <a:avLst/>
          </a:prstGeom>
          <a:noFill/>
          <a:ln w="10160">
            <a:solidFill>
              <a:srgbClr val="233354"/>
            </a:solidFill>
            <a:prstDash val="solid"/>
          </a:ln>
        </p:spPr>
      </p:sp>
      <p:sp>
        <p:nvSpPr>
          <p:cNvPr id="31" name="Text 28"/>
          <p:cNvSpPr/>
          <p:nvPr/>
        </p:nvSpPr>
        <p:spPr>
          <a:xfrm>
            <a:off x="6227064" y="2377440"/>
            <a:ext cx="2322576" cy="182880"/>
          </a:xfrm>
          <a:prstGeom prst="rect">
            <a:avLst/>
          </a:prstGeom>
          <a:noFill/>
          <a:ln/>
        </p:spPr>
        <p:txBody>
          <a:bodyPr wrap="square" rtlCol="0" anchor="ctr"/>
          <a:lstStyle/>
          <a:p>
            <a:pPr indent="0" marL="0">
              <a:buNone/>
            </a:pPr>
            <a:r>
              <a:rPr lang="en-US" sz="750" b="1" dirty="0">
                <a:solidFill>
                  <a:srgbClr val="38BDF8"/>
                </a:solidFill>
                <a:latin typeface="Arial" pitchFamily="34" charset="0"/>
                <a:ea typeface="Arial" pitchFamily="34" charset="-122"/>
                <a:cs typeface="Arial" pitchFamily="34" charset="-120"/>
              </a:rPr>
              <a:t>KEY ARCHITECTURAL ELEMENTS:</a:t>
            </a:r>
            <a:endParaRPr lang="en-US" sz="750" dirty="0"/>
          </a:p>
        </p:txBody>
      </p:sp>
      <p:sp>
        <p:nvSpPr>
          <p:cNvPr id="32" name="Text 29"/>
          <p:cNvSpPr/>
          <p:nvPr/>
        </p:nvSpPr>
        <p:spPr>
          <a:xfrm>
            <a:off x="6227064" y="2606040"/>
            <a:ext cx="2322576" cy="1874520"/>
          </a:xfrm>
          <a:prstGeom prst="rect">
            <a:avLst/>
          </a:prstGeom>
          <a:noFill/>
          <a:ln/>
        </p:spPr>
        <p:txBody>
          <a:bodyPr wrap="square" rtlCol="0" anchor="ctr"/>
          <a:lstStyle/>
          <a:p>
            <a:pPr indent="0" marL="0">
              <a:lnSpc>
                <a:spcPts val="1200"/>
              </a:lnSpc>
              <a:buNone/>
            </a:pPr>
            <a:r>
              <a:rPr lang="en-US" sz="800" dirty="0">
                <a:solidFill>
                  <a:srgbClr val="CBD5E1"/>
                </a:solidFill>
                <a:latin typeface="Arial" pitchFamily="34" charset="0"/>
                <a:ea typeface="Arial" pitchFamily="34" charset="-122"/>
                <a:cs typeface="Arial" pitchFamily="34" charset="-120"/>
              </a:rPr>
              <a:t>•  Autolaunched Flows (Point-and-click CRM operations)</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Apex @InvocableMethod (Complex business logic)</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Prompt Templates (Grounding LLM prompts with CRM data)</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External Services &amp; MuleSoft APIs (Legacy/ERP systems)</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457200" y="256032"/>
            <a:ext cx="1097280" cy="27432"/>
          </a:xfrm>
          <a:prstGeom prst="rect">
            <a:avLst/>
          </a:prstGeom>
          <a:solidFill>
            <a:srgbClr val="00A1E0"/>
          </a:solidFill>
          <a:ln w="12700">
            <a:solidFill>
              <a:srgbClr val="00A1E0"/>
            </a:solidFill>
            <a:prstDash val="solid"/>
          </a:ln>
        </p:spPr>
      </p:sp>
      <p:sp>
        <p:nvSpPr>
          <p:cNvPr id="3" name="Text 1"/>
          <p:cNvSpPr/>
          <p:nvPr/>
        </p:nvSpPr>
        <p:spPr>
          <a:xfrm>
            <a:off x="457200" y="320040"/>
            <a:ext cx="8229600" cy="164592"/>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ARCHITECTURE DEEP DIVE</a:t>
            </a:r>
            <a:endParaRPr lang="en-US" sz="800" dirty="0"/>
          </a:p>
        </p:txBody>
      </p:sp>
      <p:sp>
        <p:nvSpPr>
          <p:cNvPr id="4" name="Text 2"/>
          <p:cNvSpPr/>
          <p:nvPr/>
        </p:nvSpPr>
        <p:spPr>
          <a:xfrm>
            <a:off x="457200" y="493776"/>
            <a:ext cx="8229600" cy="320040"/>
          </a:xfrm>
          <a:prstGeom prst="rect">
            <a:avLst/>
          </a:prstGeom>
          <a:noFill/>
          <a:ln/>
        </p:spPr>
        <p:txBody>
          <a:bodyPr wrap="square" rtlCol="0" anchor="ctr"/>
          <a:lstStyle/>
          <a:p>
            <a:pPr indent="0" marL="0">
              <a:buNone/>
            </a:pPr>
            <a:r>
              <a:rPr lang="en-US" sz="1500" b="1" dirty="0">
                <a:solidFill>
                  <a:srgbClr val="F8FAFC"/>
                </a:solidFill>
                <a:latin typeface="Arial" pitchFamily="34" charset="0"/>
                <a:ea typeface="Arial" pitchFamily="34" charset="-122"/>
                <a:cs typeface="Arial" pitchFamily="34" charset="-120"/>
              </a:rPr>
              <a:t>Pillar 1: The Agent (Persona, Tone &amp; Enterprise Guardrails)</a:t>
            </a:r>
            <a:endParaRPr lang="en-US" sz="1500" dirty="0"/>
          </a:p>
        </p:txBody>
      </p:sp>
      <p:sp>
        <p:nvSpPr>
          <p:cNvPr id="5" name="Shape 3"/>
          <p:cNvSpPr/>
          <p:nvPr/>
        </p:nvSpPr>
        <p:spPr>
          <a:xfrm>
            <a:off x="457200" y="859536"/>
            <a:ext cx="8229600" cy="0"/>
          </a:xfrm>
          <a:prstGeom prst="line">
            <a:avLst/>
          </a:prstGeom>
          <a:noFill/>
          <a:ln w="12700">
            <a:solidFill>
              <a:srgbClr val="1E293B"/>
            </a:solidFill>
            <a:prstDash val="solid"/>
          </a:ln>
        </p:spPr>
      </p:sp>
      <p:sp>
        <p:nvSpPr>
          <p:cNvPr id="6" name="Text 4"/>
          <p:cNvSpPr/>
          <p:nvPr/>
        </p:nvSpPr>
        <p:spPr>
          <a:xfrm>
            <a:off x="457200" y="4791456"/>
            <a:ext cx="6400800" cy="228600"/>
          </a:xfrm>
          <a:prstGeom prst="rect">
            <a:avLst/>
          </a:prstGeom>
          <a:noFill/>
          <a:ln/>
        </p:spPr>
        <p:txBody>
          <a:bodyPr wrap="square" rtlCol="0" anchor="ctr"/>
          <a:lstStyle/>
          <a:p>
            <a:pPr indent="0" marL="0">
              <a:buNone/>
            </a:pPr>
            <a:r>
              <a:rPr lang="en-US" sz="750" dirty="0">
                <a:solidFill>
                  <a:srgbClr val="94A3B8"/>
                </a:solidFill>
                <a:latin typeface="Arial" pitchFamily="34" charset="0"/>
                <a:ea typeface="Arial" pitchFamily="34" charset="-122"/>
                <a:cs typeface="Arial" pitchFamily="34" charset="-120"/>
              </a:rPr>
              <a:t>Salesforce Agentforce &amp; Data 360 Enablement  •  Day 1: Atlas Reasoning Engine &amp; ReAct Loop</a:t>
            </a:r>
            <a:endParaRPr lang="en-US" sz="750" dirty="0"/>
          </a:p>
        </p:txBody>
      </p:sp>
      <p:sp>
        <p:nvSpPr>
          <p:cNvPr id="7" name="Text 5"/>
          <p:cNvSpPr/>
          <p:nvPr/>
        </p:nvSpPr>
        <p:spPr>
          <a:xfrm>
            <a:off x="7315200" y="4791456"/>
            <a:ext cx="1371600" cy="228600"/>
          </a:xfrm>
          <a:prstGeom prst="rect">
            <a:avLst/>
          </a:prstGeom>
          <a:noFill/>
          <a:ln/>
        </p:spPr>
        <p:txBody>
          <a:bodyPr wrap="square" rtlCol="0" anchor="ctr"/>
          <a:lstStyle/>
          <a:p>
            <a:pPr algn="r" indent="0" marL="0">
              <a:buNone/>
            </a:pPr>
            <a:r>
              <a:rPr lang="en-US" sz="750" b="1" dirty="0">
                <a:solidFill>
                  <a:srgbClr val="00A1E0"/>
                </a:solidFill>
                <a:latin typeface="Arial" pitchFamily="34" charset="0"/>
                <a:ea typeface="Arial" pitchFamily="34" charset="-122"/>
                <a:cs typeface="Arial" pitchFamily="34" charset="-120"/>
              </a:rPr>
              <a:t>9 / 19</a:t>
            </a:r>
            <a:endParaRPr lang="en-US" sz="750" dirty="0"/>
          </a:p>
        </p:txBody>
      </p:sp>
      <p:sp>
        <p:nvSpPr>
          <p:cNvPr id="9" name="Shape 6"/>
          <p:cNvSpPr/>
          <p:nvPr/>
        </p:nvSpPr>
        <p:spPr>
          <a:xfrm>
            <a:off x="457200" y="1024128"/>
            <a:ext cx="3977640" cy="3566160"/>
          </a:xfrm>
          <a:prstGeom prst="roundRect">
            <a:avLst>
              <a:gd name="adj" fmla="val 2051"/>
            </a:avLst>
          </a:prstGeom>
          <a:solidFill>
            <a:srgbClr val="131B2E"/>
          </a:solidFill>
          <a:ln w="12700">
            <a:solidFill>
              <a:srgbClr val="00A1E0"/>
            </a:solidFill>
            <a:prstDash val="solid"/>
          </a:ln>
        </p:spPr>
      </p:sp>
      <p:sp>
        <p:nvSpPr>
          <p:cNvPr id="10" name="Text 7"/>
          <p:cNvSpPr/>
          <p:nvPr/>
        </p:nvSpPr>
        <p:spPr>
          <a:xfrm>
            <a:off x="640080" y="1143000"/>
            <a:ext cx="3611880" cy="201168"/>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AGENT LEVEL CONFIGURATION SPECIFICATION</a:t>
            </a:r>
            <a:endParaRPr lang="en-US" sz="800" dirty="0"/>
          </a:p>
        </p:txBody>
      </p:sp>
      <p:sp>
        <p:nvSpPr>
          <p:cNvPr id="11" name="Text 8"/>
          <p:cNvSpPr/>
          <p:nvPr/>
        </p:nvSpPr>
        <p:spPr>
          <a:xfrm>
            <a:off x="640080" y="1371600"/>
            <a:ext cx="3611880" cy="228600"/>
          </a:xfrm>
          <a:prstGeom prst="rect">
            <a:avLst/>
          </a:prstGeom>
          <a:noFill/>
          <a:ln/>
        </p:spPr>
        <p:txBody>
          <a:bodyPr wrap="square" rtlCol="0" anchor="ctr"/>
          <a:lstStyle/>
          <a:p>
            <a:pPr indent="0" marL="0">
              <a:buNone/>
            </a:pPr>
            <a:r>
              <a:rPr lang="en-US" sz="1050" b="1" dirty="0">
                <a:solidFill>
                  <a:srgbClr val="F8FAFC"/>
                </a:solidFill>
                <a:latin typeface="Arial" pitchFamily="34" charset="0"/>
                <a:ea typeface="Arial" pitchFamily="34" charset="-122"/>
                <a:cs typeface="Arial" pitchFamily="34" charset="-120"/>
              </a:rPr>
              <a:t>Core Persona Attributes in Agentforce Studio</a:t>
            </a:r>
            <a:endParaRPr lang="en-US" sz="1050" dirty="0"/>
          </a:p>
        </p:txBody>
      </p:sp>
      <p:sp>
        <p:nvSpPr>
          <p:cNvPr id="12" name="Text 9"/>
          <p:cNvSpPr/>
          <p:nvPr/>
        </p:nvSpPr>
        <p:spPr>
          <a:xfrm>
            <a:off x="640080" y="1664208"/>
            <a:ext cx="3611880" cy="2788920"/>
          </a:xfrm>
          <a:prstGeom prst="rect">
            <a:avLst/>
          </a:prstGeom>
          <a:noFill/>
          <a:ln/>
        </p:spPr>
        <p:txBody>
          <a:bodyPr wrap="square" rtlCol="0" anchor="ctr"/>
          <a:lstStyle/>
          <a:p>
            <a:pPr indent="0" marL="0">
              <a:lnSpc>
                <a:spcPts val="1150"/>
              </a:lnSpc>
              <a:buNone/>
            </a:pPr>
            <a:r>
              <a:rPr lang="en-US" sz="780" dirty="0">
                <a:solidFill>
                  <a:srgbClr val="CBD5E1"/>
                </a:solidFill>
                <a:latin typeface="Arial" pitchFamily="34" charset="0"/>
                <a:ea typeface="Arial" pitchFamily="34" charset="-122"/>
                <a:cs typeface="Arial" pitchFamily="34" charset="-120"/>
              </a:rPr>
              <a:t>• Agent Type: Service Agent (Customer-facing support) or Sales Agent (SDR / lead qualification).</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Agent Name &amp; Identity: Distinct identifier (e.g. "Support Specialist") displayed in conversation channels.</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Role Description: The macro-job description injected into foundation model system prompts.</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Company &amp; Domain Context: Background data about company policies, product catalog, and target audience.</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Execution User: The Einstein Agent User profile executing database operations.</a:t>
            </a:r>
            <a:endParaRPr lang="en-US" sz="780" dirty="0"/>
          </a:p>
        </p:txBody>
      </p:sp>
      <p:sp>
        <p:nvSpPr>
          <p:cNvPr id="13" name="Shape 10"/>
          <p:cNvSpPr/>
          <p:nvPr/>
        </p:nvSpPr>
        <p:spPr>
          <a:xfrm>
            <a:off x="4709160" y="1024128"/>
            <a:ext cx="3977640" cy="3566160"/>
          </a:xfrm>
          <a:prstGeom prst="roundRect">
            <a:avLst>
              <a:gd name="adj" fmla="val 2051"/>
            </a:avLst>
          </a:prstGeom>
          <a:solidFill>
            <a:srgbClr val="131B2E"/>
          </a:solidFill>
          <a:ln w="12700">
            <a:solidFill>
              <a:srgbClr val="F43F5E"/>
            </a:solidFill>
            <a:prstDash val="solid"/>
          </a:ln>
        </p:spPr>
      </p:sp>
      <p:sp>
        <p:nvSpPr>
          <p:cNvPr id="14" name="Text 11"/>
          <p:cNvSpPr/>
          <p:nvPr/>
        </p:nvSpPr>
        <p:spPr>
          <a:xfrm>
            <a:off x="4892040" y="1143000"/>
            <a:ext cx="3611880" cy="201168"/>
          </a:xfrm>
          <a:prstGeom prst="rect">
            <a:avLst/>
          </a:prstGeom>
          <a:noFill/>
          <a:ln/>
        </p:spPr>
        <p:txBody>
          <a:bodyPr wrap="square" rtlCol="0" anchor="ctr"/>
          <a:lstStyle/>
          <a:p>
            <a:pPr indent="0" marL="0">
              <a:buNone/>
            </a:pPr>
            <a:r>
              <a:rPr lang="en-US" sz="800" b="1" dirty="0">
                <a:solidFill>
                  <a:srgbClr val="F43F5E"/>
                </a:solidFill>
                <a:latin typeface="Arial" pitchFamily="34" charset="0"/>
                <a:ea typeface="Arial" pitchFamily="34" charset="-122"/>
                <a:cs typeface="Arial" pitchFamily="34" charset="-120"/>
              </a:rPr>
              <a:t>GUARDRAIL ENGINEERING &amp; SYSTEM PROMPTING</a:t>
            </a:r>
            <a:endParaRPr lang="en-US" sz="800" dirty="0"/>
          </a:p>
        </p:txBody>
      </p:sp>
      <p:sp>
        <p:nvSpPr>
          <p:cNvPr id="15" name="Text 12"/>
          <p:cNvSpPr/>
          <p:nvPr/>
        </p:nvSpPr>
        <p:spPr>
          <a:xfrm>
            <a:off x="4892040" y="1371600"/>
            <a:ext cx="3611880" cy="228600"/>
          </a:xfrm>
          <a:prstGeom prst="rect">
            <a:avLst/>
          </a:prstGeom>
          <a:noFill/>
          <a:ln/>
        </p:spPr>
        <p:txBody>
          <a:bodyPr wrap="square" rtlCol="0" anchor="ctr"/>
          <a:lstStyle/>
          <a:p>
            <a:pPr indent="0" marL="0">
              <a:buNone/>
            </a:pPr>
            <a:r>
              <a:rPr lang="en-US" sz="1050" b="1" dirty="0">
                <a:solidFill>
                  <a:srgbClr val="F8FAFC"/>
                </a:solidFill>
                <a:latin typeface="Arial" pitchFamily="34" charset="0"/>
                <a:ea typeface="Arial" pitchFamily="34" charset="-122"/>
                <a:cs typeface="Arial" pitchFamily="34" charset="-120"/>
              </a:rPr>
              <a:t>Enforcing Strict Negative Constraints</a:t>
            </a:r>
            <a:endParaRPr lang="en-US" sz="1050" dirty="0"/>
          </a:p>
        </p:txBody>
      </p:sp>
      <p:sp>
        <p:nvSpPr>
          <p:cNvPr id="16" name="Text 13"/>
          <p:cNvSpPr/>
          <p:nvPr/>
        </p:nvSpPr>
        <p:spPr>
          <a:xfrm>
            <a:off x="4892040" y="1664208"/>
            <a:ext cx="3611880" cy="2788920"/>
          </a:xfrm>
          <a:prstGeom prst="rect">
            <a:avLst/>
          </a:prstGeom>
          <a:noFill/>
          <a:ln/>
        </p:spPr>
        <p:txBody>
          <a:bodyPr wrap="square" rtlCol="0" anchor="ctr"/>
          <a:lstStyle/>
          <a:p>
            <a:pPr indent="0" marL="0">
              <a:lnSpc>
                <a:spcPts val="1150"/>
              </a:lnSpc>
              <a:buNone/>
            </a:pPr>
            <a:r>
              <a:rPr lang="en-US" sz="780" dirty="0">
                <a:solidFill>
                  <a:srgbClr val="CBD5E1"/>
                </a:solidFill>
                <a:latin typeface="Arial" pitchFamily="34" charset="0"/>
                <a:ea typeface="Arial" pitchFamily="34" charset="-122"/>
                <a:cs typeface="Arial" pitchFamily="34" charset="-120"/>
              </a:rPr>
              <a:t>🛡️ Negative Guardrails: Explicit instructions defining what the agent must NEVER do or promise under any scenario.</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Financial Limits: "Never authorize refunds, discounts, or fee waivers exceeding $50 without manager approval."</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Privacy Boundaries: "Never share internal employee contact info, internal case comments, or unreleased roadmaps."</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Tone &amp; Style: "Respond concisely in 2-3 sentences. Maintain an empathetic, professional tone. Avoid jargon."</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Fallback Protocol: Explicit instructions on when and how to trigger warm transfer to human service agents.</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457200" y="256032"/>
            <a:ext cx="1097280" cy="27432"/>
          </a:xfrm>
          <a:prstGeom prst="rect">
            <a:avLst/>
          </a:prstGeom>
          <a:solidFill>
            <a:srgbClr val="00A1E0"/>
          </a:solidFill>
          <a:ln w="12700">
            <a:solidFill>
              <a:srgbClr val="00A1E0"/>
            </a:solidFill>
            <a:prstDash val="solid"/>
          </a:ln>
        </p:spPr>
      </p:sp>
      <p:sp>
        <p:nvSpPr>
          <p:cNvPr id="3" name="Text 1"/>
          <p:cNvSpPr/>
          <p:nvPr/>
        </p:nvSpPr>
        <p:spPr>
          <a:xfrm>
            <a:off x="457200" y="320040"/>
            <a:ext cx="8229600" cy="164592"/>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ARCHITECTURE DEEP DIVE</a:t>
            </a:r>
            <a:endParaRPr lang="en-US" sz="800" dirty="0"/>
          </a:p>
        </p:txBody>
      </p:sp>
      <p:sp>
        <p:nvSpPr>
          <p:cNvPr id="4" name="Text 2"/>
          <p:cNvSpPr/>
          <p:nvPr/>
        </p:nvSpPr>
        <p:spPr>
          <a:xfrm>
            <a:off x="457200" y="493776"/>
            <a:ext cx="8229600" cy="320040"/>
          </a:xfrm>
          <a:prstGeom prst="rect">
            <a:avLst/>
          </a:prstGeom>
          <a:noFill/>
          <a:ln/>
        </p:spPr>
        <p:txBody>
          <a:bodyPr wrap="square" rtlCol="0" anchor="ctr"/>
          <a:lstStyle/>
          <a:p>
            <a:pPr indent="0" marL="0">
              <a:buNone/>
            </a:pPr>
            <a:r>
              <a:rPr lang="en-US" sz="1500" b="1" dirty="0">
                <a:solidFill>
                  <a:srgbClr val="F8FAFC"/>
                </a:solidFill>
                <a:latin typeface="Arial" pitchFamily="34" charset="0"/>
                <a:ea typeface="Arial" pitchFamily="34" charset="-122"/>
                <a:cs typeface="Arial" pitchFamily="34" charset="-120"/>
              </a:rPr>
              <a:t>Pillar 2: The Topic (Domain Boundaries &amp; Classification)</a:t>
            </a:r>
            <a:endParaRPr lang="en-US" sz="1500" dirty="0"/>
          </a:p>
        </p:txBody>
      </p:sp>
      <p:sp>
        <p:nvSpPr>
          <p:cNvPr id="5" name="Shape 3"/>
          <p:cNvSpPr/>
          <p:nvPr/>
        </p:nvSpPr>
        <p:spPr>
          <a:xfrm>
            <a:off x="457200" y="859536"/>
            <a:ext cx="8229600" cy="0"/>
          </a:xfrm>
          <a:prstGeom prst="line">
            <a:avLst/>
          </a:prstGeom>
          <a:noFill/>
          <a:ln w="12700">
            <a:solidFill>
              <a:srgbClr val="1E293B"/>
            </a:solidFill>
            <a:prstDash val="solid"/>
          </a:ln>
        </p:spPr>
      </p:sp>
      <p:sp>
        <p:nvSpPr>
          <p:cNvPr id="6" name="Text 4"/>
          <p:cNvSpPr/>
          <p:nvPr/>
        </p:nvSpPr>
        <p:spPr>
          <a:xfrm>
            <a:off x="457200" y="4791456"/>
            <a:ext cx="6400800" cy="228600"/>
          </a:xfrm>
          <a:prstGeom prst="rect">
            <a:avLst/>
          </a:prstGeom>
          <a:noFill/>
          <a:ln/>
        </p:spPr>
        <p:txBody>
          <a:bodyPr wrap="square" rtlCol="0" anchor="ctr"/>
          <a:lstStyle/>
          <a:p>
            <a:pPr indent="0" marL="0">
              <a:buNone/>
            </a:pPr>
            <a:r>
              <a:rPr lang="en-US" sz="750" dirty="0">
                <a:solidFill>
                  <a:srgbClr val="94A3B8"/>
                </a:solidFill>
                <a:latin typeface="Arial" pitchFamily="34" charset="0"/>
                <a:ea typeface="Arial" pitchFamily="34" charset="-122"/>
                <a:cs typeface="Arial" pitchFamily="34" charset="-120"/>
              </a:rPr>
              <a:t>Salesforce Agentforce &amp; Data 360 Enablement  •  Day 1: Atlas Reasoning Engine &amp; ReAct Loop</a:t>
            </a:r>
            <a:endParaRPr lang="en-US" sz="750" dirty="0"/>
          </a:p>
        </p:txBody>
      </p:sp>
      <p:sp>
        <p:nvSpPr>
          <p:cNvPr id="7" name="Text 5"/>
          <p:cNvSpPr/>
          <p:nvPr/>
        </p:nvSpPr>
        <p:spPr>
          <a:xfrm>
            <a:off x="7315200" y="4791456"/>
            <a:ext cx="1371600" cy="228600"/>
          </a:xfrm>
          <a:prstGeom prst="rect">
            <a:avLst/>
          </a:prstGeom>
          <a:noFill/>
          <a:ln/>
        </p:spPr>
        <p:txBody>
          <a:bodyPr wrap="square" rtlCol="0" anchor="ctr"/>
          <a:lstStyle/>
          <a:p>
            <a:pPr algn="r" indent="0" marL="0">
              <a:buNone/>
            </a:pPr>
            <a:r>
              <a:rPr lang="en-US" sz="750" b="1" dirty="0">
                <a:solidFill>
                  <a:srgbClr val="00A1E0"/>
                </a:solidFill>
                <a:latin typeface="Arial" pitchFamily="34" charset="0"/>
                <a:ea typeface="Arial" pitchFamily="34" charset="-122"/>
                <a:cs typeface="Arial" pitchFamily="34" charset="-120"/>
              </a:rPr>
              <a:t>10 / 19</a:t>
            </a:r>
            <a:endParaRPr lang="en-US" sz="750" dirty="0"/>
          </a:p>
        </p:txBody>
      </p:sp>
      <p:sp>
        <p:nvSpPr>
          <p:cNvPr id="9" name="Shape 6"/>
          <p:cNvSpPr/>
          <p:nvPr/>
        </p:nvSpPr>
        <p:spPr>
          <a:xfrm>
            <a:off x="457200" y="1024128"/>
            <a:ext cx="3977640" cy="3566160"/>
          </a:xfrm>
          <a:prstGeom prst="roundRect">
            <a:avLst>
              <a:gd name="adj" fmla="val 2051"/>
            </a:avLst>
          </a:prstGeom>
          <a:solidFill>
            <a:srgbClr val="131B2E"/>
          </a:solidFill>
          <a:ln w="12700">
            <a:solidFill>
              <a:srgbClr val="8B5CF6"/>
            </a:solidFill>
            <a:prstDash val="solid"/>
          </a:ln>
        </p:spPr>
      </p:sp>
      <p:sp>
        <p:nvSpPr>
          <p:cNvPr id="10" name="Text 7"/>
          <p:cNvSpPr/>
          <p:nvPr/>
        </p:nvSpPr>
        <p:spPr>
          <a:xfrm>
            <a:off x="640080" y="1143000"/>
            <a:ext cx="3611880" cy="201168"/>
          </a:xfrm>
          <a:prstGeom prst="rect">
            <a:avLst/>
          </a:prstGeom>
          <a:noFill/>
          <a:ln/>
        </p:spPr>
        <p:txBody>
          <a:bodyPr wrap="square" rtlCol="0" anchor="ctr"/>
          <a:lstStyle/>
          <a:p>
            <a:pPr indent="0" marL="0">
              <a:buNone/>
            </a:pPr>
            <a:r>
              <a:rPr lang="en-US" sz="800" b="1" dirty="0">
                <a:solidFill>
                  <a:srgbClr val="8B5CF6"/>
                </a:solidFill>
                <a:latin typeface="Arial" pitchFamily="34" charset="0"/>
                <a:ea typeface="Arial" pitchFamily="34" charset="-122"/>
                <a:cs typeface="Arial" pitchFamily="34" charset="-120"/>
              </a:rPr>
              <a:t>HOW ATLAS SELECTS TOPICS DYNAMICALLY</a:t>
            </a:r>
            <a:endParaRPr lang="en-US" sz="800" dirty="0"/>
          </a:p>
        </p:txBody>
      </p:sp>
      <p:sp>
        <p:nvSpPr>
          <p:cNvPr id="11" name="Text 8"/>
          <p:cNvSpPr/>
          <p:nvPr/>
        </p:nvSpPr>
        <p:spPr>
          <a:xfrm>
            <a:off x="640080" y="1371600"/>
            <a:ext cx="3611880" cy="228600"/>
          </a:xfrm>
          <a:prstGeom prst="rect">
            <a:avLst/>
          </a:prstGeom>
          <a:noFill/>
          <a:ln/>
        </p:spPr>
        <p:txBody>
          <a:bodyPr wrap="square" rtlCol="0" anchor="ctr"/>
          <a:lstStyle/>
          <a:p>
            <a:pPr indent="0" marL="0">
              <a:buNone/>
            </a:pPr>
            <a:r>
              <a:rPr lang="en-US" sz="1050" b="1" dirty="0">
                <a:solidFill>
                  <a:srgbClr val="F8FAFC"/>
                </a:solidFill>
                <a:latin typeface="Arial" pitchFamily="34" charset="0"/>
                <a:ea typeface="Arial" pitchFamily="34" charset="-122"/>
                <a:cs typeface="Arial" pitchFamily="34" charset="-120"/>
              </a:rPr>
              <a:t>Semantic Classification &amp; Vector Matching</a:t>
            </a:r>
            <a:endParaRPr lang="en-US" sz="1050" dirty="0"/>
          </a:p>
        </p:txBody>
      </p:sp>
      <p:sp>
        <p:nvSpPr>
          <p:cNvPr id="12" name="Text 9"/>
          <p:cNvSpPr/>
          <p:nvPr/>
        </p:nvSpPr>
        <p:spPr>
          <a:xfrm>
            <a:off x="640080" y="1664208"/>
            <a:ext cx="3611880" cy="2788920"/>
          </a:xfrm>
          <a:prstGeom prst="rect">
            <a:avLst/>
          </a:prstGeom>
          <a:noFill/>
          <a:ln/>
        </p:spPr>
        <p:txBody>
          <a:bodyPr wrap="square" rtlCol="0" anchor="ctr"/>
          <a:lstStyle/>
          <a:p>
            <a:pPr indent="0" marL="0">
              <a:lnSpc>
                <a:spcPts val="1150"/>
              </a:lnSpc>
              <a:buNone/>
            </a:pPr>
            <a:r>
              <a:rPr lang="en-US" sz="780" dirty="0">
                <a:solidFill>
                  <a:srgbClr val="CBD5E1"/>
                </a:solidFill>
                <a:latin typeface="Arial" pitchFamily="34" charset="0"/>
                <a:ea typeface="Arial" pitchFamily="34" charset="-122"/>
                <a:cs typeface="Arial" pitchFamily="34" charset="-120"/>
              </a:rPr>
              <a:t>• Vector Embeddings: Atlas converts user utterances and Topic descriptions into high-dimensional semantic vectors.</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Cosine Similarity: Scores candidate Topics in real time; the highest scoring Topic above threshold is selected.</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Context Switching: If a user abruptly changes subjects during a conversation, Atlas dynamically re-classifies to a new Topic.</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Granularity Rule: Aim for 3 to 7 focused Topics per Agent. Exceeding 10 Topics causes boundary collision and routing errors.</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No Monolithic Topics: Never create a single catch-all Topic; split by distinct business domains.</a:t>
            </a:r>
            <a:endParaRPr lang="en-US" sz="780" dirty="0"/>
          </a:p>
        </p:txBody>
      </p:sp>
      <p:sp>
        <p:nvSpPr>
          <p:cNvPr id="13" name="Shape 10"/>
          <p:cNvSpPr/>
          <p:nvPr/>
        </p:nvSpPr>
        <p:spPr>
          <a:xfrm>
            <a:off x="4709160" y="1024128"/>
            <a:ext cx="3977640" cy="3566160"/>
          </a:xfrm>
          <a:prstGeom prst="roundRect">
            <a:avLst>
              <a:gd name="adj" fmla="val 2051"/>
            </a:avLst>
          </a:prstGeom>
          <a:solidFill>
            <a:srgbClr val="131B2E"/>
          </a:solidFill>
          <a:ln w="12700">
            <a:solidFill>
              <a:srgbClr val="00A1E0"/>
            </a:solidFill>
            <a:prstDash val="solid"/>
          </a:ln>
        </p:spPr>
      </p:sp>
      <p:sp>
        <p:nvSpPr>
          <p:cNvPr id="14" name="Text 11"/>
          <p:cNvSpPr/>
          <p:nvPr/>
        </p:nvSpPr>
        <p:spPr>
          <a:xfrm>
            <a:off x="4892040" y="1143000"/>
            <a:ext cx="3611880" cy="201168"/>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TOPIC SCOPE RULES: IN VS OUT OF SCOPE</a:t>
            </a:r>
            <a:endParaRPr lang="en-US" sz="800" dirty="0"/>
          </a:p>
        </p:txBody>
      </p:sp>
      <p:sp>
        <p:nvSpPr>
          <p:cNvPr id="15" name="Text 12"/>
          <p:cNvSpPr/>
          <p:nvPr/>
        </p:nvSpPr>
        <p:spPr>
          <a:xfrm>
            <a:off x="4892040" y="1371600"/>
            <a:ext cx="3611880" cy="228600"/>
          </a:xfrm>
          <a:prstGeom prst="rect">
            <a:avLst/>
          </a:prstGeom>
          <a:noFill/>
          <a:ln/>
        </p:spPr>
        <p:txBody>
          <a:bodyPr wrap="square" rtlCol="0" anchor="ctr"/>
          <a:lstStyle/>
          <a:p>
            <a:pPr indent="0" marL="0">
              <a:buNone/>
            </a:pPr>
            <a:r>
              <a:rPr lang="en-US" sz="1050" b="1" dirty="0">
                <a:solidFill>
                  <a:srgbClr val="F8FAFC"/>
                </a:solidFill>
                <a:latin typeface="Arial" pitchFamily="34" charset="0"/>
                <a:ea typeface="Arial" pitchFamily="34" charset="-122"/>
                <a:cs typeface="Arial" pitchFamily="34" charset="-120"/>
              </a:rPr>
              <a:t>Writing High-Precision Scope Instructions</a:t>
            </a:r>
            <a:endParaRPr lang="en-US" sz="1050" dirty="0"/>
          </a:p>
        </p:txBody>
      </p:sp>
      <p:sp>
        <p:nvSpPr>
          <p:cNvPr id="16" name="Text 13"/>
          <p:cNvSpPr/>
          <p:nvPr/>
        </p:nvSpPr>
        <p:spPr>
          <a:xfrm>
            <a:off x="4892040" y="1664208"/>
            <a:ext cx="3611880" cy="2788920"/>
          </a:xfrm>
          <a:prstGeom prst="rect">
            <a:avLst/>
          </a:prstGeom>
          <a:noFill/>
          <a:ln/>
        </p:spPr>
        <p:txBody>
          <a:bodyPr wrap="square" rtlCol="0" anchor="ctr"/>
          <a:lstStyle/>
          <a:p>
            <a:pPr indent="0" marL="0">
              <a:lnSpc>
                <a:spcPts val="1150"/>
              </a:lnSpc>
              <a:buNone/>
            </a:pPr>
            <a:r>
              <a:rPr lang="en-US" sz="780" dirty="0">
                <a:solidFill>
                  <a:srgbClr val="CBD5E1"/>
                </a:solidFill>
                <a:latin typeface="Arial" pitchFamily="34" charset="0"/>
                <a:ea typeface="Arial" pitchFamily="34" charset="-122"/>
                <a:cs typeface="Arial" pitchFamily="34" charset="-120"/>
              </a:rPr>
              <a:t>📌 Explicit In-Scope Definition: "In Scope: Finding case status, inspecting assigned priority, reviewing recent comments."</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Explicit Out-of-Scope Definition: "Out of Scope: Creating new billing refunds, modifying SLA contracts, closing escalated cases."</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Instruction Formatting: Use direct, imperative statements ("Always verify customer email before providing ticket notes").</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Action Coupling: Every action assigned to the Topic must directly support the declared in-scope goals.</a:t>
            </a:r>
            <a:endParaRPr lang="en-US" sz="780" dirty="0"/>
          </a:p>
          <a:p>
            <a:pPr indent="0" marL="0">
              <a:lnSpc>
                <a:spcPts val="1150"/>
              </a:lnSpc>
              <a:buNone/>
            </a:pPr>
            <a:endParaRPr lang="en-US" sz="780" dirty="0"/>
          </a:p>
          <a:p>
            <a:pPr indent="0" marL="0">
              <a:lnSpc>
                <a:spcPts val="1150"/>
              </a:lnSpc>
              <a:buNone/>
            </a:pPr>
            <a:r>
              <a:rPr lang="en-US" sz="780" dirty="0">
                <a:solidFill>
                  <a:srgbClr val="CBD5E1"/>
                </a:solidFill>
                <a:latin typeface="Arial" pitchFamily="34" charset="0"/>
                <a:ea typeface="Arial" pitchFamily="34" charset="-122"/>
                <a:cs typeface="Arial" pitchFamily="34" charset="-120"/>
              </a:rPr>
              <a:t>📌 Description is Code: Treat your Topic description with the same precision as an API specification.</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457200" y="256032"/>
            <a:ext cx="1097280" cy="27432"/>
          </a:xfrm>
          <a:prstGeom prst="rect">
            <a:avLst/>
          </a:prstGeom>
          <a:solidFill>
            <a:srgbClr val="00A1E0"/>
          </a:solidFill>
          <a:ln w="12700">
            <a:solidFill>
              <a:srgbClr val="00A1E0"/>
            </a:solidFill>
            <a:prstDash val="solid"/>
          </a:ln>
        </p:spPr>
      </p:sp>
      <p:sp>
        <p:nvSpPr>
          <p:cNvPr id="3" name="Text 1"/>
          <p:cNvSpPr/>
          <p:nvPr/>
        </p:nvSpPr>
        <p:spPr>
          <a:xfrm>
            <a:off x="457200" y="320040"/>
            <a:ext cx="8229600" cy="164592"/>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ARCHITECTURE DEEP DIVE</a:t>
            </a:r>
            <a:endParaRPr lang="en-US" sz="800" dirty="0"/>
          </a:p>
        </p:txBody>
      </p:sp>
      <p:sp>
        <p:nvSpPr>
          <p:cNvPr id="4" name="Text 2"/>
          <p:cNvSpPr/>
          <p:nvPr/>
        </p:nvSpPr>
        <p:spPr>
          <a:xfrm>
            <a:off x="457200" y="493776"/>
            <a:ext cx="8229600" cy="320040"/>
          </a:xfrm>
          <a:prstGeom prst="rect">
            <a:avLst/>
          </a:prstGeom>
          <a:noFill/>
          <a:ln/>
        </p:spPr>
        <p:txBody>
          <a:bodyPr wrap="square" rtlCol="0" anchor="ctr"/>
          <a:lstStyle/>
          <a:p>
            <a:pPr indent="0" marL="0">
              <a:buNone/>
            </a:pPr>
            <a:r>
              <a:rPr lang="en-US" sz="1500" b="1" dirty="0">
                <a:solidFill>
                  <a:srgbClr val="F8FAFC"/>
                </a:solidFill>
                <a:latin typeface="Arial" pitchFamily="34" charset="0"/>
                <a:ea typeface="Arial" pitchFamily="34" charset="-122"/>
                <a:cs typeface="Arial" pitchFamily="34" charset="-120"/>
              </a:rPr>
              <a:t>Pillar 3: The Action (Executable Tools &amp; Integrations)</a:t>
            </a:r>
            <a:endParaRPr lang="en-US" sz="1500" dirty="0"/>
          </a:p>
        </p:txBody>
      </p:sp>
      <p:sp>
        <p:nvSpPr>
          <p:cNvPr id="5" name="Shape 3"/>
          <p:cNvSpPr/>
          <p:nvPr/>
        </p:nvSpPr>
        <p:spPr>
          <a:xfrm>
            <a:off x="457200" y="859536"/>
            <a:ext cx="8229600" cy="0"/>
          </a:xfrm>
          <a:prstGeom prst="line">
            <a:avLst/>
          </a:prstGeom>
          <a:noFill/>
          <a:ln w="12700">
            <a:solidFill>
              <a:srgbClr val="1E293B"/>
            </a:solidFill>
            <a:prstDash val="solid"/>
          </a:ln>
        </p:spPr>
      </p:sp>
      <p:sp>
        <p:nvSpPr>
          <p:cNvPr id="6" name="Text 4"/>
          <p:cNvSpPr/>
          <p:nvPr/>
        </p:nvSpPr>
        <p:spPr>
          <a:xfrm>
            <a:off x="457200" y="4791456"/>
            <a:ext cx="6400800" cy="228600"/>
          </a:xfrm>
          <a:prstGeom prst="rect">
            <a:avLst/>
          </a:prstGeom>
          <a:noFill/>
          <a:ln/>
        </p:spPr>
        <p:txBody>
          <a:bodyPr wrap="square" rtlCol="0" anchor="ctr"/>
          <a:lstStyle/>
          <a:p>
            <a:pPr indent="0" marL="0">
              <a:buNone/>
            </a:pPr>
            <a:r>
              <a:rPr lang="en-US" sz="750" dirty="0">
                <a:solidFill>
                  <a:srgbClr val="94A3B8"/>
                </a:solidFill>
                <a:latin typeface="Arial" pitchFamily="34" charset="0"/>
                <a:ea typeface="Arial" pitchFamily="34" charset="-122"/>
                <a:cs typeface="Arial" pitchFamily="34" charset="-120"/>
              </a:rPr>
              <a:t>Salesforce Agentforce &amp; Data 360 Enablement  •  Day 1: Atlas Reasoning Engine &amp; ReAct Loop</a:t>
            </a:r>
            <a:endParaRPr lang="en-US" sz="750" dirty="0"/>
          </a:p>
        </p:txBody>
      </p:sp>
      <p:sp>
        <p:nvSpPr>
          <p:cNvPr id="7" name="Text 5"/>
          <p:cNvSpPr/>
          <p:nvPr/>
        </p:nvSpPr>
        <p:spPr>
          <a:xfrm>
            <a:off x="7315200" y="4791456"/>
            <a:ext cx="1371600" cy="228600"/>
          </a:xfrm>
          <a:prstGeom prst="rect">
            <a:avLst/>
          </a:prstGeom>
          <a:noFill/>
          <a:ln/>
        </p:spPr>
        <p:txBody>
          <a:bodyPr wrap="square" rtlCol="0" anchor="ctr"/>
          <a:lstStyle/>
          <a:p>
            <a:pPr algn="r" indent="0" marL="0">
              <a:buNone/>
            </a:pPr>
            <a:r>
              <a:rPr lang="en-US" sz="750" b="1" dirty="0">
                <a:solidFill>
                  <a:srgbClr val="00A1E0"/>
                </a:solidFill>
                <a:latin typeface="Arial" pitchFamily="34" charset="0"/>
                <a:ea typeface="Arial" pitchFamily="34" charset="-122"/>
                <a:cs typeface="Arial" pitchFamily="34" charset="-120"/>
              </a:rPr>
              <a:t>11 / 19</a:t>
            </a:r>
            <a:endParaRPr lang="en-US" sz="750" dirty="0"/>
          </a:p>
        </p:txBody>
      </p:sp>
      <p:sp>
        <p:nvSpPr>
          <p:cNvPr id="9" name="Shape 6"/>
          <p:cNvSpPr/>
          <p:nvPr/>
        </p:nvSpPr>
        <p:spPr>
          <a:xfrm>
            <a:off x="457200" y="1024128"/>
            <a:ext cx="3977640" cy="1691640"/>
          </a:xfrm>
          <a:prstGeom prst="roundRect">
            <a:avLst>
              <a:gd name="adj" fmla="val 4324"/>
            </a:avLst>
          </a:prstGeom>
          <a:solidFill>
            <a:srgbClr val="131B2E"/>
          </a:solidFill>
          <a:ln w="12700">
            <a:solidFill>
              <a:srgbClr val="00A1E0"/>
            </a:solidFill>
            <a:prstDash val="solid"/>
          </a:ln>
        </p:spPr>
      </p:sp>
      <p:sp>
        <p:nvSpPr>
          <p:cNvPr id="10" name="Shape 7"/>
          <p:cNvSpPr/>
          <p:nvPr/>
        </p:nvSpPr>
        <p:spPr>
          <a:xfrm>
            <a:off x="594360" y="1133856"/>
            <a:ext cx="1325880" cy="201168"/>
          </a:xfrm>
          <a:prstGeom prst="roundRect">
            <a:avLst>
              <a:gd name="adj" fmla="val 18182"/>
            </a:avLst>
          </a:prstGeom>
          <a:solidFill>
            <a:srgbClr val="1E293B"/>
          </a:solidFill>
          <a:ln w="10160">
            <a:solidFill>
              <a:srgbClr val="00A1E0"/>
            </a:solidFill>
            <a:prstDash val="solid"/>
          </a:ln>
        </p:spPr>
      </p:sp>
      <p:sp>
        <p:nvSpPr>
          <p:cNvPr id="11" name="Text 8"/>
          <p:cNvSpPr/>
          <p:nvPr/>
        </p:nvSpPr>
        <p:spPr>
          <a:xfrm>
            <a:off x="594360" y="1133856"/>
            <a:ext cx="1325880" cy="201168"/>
          </a:xfrm>
          <a:prstGeom prst="rect">
            <a:avLst/>
          </a:prstGeom>
          <a:noFill/>
          <a:ln/>
        </p:spPr>
        <p:txBody>
          <a:bodyPr wrap="square" rtlCol="0" anchor="ctr"/>
          <a:lstStyle/>
          <a:p>
            <a:pPr algn="ctr" indent="0" marL="0">
              <a:buNone/>
            </a:pPr>
            <a:r>
              <a:rPr lang="en-US" sz="680" b="1" dirty="0">
                <a:solidFill>
                  <a:srgbClr val="00A1E0"/>
                </a:solidFill>
                <a:latin typeface="Arial" pitchFamily="34" charset="0"/>
                <a:ea typeface="Arial" pitchFamily="34" charset="-122"/>
                <a:cs typeface="Arial" pitchFamily="34" charset="-120"/>
              </a:rPr>
              <a:t>LOW-CODE CRM</a:t>
            </a:r>
            <a:endParaRPr lang="en-US" sz="680" dirty="0"/>
          </a:p>
        </p:txBody>
      </p:sp>
      <p:sp>
        <p:nvSpPr>
          <p:cNvPr id="12" name="Text 9"/>
          <p:cNvSpPr/>
          <p:nvPr/>
        </p:nvSpPr>
        <p:spPr>
          <a:xfrm>
            <a:off x="2011680" y="1133856"/>
            <a:ext cx="2286000" cy="228600"/>
          </a:xfrm>
          <a:prstGeom prst="rect">
            <a:avLst/>
          </a:prstGeom>
          <a:noFill/>
          <a:ln/>
        </p:spPr>
        <p:txBody>
          <a:bodyPr wrap="square" rtlCol="0" anchor="ctr"/>
          <a:lstStyle/>
          <a:p>
            <a:pPr indent="0" marL="0">
              <a:buNone/>
            </a:pPr>
            <a:r>
              <a:rPr lang="en-US" sz="1050" b="1" dirty="0">
                <a:solidFill>
                  <a:srgbClr val="F8FAFC"/>
                </a:solidFill>
                <a:latin typeface="Arial" pitchFamily="34" charset="0"/>
                <a:ea typeface="Arial" pitchFamily="34" charset="-122"/>
                <a:cs typeface="Arial" pitchFamily="34" charset="-120"/>
              </a:rPr>
              <a:t>Autolaunched Flows</a:t>
            </a:r>
            <a:endParaRPr lang="en-US" sz="1050" dirty="0"/>
          </a:p>
        </p:txBody>
      </p:sp>
      <p:sp>
        <p:nvSpPr>
          <p:cNvPr id="13" name="Text 10"/>
          <p:cNvSpPr/>
          <p:nvPr/>
        </p:nvSpPr>
        <p:spPr>
          <a:xfrm>
            <a:off x="594360" y="1408176"/>
            <a:ext cx="3703320" cy="685800"/>
          </a:xfrm>
          <a:prstGeom prst="rect">
            <a:avLst/>
          </a:prstGeom>
          <a:noFill/>
          <a:ln/>
        </p:spPr>
        <p:txBody>
          <a:bodyPr wrap="square" rtlCol="0" anchor="ctr"/>
          <a:lstStyle/>
          <a:p>
            <a:pPr indent="0" marL="0">
              <a:lnSpc>
                <a:spcPts val="1100"/>
              </a:lnSpc>
              <a:buNone/>
            </a:pPr>
            <a:r>
              <a:rPr lang="en-US" sz="780" dirty="0">
                <a:solidFill>
                  <a:srgbClr val="CBD5E1"/>
                </a:solidFill>
                <a:latin typeface="Arial" pitchFamily="34" charset="0"/>
                <a:ea typeface="Arial" pitchFamily="34" charset="-122"/>
                <a:cs typeface="Arial" pitchFamily="34" charset="-120"/>
              </a:rPr>
              <a:t>Declarative flows executed synchronously without UI screens. Ideal for querying standard objects, creating records, and simple updates.</a:t>
            </a:r>
            <a:endParaRPr lang="en-US" sz="780" dirty="0"/>
          </a:p>
        </p:txBody>
      </p:sp>
      <p:sp>
        <p:nvSpPr>
          <p:cNvPr id="14" name="Shape 11"/>
          <p:cNvSpPr/>
          <p:nvPr/>
        </p:nvSpPr>
        <p:spPr>
          <a:xfrm>
            <a:off x="594360" y="2167128"/>
            <a:ext cx="3703320" cy="411480"/>
          </a:xfrm>
          <a:prstGeom prst="roundRect">
            <a:avLst>
              <a:gd name="adj" fmla="val 11111"/>
            </a:avLst>
          </a:prstGeom>
          <a:solidFill>
            <a:srgbClr val="0D1527"/>
          </a:solidFill>
          <a:ln w="10160">
            <a:solidFill>
              <a:srgbClr val="233354"/>
            </a:solidFill>
            <a:prstDash val="solid"/>
          </a:ln>
        </p:spPr>
      </p:sp>
      <p:sp>
        <p:nvSpPr>
          <p:cNvPr id="15" name="Text 12"/>
          <p:cNvSpPr/>
          <p:nvPr/>
        </p:nvSpPr>
        <p:spPr>
          <a:xfrm>
            <a:off x="685800" y="2212848"/>
            <a:ext cx="3520440" cy="320040"/>
          </a:xfrm>
          <a:prstGeom prst="rect">
            <a:avLst/>
          </a:prstGeom>
          <a:noFill/>
          <a:ln/>
        </p:spPr>
        <p:txBody>
          <a:bodyPr wrap="square" rtlCol="0" anchor="ctr"/>
          <a:lstStyle/>
          <a:p>
            <a:pPr indent="0" marL="0">
              <a:buNone/>
            </a:pPr>
            <a:r>
              <a:rPr lang="en-US" sz="750" b="1" dirty="0">
                <a:solidFill>
                  <a:srgbClr val="38BDF8"/>
                </a:solidFill>
                <a:latin typeface="Arial" pitchFamily="34" charset="0"/>
                <a:ea typeface="Arial" pitchFamily="34" charset="-122"/>
                <a:cs typeface="Arial" pitchFamily="34" charset="-120"/>
              </a:rPr>
              <a:t>⚙ Spec: Input/output variables declared as Available for Input/Output.</a:t>
            </a:r>
            <a:endParaRPr lang="en-US" sz="750" dirty="0"/>
          </a:p>
        </p:txBody>
      </p:sp>
      <p:sp>
        <p:nvSpPr>
          <p:cNvPr id="16" name="Shape 13"/>
          <p:cNvSpPr/>
          <p:nvPr/>
        </p:nvSpPr>
        <p:spPr>
          <a:xfrm>
            <a:off x="4709160" y="1024128"/>
            <a:ext cx="3977640" cy="1691640"/>
          </a:xfrm>
          <a:prstGeom prst="roundRect">
            <a:avLst>
              <a:gd name="adj" fmla="val 4324"/>
            </a:avLst>
          </a:prstGeom>
          <a:solidFill>
            <a:srgbClr val="131B2E"/>
          </a:solidFill>
          <a:ln w="12700">
            <a:solidFill>
              <a:srgbClr val="10B981"/>
            </a:solidFill>
            <a:prstDash val="solid"/>
          </a:ln>
        </p:spPr>
      </p:sp>
      <p:sp>
        <p:nvSpPr>
          <p:cNvPr id="17" name="Shape 14"/>
          <p:cNvSpPr/>
          <p:nvPr/>
        </p:nvSpPr>
        <p:spPr>
          <a:xfrm>
            <a:off x="4846320" y="1133856"/>
            <a:ext cx="1325880" cy="201168"/>
          </a:xfrm>
          <a:prstGeom prst="roundRect">
            <a:avLst>
              <a:gd name="adj" fmla="val 18182"/>
            </a:avLst>
          </a:prstGeom>
          <a:solidFill>
            <a:srgbClr val="1E293B"/>
          </a:solidFill>
          <a:ln w="10160">
            <a:solidFill>
              <a:srgbClr val="10B981"/>
            </a:solidFill>
            <a:prstDash val="solid"/>
          </a:ln>
        </p:spPr>
      </p:sp>
      <p:sp>
        <p:nvSpPr>
          <p:cNvPr id="18" name="Text 15"/>
          <p:cNvSpPr/>
          <p:nvPr/>
        </p:nvSpPr>
        <p:spPr>
          <a:xfrm>
            <a:off x="4846320" y="1133856"/>
            <a:ext cx="1325880" cy="201168"/>
          </a:xfrm>
          <a:prstGeom prst="rect">
            <a:avLst/>
          </a:prstGeom>
          <a:noFill/>
          <a:ln/>
        </p:spPr>
        <p:txBody>
          <a:bodyPr wrap="square" rtlCol="0" anchor="ctr"/>
          <a:lstStyle/>
          <a:p>
            <a:pPr algn="ctr" indent="0" marL="0">
              <a:buNone/>
            </a:pPr>
            <a:r>
              <a:rPr lang="en-US" sz="680" b="1" dirty="0">
                <a:solidFill>
                  <a:srgbClr val="10B981"/>
                </a:solidFill>
                <a:latin typeface="Arial" pitchFamily="34" charset="0"/>
                <a:ea typeface="Arial" pitchFamily="34" charset="-122"/>
                <a:cs typeface="Arial" pitchFamily="34" charset="-120"/>
              </a:rPr>
              <a:t>PRO-CODE APEX</a:t>
            </a:r>
            <a:endParaRPr lang="en-US" sz="680" dirty="0"/>
          </a:p>
        </p:txBody>
      </p:sp>
      <p:sp>
        <p:nvSpPr>
          <p:cNvPr id="19" name="Text 16"/>
          <p:cNvSpPr/>
          <p:nvPr/>
        </p:nvSpPr>
        <p:spPr>
          <a:xfrm>
            <a:off x="6263640" y="1133856"/>
            <a:ext cx="2286000" cy="228600"/>
          </a:xfrm>
          <a:prstGeom prst="rect">
            <a:avLst/>
          </a:prstGeom>
          <a:noFill/>
          <a:ln/>
        </p:spPr>
        <p:txBody>
          <a:bodyPr wrap="square" rtlCol="0" anchor="ctr"/>
          <a:lstStyle/>
          <a:p>
            <a:pPr indent="0" marL="0">
              <a:buNone/>
            </a:pPr>
            <a:r>
              <a:rPr lang="en-US" sz="1050" b="1" dirty="0">
                <a:solidFill>
                  <a:srgbClr val="F8FAFC"/>
                </a:solidFill>
                <a:latin typeface="Arial" pitchFamily="34" charset="0"/>
                <a:ea typeface="Arial" pitchFamily="34" charset="-122"/>
                <a:cs typeface="Arial" pitchFamily="34" charset="-120"/>
              </a:rPr>
              <a:t>Apex @InvocableMethod</a:t>
            </a:r>
            <a:endParaRPr lang="en-US" sz="1050" dirty="0"/>
          </a:p>
        </p:txBody>
      </p:sp>
      <p:sp>
        <p:nvSpPr>
          <p:cNvPr id="20" name="Text 17"/>
          <p:cNvSpPr/>
          <p:nvPr/>
        </p:nvSpPr>
        <p:spPr>
          <a:xfrm>
            <a:off x="4846320" y="1408176"/>
            <a:ext cx="3703320" cy="685800"/>
          </a:xfrm>
          <a:prstGeom prst="rect">
            <a:avLst/>
          </a:prstGeom>
          <a:noFill/>
          <a:ln/>
        </p:spPr>
        <p:txBody>
          <a:bodyPr wrap="square" rtlCol="0" anchor="ctr"/>
          <a:lstStyle/>
          <a:p>
            <a:pPr indent="0" marL="0">
              <a:lnSpc>
                <a:spcPts val="1100"/>
              </a:lnSpc>
              <a:buNone/>
            </a:pPr>
            <a:r>
              <a:rPr lang="en-US" sz="780" dirty="0">
                <a:solidFill>
                  <a:srgbClr val="CBD5E1"/>
                </a:solidFill>
                <a:latin typeface="Arial" pitchFamily="34" charset="0"/>
                <a:ea typeface="Arial" pitchFamily="34" charset="-122"/>
                <a:cs typeface="Arial" pitchFamily="34" charset="-120"/>
              </a:rPr>
              <a:t>Custom Apex classes annotated with @InvocableMethod. Enables complex business logic, callouts, and governor limit mitigation.</a:t>
            </a:r>
            <a:endParaRPr lang="en-US" sz="780" dirty="0"/>
          </a:p>
        </p:txBody>
      </p:sp>
      <p:sp>
        <p:nvSpPr>
          <p:cNvPr id="21" name="Shape 18"/>
          <p:cNvSpPr/>
          <p:nvPr/>
        </p:nvSpPr>
        <p:spPr>
          <a:xfrm>
            <a:off x="4846320" y="2167128"/>
            <a:ext cx="3703320" cy="411480"/>
          </a:xfrm>
          <a:prstGeom prst="roundRect">
            <a:avLst>
              <a:gd name="adj" fmla="val 11111"/>
            </a:avLst>
          </a:prstGeom>
          <a:solidFill>
            <a:srgbClr val="0D1527"/>
          </a:solidFill>
          <a:ln w="10160">
            <a:solidFill>
              <a:srgbClr val="233354"/>
            </a:solidFill>
            <a:prstDash val="solid"/>
          </a:ln>
        </p:spPr>
      </p:sp>
      <p:sp>
        <p:nvSpPr>
          <p:cNvPr id="22" name="Text 19"/>
          <p:cNvSpPr/>
          <p:nvPr/>
        </p:nvSpPr>
        <p:spPr>
          <a:xfrm>
            <a:off x="4937760" y="2212848"/>
            <a:ext cx="3520440" cy="320040"/>
          </a:xfrm>
          <a:prstGeom prst="rect">
            <a:avLst/>
          </a:prstGeom>
          <a:noFill/>
          <a:ln/>
        </p:spPr>
        <p:txBody>
          <a:bodyPr wrap="square" rtlCol="0" anchor="ctr"/>
          <a:lstStyle/>
          <a:p>
            <a:pPr indent="0" marL="0">
              <a:buNone/>
            </a:pPr>
            <a:r>
              <a:rPr lang="en-US" sz="750" b="1" dirty="0">
                <a:solidFill>
                  <a:srgbClr val="38BDF8"/>
                </a:solidFill>
                <a:latin typeface="Arial" pitchFamily="34" charset="0"/>
                <a:ea typeface="Arial" pitchFamily="34" charset="-122"/>
                <a:cs typeface="Arial" pitchFamily="34" charset="-120"/>
              </a:rPr>
              <a:t>⚙ Spec: Supports structured Request/Result wrapper classes with @InvocableVariable.</a:t>
            </a:r>
            <a:endParaRPr lang="en-US" sz="750" dirty="0"/>
          </a:p>
        </p:txBody>
      </p:sp>
      <p:sp>
        <p:nvSpPr>
          <p:cNvPr id="23" name="Shape 20"/>
          <p:cNvSpPr/>
          <p:nvPr/>
        </p:nvSpPr>
        <p:spPr>
          <a:xfrm>
            <a:off x="457200" y="2834640"/>
            <a:ext cx="3977640" cy="1691640"/>
          </a:xfrm>
          <a:prstGeom prst="roundRect">
            <a:avLst>
              <a:gd name="adj" fmla="val 4324"/>
            </a:avLst>
          </a:prstGeom>
          <a:solidFill>
            <a:srgbClr val="131B2E"/>
          </a:solidFill>
          <a:ln w="12700">
            <a:solidFill>
              <a:srgbClr val="8B5CF6"/>
            </a:solidFill>
            <a:prstDash val="solid"/>
          </a:ln>
        </p:spPr>
      </p:sp>
      <p:sp>
        <p:nvSpPr>
          <p:cNvPr id="24" name="Shape 21"/>
          <p:cNvSpPr/>
          <p:nvPr/>
        </p:nvSpPr>
        <p:spPr>
          <a:xfrm>
            <a:off x="594360" y="2944368"/>
            <a:ext cx="1325880" cy="201168"/>
          </a:xfrm>
          <a:prstGeom prst="roundRect">
            <a:avLst>
              <a:gd name="adj" fmla="val 18182"/>
            </a:avLst>
          </a:prstGeom>
          <a:solidFill>
            <a:srgbClr val="1E293B"/>
          </a:solidFill>
          <a:ln w="10160">
            <a:solidFill>
              <a:srgbClr val="8B5CF6"/>
            </a:solidFill>
            <a:prstDash val="solid"/>
          </a:ln>
        </p:spPr>
      </p:sp>
      <p:sp>
        <p:nvSpPr>
          <p:cNvPr id="25" name="Text 22"/>
          <p:cNvSpPr/>
          <p:nvPr/>
        </p:nvSpPr>
        <p:spPr>
          <a:xfrm>
            <a:off x="594360" y="2944368"/>
            <a:ext cx="1325880" cy="201168"/>
          </a:xfrm>
          <a:prstGeom prst="rect">
            <a:avLst/>
          </a:prstGeom>
          <a:noFill/>
          <a:ln/>
        </p:spPr>
        <p:txBody>
          <a:bodyPr wrap="square" rtlCol="0" anchor="ctr"/>
          <a:lstStyle/>
          <a:p>
            <a:pPr algn="ctr" indent="0" marL="0">
              <a:buNone/>
            </a:pPr>
            <a:r>
              <a:rPr lang="en-US" sz="680" b="1" dirty="0">
                <a:solidFill>
                  <a:srgbClr val="8B5CF6"/>
                </a:solidFill>
                <a:latin typeface="Arial" pitchFamily="34" charset="0"/>
                <a:ea typeface="Arial" pitchFamily="34" charset="-122"/>
                <a:cs typeface="Arial" pitchFamily="34" charset="-120"/>
              </a:rPr>
              <a:t>GEN-AI GROUNDING</a:t>
            </a:r>
            <a:endParaRPr lang="en-US" sz="680" dirty="0"/>
          </a:p>
        </p:txBody>
      </p:sp>
      <p:sp>
        <p:nvSpPr>
          <p:cNvPr id="26" name="Text 23"/>
          <p:cNvSpPr/>
          <p:nvPr/>
        </p:nvSpPr>
        <p:spPr>
          <a:xfrm>
            <a:off x="2011680" y="2944368"/>
            <a:ext cx="2286000" cy="228600"/>
          </a:xfrm>
          <a:prstGeom prst="rect">
            <a:avLst/>
          </a:prstGeom>
          <a:noFill/>
          <a:ln/>
        </p:spPr>
        <p:txBody>
          <a:bodyPr wrap="square" rtlCol="0" anchor="ctr"/>
          <a:lstStyle/>
          <a:p>
            <a:pPr indent="0" marL="0">
              <a:buNone/>
            </a:pPr>
            <a:r>
              <a:rPr lang="en-US" sz="1050" b="1" dirty="0">
                <a:solidFill>
                  <a:srgbClr val="F8FAFC"/>
                </a:solidFill>
                <a:latin typeface="Arial" pitchFamily="34" charset="0"/>
                <a:ea typeface="Arial" pitchFamily="34" charset="-122"/>
                <a:cs typeface="Arial" pitchFamily="34" charset="-120"/>
              </a:rPr>
              <a:t>Prompt Templates</a:t>
            </a:r>
            <a:endParaRPr lang="en-US" sz="1050" dirty="0"/>
          </a:p>
        </p:txBody>
      </p:sp>
      <p:sp>
        <p:nvSpPr>
          <p:cNvPr id="27" name="Text 24"/>
          <p:cNvSpPr/>
          <p:nvPr/>
        </p:nvSpPr>
        <p:spPr>
          <a:xfrm>
            <a:off x="594360" y="3218688"/>
            <a:ext cx="3703320" cy="685800"/>
          </a:xfrm>
          <a:prstGeom prst="rect">
            <a:avLst/>
          </a:prstGeom>
          <a:noFill/>
          <a:ln/>
        </p:spPr>
        <p:txBody>
          <a:bodyPr wrap="square" rtlCol="0" anchor="ctr"/>
          <a:lstStyle/>
          <a:p>
            <a:pPr indent="0" marL="0">
              <a:lnSpc>
                <a:spcPts val="1100"/>
              </a:lnSpc>
              <a:buNone/>
            </a:pPr>
            <a:r>
              <a:rPr lang="en-US" sz="780" dirty="0">
                <a:solidFill>
                  <a:srgbClr val="CBD5E1"/>
                </a:solidFill>
                <a:latin typeface="Arial" pitchFamily="34" charset="0"/>
                <a:ea typeface="Arial" pitchFamily="34" charset="-122"/>
                <a:cs typeface="Arial" pitchFamily="34" charset="-120"/>
              </a:rPr>
              <a:t>Custom prompt templates created in Prompt Builder (Field, Record, or Flex). Allows Atlas to execute nested generative prompts.</a:t>
            </a:r>
            <a:endParaRPr lang="en-US" sz="780" dirty="0"/>
          </a:p>
        </p:txBody>
      </p:sp>
      <p:sp>
        <p:nvSpPr>
          <p:cNvPr id="28" name="Shape 25"/>
          <p:cNvSpPr/>
          <p:nvPr/>
        </p:nvSpPr>
        <p:spPr>
          <a:xfrm>
            <a:off x="594360" y="3977640"/>
            <a:ext cx="3703320" cy="411480"/>
          </a:xfrm>
          <a:prstGeom prst="roundRect">
            <a:avLst>
              <a:gd name="adj" fmla="val 11111"/>
            </a:avLst>
          </a:prstGeom>
          <a:solidFill>
            <a:srgbClr val="0D1527"/>
          </a:solidFill>
          <a:ln w="10160">
            <a:solidFill>
              <a:srgbClr val="233354"/>
            </a:solidFill>
            <a:prstDash val="solid"/>
          </a:ln>
        </p:spPr>
      </p:sp>
      <p:sp>
        <p:nvSpPr>
          <p:cNvPr id="29" name="Text 26"/>
          <p:cNvSpPr/>
          <p:nvPr/>
        </p:nvSpPr>
        <p:spPr>
          <a:xfrm>
            <a:off x="685800" y="4023360"/>
            <a:ext cx="3520440" cy="320040"/>
          </a:xfrm>
          <a:prstGeom prst="rect">
            <a:avLst/>
          </a:prstGeom>
          <a:noFill/>
          <a:ln/>
        </p:spPr>
        <p:txBody>
          <a:bodyPr wrap="square" rtlCol="0" anchor="ctr"/>
          <a:lstStyle/>
          <a:p>
            <a:pPr indent="0" marL="0">
              <a:buNone/>
            </a:pPr>
            <a:r>
              <a:rPr lang="en-US" sz="750" b="1" dirty="0">
                <a:solidFill>
                  <a:srgbClr val="38BDF8"/>
                </a:solidFill>
                <a:latin typeface="Arial" pitchFamily="34" charset="0"/>
                <a:ea typeface="Arial" pitchFamily="34" charset="-122"/>
                <a:cs typeface="Arial" pitchFamily="34" charset="-120"/>
              </a:rPr>
              <a:t>⚙ Spec: Grounded in CRM record merge fields and Data Cloud data graphs.</a:t>
            </a:r>
            <a:endParaRPr lang="en-US" sz="750" dirty="0"/>
          </a:p>
        </p:txBody>
      </p:sp>
      <p:sp>
        <p:nvSpPr>
          <p:cNvPr id="30" name="Shape 27"/>
          <p:cNvSpPr/>
          <p:nvPr/>
        </p:nvSpPr>
        <p:spPr>
          <a:xfrm>
            <a:off x="4709160" y="2834640"/>
            <a:ext cx="3977640" cy="1691640"/>
          </a:xfrm>
          <a:prstGeom prst="roundRect">
            <a:avLst>
              <a:gd name="adj" fmla="val 4324"/>
            </a:avLst>
          </a:prstGeom>
          <a:solidFill>
            <a:srgbClr val="131B2E"/>
          </a:solidFill>
          <a:ln w="12700">
            <a:solidFill>
              <a:srgbClr val="F59E0B"/>
            </a:solidFill>
            <a:prstDash val="solid"/>
          </a:ln>
        </p:spPr>
      </p:sp>
      <p:sp>
        <p:nvSpPr>
          <p:cNvPr id="31" name="Shape 28"/>
          <p:cNvSpPr/>
          <p:nvPr/>
        </p:nvSpPr>
        <p:spPr>
          <a:xfrm>
            <a:off x="4846320" y="2944368"/>
            <a:ext cx="1325880" cy="201168"/>
          </a:xfrm>
          <a:prstGeom prst="roundRect">
            <a:avLst>
              <a:gd name="adj" fmla="val 18182"/>
            </a:avLst>
          </a:prstGeom>
          <a:solidFill>
            <a:srgbClr val="1E293B"/>
          </a:solidFill>
          <a:ln w="10160">
            <a:solidFill>
              <a:srgbClr val="F59E0B"/>
            </a:solidFill>
            <a:prstDash val="solid"/>
          </a:ln>
        </p:spPr>
      </p:sp>
      <p:sp>
        <p:nvSpPr>
          <p:cNvPr id="32" name="Text 29"/>
          <p:cNvSpPr/>
          <p:nvPr/>
        </p:nvSpPr>
        <p:spPr>
          <a:xfrm>
            <a:off x="4846320" y="2944368"/>
            <a:ext cx="1325880" cy="201168"/>
          </a:xfrm>
          <a:prstGeom prst="rect">
            <a:avLst/>
          </a:prstGeom>
          <a:noFill/>
          <a:ln/>
        </p:spPr>
        <p:txBody>
          <a:bodyPr wrap="square" rtlCol="0" anchor="ctr"/>
          <a:lstStyle/>
          <a:p>
            <a:pPr algn="ctr" indent="0" marL="0">
              <a:buNone/>
            </a:pPr>
            <a:r>
              <a:rPr lang="en-US" sz="680" b="1" dirty="0">
                <a:solidFill>
                  <a:srgbClr val="F59E0B"/>
                </a:solidFill>
                <a:latin typeface="Arial" pitchFamily="34" charset="0"/>
                <a:ea typeface="Arial" pitchFamily="34" charset="-122"/>
                <a:cs typeface="Arial" pitchFamily="34" charset="-120"/>
              </a:rPr>
              <a:t>ENTERPRISE INTEGRATION</a:t>
            </a:r>
            <a:endParaRPr lang="en-US" sz="680" dirty="0"/>
          </a:p>
        </p:txBody>
      </p:sp>
      <p:sp>
        <p:nvSpPr>
          <p:cNvPr id="33" name="Text 30"/>
          <p:cNvSpPr/>
          <p:nvPr/>
        </p:nvSpPr>
        <p:spPr>
          <a:xfrm>
            <a:off x="6263640" y="2944368"/>
            <a:ext cx="2286000" cy="228600"/>
          </a:xfrm>
          <a:prstGeom prst="rect">
            <a:avLst/>
          </a:prstGeom>
          <a:noFill/>
          <a:ln/>
        </p:spPr>
        <p:txBody>
          <a:bodyPr wrap="square" rtlCol="0" anchor="ctr"/>
          <a:lstStyle/>
          <a:p>
            <a:pPr indent="0" marL="0">
              <a:buNone/>
            </a:pPr>
            <a:r>
              <a:rPr lang="en-US" sz="1050" b="1" dirty="0">
                <a:solidFill>
                  <a:srgbClr val="F8FAFC"/>
                </a:solidFill>
                <a:latin typeface="Arial" pitchFamily="34" charset="0"/>
                <a:ea typeface="Arial" pitchFamily="34" charset="-122"/>
                <a:cs typeface="Arial" pitchFamily="34" charset="-120"/>
              </a:rPr>
              <a:t>External Services &amp; APIs</a:t>
            </a:r>
            <a:endParaRPr lang="en-US" sz="1050" dirty="0"/>
          </a:p>
        </p:txBody>
      </p:sp>
      <p:sp>
        <p:nvSpPr>
          <p:cNvPr id="34" name="Text 31"/>
          <p:cNvSpPr/>
          <p:nvPr/>
        </p:nvSpPr>
        <p:spPr>
          <a:xfrm>
            <a:off x="4846320" y="3218688"/>
            <a:ext cx="3703320" cy="685800"/>
          </a:xfrm>
          <a:prstGeom prst="rect">
            <a:avLst/>
          </a:prstGeom>
          <a:noFill/>
          <a:ln/>
        </p:spPr>
        <p:txBody>
          <a:bodyPr wrap="square" rtlCol="0" anchor="ctr"/>
          <a:lstStyle/>
          <a:p>
            <a:pPr indent="0" marL="0">
              <a:lnSpc>
                <a:spcPts val="1100"/>
              </a:lnSpc>
              <a:buNone/>
            </a:pPr>
            <a:r>
              <a:rPr lang="en-US" sz="780" dirty="0">
                <a:solidFill>
                  <a:srgbClr val="CBD5E1"/>
                </a:solidFill>
                <a:latin typeface="Arial" pitchFamily="34" charset="0"/>
                <a:ea typeface="Arial" pitchFamily="34" charset="-122"/>
                <a:cs typeface="Arial" pitchFamily="34" charset="-120"/>
              </a:rPr>
              <a:t>Direct integrations to legacy ERPs, payment gateways, and MuleSoft APIs via OpenAPI / Swagger specifications.</a:t>
            </a:r>
            <a:endParaRPr lang="en-US" sz="780" dirty="0"/>
          </a:p>
        </p:txBody>
      </p:sp>
      <p:sp>
        <p:nvSpPr>
          <p:cNvPr id="35" name="Shape 32"/>
          <p:cNvSpPr/>
          <p:nvPr/>
        </p:nvSpPr>
        <p:spPr>
          <a:xfrm>
            <a:off x="4846320" y="3977640"/>
            <a:ext cx="3703320" cy="411480"/>
          </a:xfrm>
          <a:prstGeom prst="roundRect">
            <a:avLst>
              <a:gd name="adj" fmla="val 11111"/>
            </a:avLst>
          </a:prstGeom>
          <a:solidFill>
            <a:srgbClr val="0D1527"/>
          </a:solidFill>
          <a:ln w="10160">
            <a:solidFill>
              <a:srgbClr val="233354"/>
            </a:solidFill>
            <a:prstDash val="solid"/>
          </a:ln>
        </p:spPr>
      </p:sp>
      <p:sp>
        <p:nvSpPr>
          <p:cNvPr id="36" name="Text 33"/>
          <p:cNvSpPr/>
          <p:nvPr/>
        </p:nvSpPr>
        <p:spPr>
          <a:xfrm>
            <a:off x="4937760" y="4023360"/>
            <a:ext cx="3520440" cy="320040"/>
          </a:xfrm>
          <a:prstGeom prst="rect">
            <a:avLst/>
          </a:prstGeom>
          <a:noFill/>
          <a:ln/>
        </p:spPr>
        <p:txBody>
          <a:bodyPr wrap="square" rtlCol="0" anchor="ctr"/>
          <a:lstStyle/>
          <a:p>
            <a:pPr indent="0" marL="0">
              <a:buNone/>
            </a:pPr>
            <a:r>
              <a:rPr lang="en-US" sz="750" b="1" dirty="0">
                <a:solidFill>
                  <a:srgbClr val="38BDF8"/>
                </a:solidFill>
                <a:latin typeface="Arial" pitchFamily="34" charset="0"/>
                <a:ea typeface="Arial" pitchFamily="34" charset="-122"/>
                <a:cs typeface="Arial" pitchFamily="34" charset="-120"/>
              </a:rPr>
              <a:t>⚙ Spec: Executes secure external REST calls directly from the ReAct loop.</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457200" y="256032"/>
            <a:ext cx="1097280" cy="27432"/>
          </a:xfrm>
          <a:prstGeom prst="rect">
            <a:avLst/>
          </a:prstGeom>
          <a:solidFill>
            <a:srgbClr val="00A1E0"/>
          </a:solidFill>
          <a:ln w="12700">
            <a:solidFill>
              <a:srgbClr val="00A1E0"/>
            </a:solidFill>
            <a:prstDash val="solid"/>
          </a:ln>
        </p:spPr>
      </p:sp>
      <p:sp>
        <p:nvSpPr>
          <p:cNvPr id="3" name="Text 1"/>
          <p:cNvSpPr/>
          <p:nvPr/>
        </p:nvSpPr>
        <p:spPr>
          <a:xfrm>
            <a:off x="457200" y="320040"/>
            <a:ext cx="8229600" cy="164592"/>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SECURITY &amp; COMPLIANCE</a:t>
            </a:r>
            <a:endParaRPr lang="en-US" sz="800" dirty="0"/>
          </a:p>
        </p:txBody>
      </p:sp>
      <p:sp>
        <p:nvSpPr>
          <p:cNvPr id="4" name="Text 2"/>
          <p:cNvSpPr/>
          <p:nvPr/>
        </p:nvSpPr>
        <p:spPr>
          <a:xfrm>
            <a:off x="457200" y="493776"/>
            <a:ext cx="8229600" cy="320040"/>
          </a:xfrm>
          <a:prstGeom prst="rect">
            <a:avLst/>
          </a:prstGeom>
          <a:noFill/>
          <a:ln/>
        </p:spPr>
        <p:txBody>
          <a:bodyPr wrap="square" rtlCol="0" anchor="ctr"/>
          <a:lstStyle/>
          <a:p>
            <a:pPr indent="0" marL="0">
              <a:buNone/>
            </a:pPr>
            <a:r>
              <a:rPr lang="en-US" sz="1500" b="1" dirty="0">
                <a:solidFill>
                  <a:srgbClr val="F8FAFC"/>
                </a:solidFill>
                <a:latin typeface="Arial" pitchFamily="34" charset="0"/>
                <a:ea typeface="Arial" pitchFamily="34" charset="-122"/>
                <a:cs typeface="Arial" pitchFamily="34" charset="-120"/>
              </a:rPr>
              <a:t>Enterprise Security: Foundation LLMs &amp; Einstein Trust Layer</a:t>
            </a:r>
            <a:endParaRPr lang="en-US" sz="1500" dirty="0"/>
          </a:p>
        </p:txBody>
      </p:sp>
      <p:sp>
        <p:nvSpPr>
          <p:cNvPr id="5" name="Shape 3"/>
          <p:cNvSpPr/>
          <p:nvPr/>
        </p:nvSpPr>
        <p:spPr>
          <a:xfrm>
            <a:off x="457200" y="859536"/>
            <a:ext cx="8229600" cy="0"/>
          </a:xfrm>
          <a:prstGeom prst="line">
            <a:avLst/>
          </a:prstGeom>
          <a:noFill/>
          <a:ln w="12700">
            <a:solidFill>
              <a:srgbClr val="1E293B"/>
            </a:solidFill>
            <a:prstDash val="solid"/>
          </a:ln>
        </p:spPr>
      </p:sp>
      <p:sp>
        <p:nvSpPr>
          <p:cNvPr id="6" name="Text 4"/>
          <p:cNvSpPr/>
          <p:nvPr/>
        </p:nvSpPr>
        <p:spPr>
          <a:xfrm>
            <a:off x="457200" y="4791456"/>
            <a:ext cx="6400800" cy="228600"/>
          </a:xfrm>
          <a:prstGeom prst="rect">
            <a:avLst/>
          </a:prstGeom>
          <a:noFill/>
          <a:ln/>
        </p:spPr>
        <p:txBody>
          <a:bodyPr wrap="square" rtlCol="0" anchor="ctr"/>
          <a:lstStyle/>
          <a:p>
            <a:pPr indent="0" marL="0">
              <a:buNone/>
            </a:pPr>
            <a:r>
              <a:rPr lang="en-US" sz="750" dirty="0">
                <a:solidFill>
                  <a:srgbClr val="94A3B8"/>
                </a:solidFill>
                <a:latin typeface="Arial" pitchFamily="34" charset="0"/>
                <a:ea typeface="Arial" pitchFamily="34" charset="-122"/>
                <a:cs typeface="Arial" pitchFamily="34" charset="-120"/>
              </a:rPr>
              <a:t>Salesforce Agentforce &amp; Data 360 Enablement  •  Day 1: Atlas Reasoning Engine &amp; ReAct Loop</a:t>
            </a:r>
            <a:endParaRPr lang="en-US" sz="750" dirty="0"/>
          </a:p>
        </p:txBody>
      </p:sp>
      <p:sp>
        <p:nvSpPr>
          <p:cNvPr id="7" name="Text 5"/>
          <p:cNvSpPr/>
          <p:nvPr/>
        </p:nvSpPr>
        <p:spPr>
          <a:xfrm>
            <a:off x="7315200" y="4791456"/>
            <a:ext cx="1371600" cy="228600"/>
          </a:xfrm>
          <a:prstGeom prst="rect">
            <a:avLst/>
          </a:prstGeom>
          <a:noFill/>
          <a:ln/>
        </p:spPr>
        <p:txBody>
          <a:bodyPr wrap="square" rtlCol="0" anchor="ctr"/>
          <a:lstStyle/>
          <a:p>
            <a:pPr algn="r" indent="0" marL="0">
              <a:buNone/>
            </a:pPr>
            <a:r>
              <a:rPr lang="en-US" sz="750" b="1" dirty="0">
                <a:solidFill>
                  <a:srgbClr val="00A1E0"/>
                </a:solidFill>
                <a:latin typeface="Arial" pitchFamily="34" charset="0"/>
                <a:ea typeface="Arial" pitchFamily="34" charset="-122"/>
                <a:cs typeface="Arial" pitchFamily="34" charset="-120"/>
              </a:rPr>
              <a:t>12 / 19</a:t>
            </a:r>
            <a:endParaRPr lang="en-US" sz="750" dirty="0"/>
          </a:p>
        </p:txBody>
      </p:sp>
      <p:sp>
        <p:nvSpPr>
          <p:cNvPr id="9" name="Shape 6"/>
          <p:cNvSpPr/>
          <p:nvPr/>
        </p:nvSpPr>
        <p:spPr>
          <a:xfrm>
            <a:off x="457200" y="1024128"/>
            <a:ext cx="3977640" cy="1691640"/>
          </a:xfrm>
          <a:prstGeom prst="roundRect">
            <a:avLst>
              <a:gd name="adj" fmla="val 4324"/>
            </a:avLst>
          </a:prstGeom>
          <a:solidFill>
            <a:srgbClr val="131B2E"/>
          </a:solidFill>
          <a:ln w="12700">
            <a:solidFill>
              <a:srgbClr val="10B981"/>
            </a:solidFill>
            <a:prstDash val="solid"/>
          </a:ln>
        </p:spPr>
      </p:sp>
      <p:sp>
        <p:nvSpPr>
          <p:cNvPr id="10" name="Shape 7"/>
          <p:cNvSpPr/>
          <p:nvPr/>
        </p:nvSpPr>
        <p:spPr>
          <a:xfrm>
            <a:off x="594360" y="1133856"/>
            <a:ext cx="1280160" cy="201168"/>
          </a:xfrm>
          <a:prstGeom prst="roundRect">
            <a:avLst>
              <a:gd name="adj" fmla="val 18182"/>
            </a:avLst>
          </a:prstGeom>
          <a:solidFill>
            <a:srgbClr val="1E293B"/>
          </a:solidFill>
          <a:ln w="10160">
            <a:solidFill>
              <a:srgbClr val="10B981"/>
            </a:solidFill>
            <a:prstDash val="solid"/>
          </a:ln>
        </p:spPr>
      </p:sp>
      <p:sp>
        <p:nvSpPr>
          <p:cNvPr id="11" name="Text 8"/>
          <p:cNvSpPr/>
          <p:nvPr/>
        </p:nvSpPr>
        <p:spPr>
          <a:xfrm>
            <a:off x="594360" y="1133856"/>
            <a:ext cx="1280160" cy="201168"/>
          </a:xfrm>
          <a:prstGeom prst="rect">
            <a:avLst/>
          </a:prstGeom>
          <a:noFill/>
          <a:ln/>
        </p:spPr>
        <p:txBody>
          <a:bodyPr wrap="square" rtlCol="0" anchor="ctr"/>
          <a:lstStyle/>
          <a:p>
            <a:pPr algn="ctr" indent="0" marL="0">
              <a:buNone/>
            </a:pPr>
            <a:r>
              <a:rPr lang="en-US" sz="700" b="1" dirty="0">
                <a:solidFill>
                  <a:srgbClr val="10B981"/>
                </a:solidFill>
                <a:latin typeface="Arial" pitchFamily="34" charset="0"/>
                <a:ea typeface="Arial" pitchFamily="34" charset="-122"/>
                <a:cs typeface="Arial" pitchFamily="34" charset="-120"/>
              </a:rPr>
              <a:t>DATA PRIVACY</a:t>
            </a:r>
            <a:endParaRPr lang="en-US" sz="700" dirty="0"/>
          </a:p>
        </p:txBody>
      </p:sp>
      <p:sp>
        <p:nvSpPr>
          <p:cNvPr id="12" name="Text 9"/>
          <p:cNvSpPr/>
          <p:nvPr/>
        </p:nvSpPr>
        <p:spPr>
          <a:xfrm>
            <a:off x="1965960" y="1133856"/>
            <a:ext cx="2331720" cy="228600"/>
          </a:xfrm>
          <a:prstGeom prst="rect">
            <a:avLst/>
          </a:prstGeom>
          <a:noFill/>
          <a:ln/>
        </p:spPr>
        <p:txBody>
          <a:bodyPr wrap="square" rtlCol="0" anchor="ctr"/>
          <a:lstStyle/>
          <a:p>
            <a:pPr indent="0" marL="0">
              <a:buNone/>
            </a:pPr>
            <a:r>
              <a:rPr lang="en-US" sz="1050" b="1" dirty="0">
                <a:solidFill>
                  <a:srgbClr val="F8FAFC"/>
                </a:solidFill>
                <a:latin typeface="Arial" pitchFamily="34" charset="0"/>
                <a:ea typeface="Arial" pitchFamily="34" charset="-122"/>
                <a:cs typeface="Arial" pitchFamily="34" charset="-120"/>
              </a:rPr>
              <a:t>Zero Data Retention (ZDR)</a:t>
            </a:r>
            <a:endParaRPr lang="en-US" sz="1050" dirty="0"/>
          </a:p>
        </p:txBody>
      </p:sp>
      <p:sp>
        <p:nvSpPr>
          <p:cNvPr id="13" name="Text 10"/>
          <p:cNvSpPr/>
          <p:nvPr/>
        </p:nvSpPr>
        <p:spPr>
          <a:xfrm>
            <a:off x="594360" y="1408176"/>
            <a:ext cx="3703320" cy="685800"/>
          </a:xfrm>
          <a:prstGeom prst="rect">
            <a:avLst/>
          </a:prstGeom>
          <a:noFill/>
          <a:ln/>
        </p:spPr>
        <p:txBody>
          <a:bodyPr wrap="square" rtlCol="0" anchor="ctr"/>
          <a:lstStyle/>
          <a:p>
            <a:pPr indent="0" marL="0">
              <a:lnSpc>
                <a:spcPts val="1100"/>
              </a:lnSpc>
              <a:buNone/>
            </a:pPr>
            <a:r>
              <a:rPr lang="en-US" sz="780" dirty="0">
                <a:solidFill>
                  <a:srgbClr val="CBD5E1"/>
                </a:solidFill>
                <a:latin typeface="Arial" pitchFamily="34" charset="0"/>
                <a:ea typeface="Arial" pitchFamily="34" charset="-122"/>
                <a:cs typeface="Arial" pitchFamily="34" charset="-120"/>
              </a:rPr>
              <a:t>Strict contractual guarantee that foundational LLM vendors (OpenAI, Anthropic, Google) NEVER store, retain, or train on enterprise customer data.</a:t>
            </a:r>
            <a:endParaRPr lang="en-US" sz="780" dirty="0"/>
          </a:p>
        </p:txBody>
      </p:sp>
      <p:sp>
        <p:nvSpPr>
          <p:cNvPr id="14" name="Shape 11"/>
          <p:cNvSpPr/>
          <p:nvPr/>
        </p:nvSpPr>
        <p:spPr>
          <a:xfrm>
            <a:off x="594360" y="2167128"/>
            <a:ext cx="3703320" cy="411480"/>
          </a:xfrm>
          <a:prstGeom prst="roundRect">
            <a:avLst>
              <a:gd name="adj" fmla="val 11111"/>
            </a:avLst>
          </a:prstGeom>
          <a:solidFill>
            <a:srgbClr val="0D1527"/>
          </a:solidFill>
          <a:ln w="10160">
            <a:solidFill>
              <a:srgbClr val="233354"/>
            </a:solidFill>
            <a:prstDash val="solid"/>
          </a:ln>
        </p:spPr>
      </p:sp>
      <p:sp>
        <p:nvSpPr>
          <p:cNvPr id="15" name="Text 12"/>
          <p:cNvSpPr/>
          <p:nvPr/>
        </p:nvSpPr>
        <p:spPr>
          <a:xfrm>
            <a:off x="685800" y="2212848"/>
            <a:ext cx="3520440" cy="320040"/>
          </a:xfrm>
          <a:prstGeom prst="rect">
            <a:avLst/>
          </a:prstGeom>
          <a:noFill/>
          <a:ln/>
        </p:spPr>
        <p:txBody>
          <a:bodyPr wrap="square" rtlCol="0" anchor="ctr"/>
          <a:lstStyle/>
          <a:p>
            <a:pPr indent="0" marL="0">
              <a:buNone/>
            </a:pPr>
            <a:r>
              <a:rPr lang="en-US" sz="750" b="1" dirty="0">
                <a:solidFill>
                  <a:srgbClr val="38BDF8"/>
                </a:solidFill>
                <a:latin typeface="Arial" pitchFamily="34" charset="0"/>
                <a:ea typeface="Arial" pitchFamily="34" charset="-122"/>
                <a:cs typeface="Arial" pitchFamily="34" charset="-120"/>
              </a:rPr>
              <a:t>⚙ Note: Salesforce Private Gateway enforces stateless transient inference.</a:t>
            </a:r>
            <a:endParaRPr lang="en-US" sz="750" dirty="0"/>
          </a:p>
        </p:txBody>
      </p:sp>
      <p:sp>
        <p:nvSpPr>
          <p:cNvPr id="16" name="Shape 13"/>
          <p:cNvSpPr/>
          <p:nvPr/>
        </p:nvSpPr>
        <p:spPr>
          <a:xfrm>
            <a:off x="4709160" y="1024128"/>
            <a:ext cx="3977640" cy="1691640"/>
          </a:xfrm>
          <a:prstGeom prst="roundRect">
            <a:avLst>
              <a:gd name="adj" fmla="val 4324"/>
            </a:avLst>
          </a:prstGeom>
          <a:solidFill>
            <a:srgbClr val="131B2E"/>
          </a:solidFill>
          <a:ln w="12700">
            <a:solidFill>
              <a:srgbClr val="00A1E0"/>
            </a:solidFill>
            <a:prstDash val="solid"/>
          </a:ln>
        </p:spPr>
      </p:sp>
      <p:sp>
        <p:nvSpPr>
          <p:cNvPr id="17" name="Shape 14"/>
          <p:cNvSpPr/>
          <p:nvPr/>
        </p:nvSpPr>
        <p:spPr>
          <a:xfrm>
            <a:off x="4846320" y="1133856"/>
            <a:ext cx="1280160" cy="201168"/>
          </a:xfrm>
          <a:prstGeom prst="roundRect">
            <a:avLst>
              <a:gd name="adj" fmla="val 18182"/>
            </a:avLst>
          </a:prstGeom>
          <a:solidFill>
            <a:srgbClr val="1E293B"/>
          </a:solidFill>
          <a:ln w="10160">
            <a:solidFill>
              <a:srgbClr val="00A1E0"/>
            </a:solidFill>
            <a:prstDash val="solid"/>
          </a:ln>
        </p:spPr>
      </p:sp>
      <p:sp>
        <p:nvSpPr>
          <p:cNvPr id="18" name="Text 15"/>
          <p:cNvSpPr/>
          <p:nvPr/>
        </p:nvSpPr>
        <p:spPr>
          <a:xfrm>
            <a:off x="4846320" y="1133856"/>
            <a:ext cx="1280160" cy="201168"/>
          </a:xfrm>
          <a:prstGeom prst="rect">
            <a:avLst/>
          </a:prstGeom>
          <a:noFill/>
          <a:ln/>
        </p:spPr>
        <p:txBody>
          <a:bodyPr wrap="square" rtlCol="0" anchor="ctr"/>
          <a:lstStyle/>
          <a:p>
            <a:pPr algn="ctr" indent="0" marL="0">
              <a:buNone/>
            </a:pPr>
            <a:r>
              <a:rPr lang="en-US" sz="700" b="1" dirty="0">
                <a:solidFill>
                  <a:srgbClr val="00A1E0"/>
                </a:solidFill>
                <a:latin typeface="Arial" pitchFamily="34" charset="0"/>
                <a:ea typeface="Arial" pitchFamily="34" charset="-122"/>
                <a:cs typeface="Arial" pitchFamily="34" charset="-120"/>
              </a:rPr>
              <a:t>DATA ANONYMIZATION</a:t>
            </a:r>
            <a:endParaRPr lang="en-US" sz="700" dirty="0"/>
          </a:p>
        </p:txBody>
      </p:sp>
      <p:sp>
        <p:nvSpPr>
          <p:cNvPr id="19" name="Text 16"/>
          <p:cNvSpPr/>
          <p:nvPr/>
        </p:nvSpPr>
        <p:spPr>
          <a:xfrm>
            <a:off x="6217920" y="1133856"/>
            <a:ext cx="2331720" cy="228600"/>
          </a:xfrm>
          <a:prstGeom prst="rect">
            <a:avLst/>
          </a:prstGeom>
          <a:noFill/>
          <a:ln/>
        </p:spPr>
        <p:txBody>
          <a:bodyPr wrap="square" rtlCol="0" anchor="ctr"/>
          <a:lstStyle/>
          <a:p>
            <a:pPr indent="0" marL="0">
              <a:buNone/>
            </a:pPr>
            <a:r>
              <a:rPr lang="en-US" sz="1050" b="1" dirty="0">
                <a:solidFill>
                  <a:srgbClr val="F8FAFC"/>
                </a:solidFill>
                <a:latin typeface="Arial" pitchFamily="34" charset="0"/>
                <a:ea typeface="Arial" pitchFamily="34" charset="-122"/>
                <a:cs typeface="Arial" pitchFamily="34" charset="-120"/>
              </a:rPr>
              <a:t>Dynamic PII Masking</a:t>
            </a:r>
            <a:endParaRPr lang="en-US" sz="1050" dirty="0"/>
          </a:p>
        </p:txBody>
      </p:sp>
      <p:sp>
        <p:nvSpPr>
          <p:cNvPr id="20" name="Text 17"/>
          <p:cNvSpPr/>
          <p:nvPr/>
        </p:nvSpPr>
        <p:spPr>
          <a:xfrm>
            <a:off x="4846320" y="1408176"/>
            <a:ext cx="3703320" cy="685800"/>
          </a:xfrm>
          <a:prstGeom prst="rect">
            <a:avLst/>
          </a:prstGeom>
          <a:noFill/>
          <a:ln/>
        </p:spPr>
        <p:txBody>
          <a:bodyPr wrap="square" rtlCol="0" anchor="ctr"/>
          <a:lstStyle/>
          <a:p>
            <a:pPr indent="0" marL="0">
              <a:lnSpc>
                <a:spcPts val="1100"/>
              </a:lnSpc>
              <a:buNone/>
            </a:pPr>
            <a:r>
              <a:rPr lang="en-US" sz="780" dirty="0">
                <a:solidFill>
                  <a:srgbClr val="CBD5E1"/>
                </a:solidFill>
                <a:latin typeface="Arial" pitchFamily="34" charset="0"/>
                <a:ea typeface="Arial" pitchFamily="34" charset="-122"/>
                <a:cs typeface="Arial" pitchFamily="34" charset="-120"/>
              </a:rPr>
              <a:t>Scans and replaces sensitive data (SSNs, cards, emails, phone numbers) with synthetic tokens prior to outbound LLM dispatch.</a:t>
            </a:r>
            <a:endParaRPr lang="en-US" sz="780" dirty="0"/>
          </a:p>
        </p:txBody>
      </p:sp>
      <p:sp>
        <p:nvSpPr>
          <p:cNvPr id="21" name="Shape 18"/>
          <p:cNvSpPr/>
          <p:nvPr/>
        </p:nvSpPr>
        <p:spPr>
          <a:xfrm>
            <a:off x="4846320" y="2167128"/>
            <a:ext cx="3703320" cy="411480"/>
          </a:xfrm>
          <a:prstGeom prst="roundRect">
            <a:avLst>
              <a:gd name="adj" fmla="val 11111"/>
            </a:avLst>
          </a:prstGeom>
          <a:solidFill>
            <a:srgbClr val="0D1527"/>
          </a:solidFill>
          <a:ln w="10160">
            <a:solidFill>
              <a:srgbClr val="233354"/>
            </a:solidFill>
            <a:prstDash val="solid"/>
          </a:ln>
        </p:spPr>
      </p:sp>
      <p:sp>
        <p:nvSpPr>
          <p:cNvPr id="22" name="Text 19"/>
          <p:cNvSpPr/>
          <p:nvPr/>
        </p:nvSpPr>
        <p:spPr>
          <a:xfrm>
            <a:off x="4937760" y="2212848"/>
            <a:ext cx="3520440" cy="320040"/>
          </a:xfrm>
          <a:prstGeom prst="rect">
            <a:avLst/>
          </a:prstGeom>
          <a:noFill/>
          <a:ln/>
        </p:spPr>
        <p:txBody>
          <a:bodyPr wrap="square" rtlCol="0" anchor="ctr"/>
          <a:lstStyle/>
          <a:p>
            <a:pPr indent="0" marL="0">
              <a:buNone/>
            </a:pPr>
            <a:r>
              <a:rPr lang="en-US" sz="750" b="1" dirty="0">
                <a:solidFill>
                  <a:srgbClr val="38BDF8"/>
                </a:solidFill>
                <a:latin typeface="Arial" pitchFamily="34" charset="0"/>
                <a:ea typeface="Arial" pitchFamily="34" charset="-122"/>
                <a:cs typeface="Arial" pitchFamily="34" charset="-120"/>
              </a:rPr>
              <a:t>⚙ Note: Tokens de-masked when response re-enters Salesforce.</a:t>
            </a:r>
            <a:endParaRPr lang="en-US" sz="750" dirty="0"/>
          </a:p>
        </p:txBody>
      </p:sp>
      <p:sp>
        <p:nvSpPr>
          <p:cNvPr id="23" name="Shape 20"/>
          <p:cNvSpPr/>
          <p:nvPr/>
        </p:nvSpPr>
        <p:spPr>
          <a:xfrm>
            <a:off x="457200" y="2834640"/>
            <a:ext cx="3977640" cy="1691640"/>
          </a:xfrm>
          <a:prstGeom prst="roundRect">
            <a:avLst>
              <a:gd name="adj" fmla="val 4324"/>
            </a:avLst>
          </a:prstGeom>
          <a:solidFill>
            <a:srgbClr val="131B2E"/>
          </a:solidFill>
          <a:ln w="12700">
            <a:solidFill>
              <a:srgbClr val="8B5CF6"/>
            </a:solidFill>
            <a:prstDash val="solid"/>
          </a:ln>
        </p:spPr>
      </p:sp>
      <p:sp>
        <p:nvSpPr>
          <p:cNvPr id="24" name="Shape 21"/>
          <p:cNvSpPr/>
          <p:nvPr/>
        </p:nvSpPr>
        <p:spPr>
          <a:xfrm>
            <a:off x="594360" y="2944368"/>
            <a:ext cx="1280160" cy="201168"/>
          </a:xfrm>
          <a:prstGeom prst="roundRect">
            <a:avLst>
              <a:gd name="adj" fmla="val 18182"/>
            </a:avLst>
          </a:prstGeom>
          <a:solidFill>
            <a:srgbClr val="1E293B"/>
          </a:solidFill>
          <a:ln w="10160">
            <a:solidFill>
              <a:srgbClr val="8B5CF6"/>
            </a:solidFill>
            <a:prstDash val="solid"/>
          </a:ln>
        </p:spPr>
      </p:sp>
      <p:sp>
        <p:nvSpPr>
          <p:cNvPr id="25" name="Text 22"/>
          <p:cNvSpPr/>
          <p:nvPr/>
        </p:nvSpPr>
        <p:spPr>
          <a:xfrm>
            <a:off x="594360" y="2944368"/>
            <a:ext cx="1280160" cy="201168"/>
          </a:xfrm>
          <a:prstGeom prst="rect">
            <a:avLst/>
          </a:prstGeom>
          <a:noFill/>
          <a:ln/>
        </p:spPr>
        <p:txBody>
          <a:bodyPr wrap="square" rtlCol="0" anchor="ctr"/>
          <a:lstStyle/>
          <a:p>
            <a:pPr algn="ctr" indent="0" marL="0">
              <a:buNone/>
            </a:pPr>
            <a:r>
              <a:rPr lang="en-US" sz="700" b="1" dirty="0">
                <a:solidFill>
                  <a:srgbClr val="8B5CF6"/>
                </a:solidFill>
                <a:latin typeface="Arial" pitchFamily="34" charset="0"/>
                <a:ea typeface="Arial" pitchFamily="34" charset="-122"/>
                <a:cs typeface="Arial" pitchFamily="34" charset="-120"/>
              </a:rPr>
              <a:t>POLICY ENFORCEMENT</a:t>
            </a:r>
            <a:endParaRPr lang="en-US" sz="700" dirty="0"/>
          </a:p>
        </p:txBody>
      </p:sp>
      <p:sp>
        <p:nvSpPr>
          <p:cNvPr id="26" name="Text 23"/>
          <p:cNvSpPr/>
          <p:nvPr/>
        </p:nvSpPr>
        <p:spPr>
          <a:xfrm>
            <a:off x="1965960" y="2944368"/>
            <a:ext cx="2331720" cy="228600"/>
          </a:xfrm>
          <a:prstGeom prst="rect">
            <a:avLst/>
          </a:prstGeom>
          <a:noFill/>
          <a:ln/>
        </p:spPr>
        <p:txBody>
          <a:bodyPr wrap="square" rtlCol="0" anchor="ctr"/>
          <a:lstStyle/>
          <a:p>
            <a:pPr indent="0" marL="0">
              <a:buNone/>
            </a:pPr>
            <a:r>
              <a:rPr lang="en-US" sz="1050" b="1" dirty="0">
                <a:solidFill>
                  <a:srgbClr val="F8FAFC"/>
                </a:solidFill>
                <a:latin typeface="Arial" pitchFamily="34" charset="0"/>
                <a:ea typeface="Arial" pitchFamily="34" charset="-122"/>
                <a:cs typeface="Arial" pitchFamily="34" charset="-120"/>
              </a:rPr>
              <a:t>Toxicity &amp; Guardrails</a:t>
            </a:r>
            <a:endParaRPr lang="en-US" sz="1050" dirty="0"/>
          </a:p>
        </p:txBody>
      </p:sp>
      <p:sp>
        <p:nvSpPr>
          <p:cNvPr id="27" name="Text 24"/>
          <p:cNvSpPr/>
          <p:nvPr/>
        </p:nvSpPr>
        <p:spPr>
          <a:xfrm>
            <a:off x="594360" y="3218688"/>
            <a:ext cx="3703320" cy="685800"/>
          </a:xfrm>
          <a:prstGeom prst="rect">
            <a:avLst/>
          </a:prstGeom>
          <a:noFill/>
          <a:ln/>
        </p:spPr>
        <p:txBody>
          <a:bodyPr wrap="square" rtlCol="0" anchor="ctr"/>
          <a:lstStyle/>
          <a:p>
            <a:pPr indent="0" marL="0">
              <a:lnSpc>
                <a:spcPts val="1100"/>
              </a:lnSpc>
              <a:buNone/>
            </a:pPr>
            <a:r>
              <a:rPr lang="en-US" sz="780" dirty="0">
                <a:solidFill>
                  <a:srgbClr val="CBD5E1"/>
                </a:solidFill>
                <a:latin typeface="Arial" pitchFamily="34" charset="0"/>
                <a:ea typeface="Arial" pitchFamily="34" charset="-122"/>
                <a:cs typeface="Arial" pitchFamily="34" charset="-120"/>
              </a:rPr>
              <a:t>Real-time safety classifiers evaluate prompts and responses for toxicity, hate speech, prompt injections, and hallucinations.</a:t>
            </a:r>
            <a:endParaRPr lang="en-US" sz="780" dirty="0"/>
          </a:p>
        </p:txBody>
      </p:sp>
      <p:sp>
        <p:nvSpPr>
          <p:cNvPr id="28" name="Shape 25"/>
          <p:cNvSpPr/>
          <p:nvPr/>
        </p:nvSpPr>
        <p:spPr>
          <a:xfrm>
            <a:off x="594360" y="3977640"/>
            <a:ext cx="3703320" cy="411480"/>
          </a:xfrm>
          <a:prstGeom prst="roundRect">
            <a:avLst>
              <a:gd name="adj" fmla="val 11111"/>
            </a:avLst>
          </a:prstGeom>
          <a:solidFill>
            <a:srgbClr val="0D1527"/>
          </a:solidFill>
          <a:ln w="10160">
            <a:solidFill>
              <a:srgbClr val="233354"/>
            </a:solidFill>
            <a:prstDash val="solid"/>
          </a:ln>
        </p:spPr>
      </p:sp>
      <p:sp>
        <p:nvSpPr>
          <p:cNvPr id="29" name="Text 26"/>
          <p:cNvSpPr/>
          <p:nvPr/>
        </p:nvSpPr>
        <p:spPr>
          <a:xfrm>
            <a:off x="685800" y="4023360"/>
            <a:ext cx="3520440" cy="320040"/>
          </a:xfrm>
          <a:prstGeom prst="rect">
            <a:avLst/>
          </a:prstGeom>
          <a:noFill/>
          <a:ln/>
        </p:spPr>
        <p:txBody>
          <a:bodyPr wrap="square" rtlCol="0" anchor="ctr"/>
          <a:lstStyle/>
          <a:p>
            <a:pPr indent="0" marL="0">
              <a:buNone/>
            </a:pPr>
            <a:r>
              <a:rPr lang="en-US" sz="750" b="1" dirty="0">
                <a:solidFill>
                  <a:srgbClr val="38BDF8"/>
                </a:solidFill>
                <a:latin typeface="Arial" pitchFamily="34" charset="0"/>
                <a:ea typeface="Arial" pitchFamily="34" charset="-122"/>
                <a:cs typeface="Arial" pitchFamily="34" charset="-120"/>
              </a:rPr>
              <a:t>⚙ Note: Scoring threshold automatically suppresses violating outputs.</a:t>
            </a:r>
            <a:endParaRPr lang="en-US" sz="750" dirty="0"/>
          </a:p>
        </p:txBody>
      </p:sp>
      <p:sp>
        <p:nvSpPr>
          <p:cNvPr id="30" name="Shape 27"/>
          <p:cNvSpPr/>
          <p:nvPr/>
        </p:nvSpPr>
        <p:spPr>
          <a:xfrm>
            <a:off x="4709160" y="2834640"/>
            <a:ext cx="3977640" cy="1691640"/>
          </a:xfrm>
          <a:prstGeom prst="roundRect">
            <a:avLst>
              <a:gd name="adj" fmla="val 4324"/>
            </a:avLst>
          </a:prstGeom>
          <a:solidFill>
            <a:srgbClr val="131B2E"/>
          </a:solidFill>
          <a:ln w="12700">
            <a:solidFill>
              <a:srgbClr val="F59E0B"/>
            </a:solidFill>
            <a:prstDash val="solid"/>
          </a:ln>
        </p:spPr>
      </p:sp>
      <p:sp>
        <p:nvSpPr>
          <p:cNvPr id="31" name="Shape 28"/>
          <p:cNvSpPr/>
          <p:nvPr/>
        </p:nvSpPr>
        <p:spPr>
          <a:xfrm>
            <a:off x="4846320" y="2944368"/>
            <a:ext cx="1280160" cy="201168"/>
          </a:xfrm>
          <a:prstGeom prst="roundRect">
            <a:avLst>
              <a:gd name="adj" fmla="val 18182"/>
            </a:avLst>
          </a:prstGeom>
          <a:solidFill>
            <a:srgbClr val="1E293B"/>
          </a:solidFill>
          <a:ln w="10160">
            <a:solidFill>
              <a:srgbClr val="F59E0B"/>
            </a:solidFill>
            <a:prstDash val="solid"/>
          </a:ln>
        </p:spPr>
      </p:sp>
      <p:sp>
        <p:nvSpPr>
          <p:cNvPr id="32" name="Text 29"/>
          <p:cNvSpPr/>
          <p:nvPr/>
        </p:nvSpPr>
        <p:spPr>
          <a:xfrm>
            <a:off x="4846320" y="2944368"/>
            <a:ext cx="1280160" cy="201168"/>
          </a:xfrm>
          <a:prstGeom prst="rect">
            <a:avLst/>
          </a:prstGeom>
          <a:noFill/>
          <a:ln/>
        </p:spPr>
        <p:txBody>
          <a:bodyPr wrap="square" rtlCol="0" anchor="ctr"/>
          <a:lstStyle/>
          <a:p>
            <a:pPr algn="ctr" indent="0" marL="0">
              <a:buNone/>
            </a:pPr>
            <a:r>
              <a:rPr lang="en-US" sz="700" b="1" dirty="0">
                <a:solidFill>
                  <a:srgbClr val="F59E0B"/>
                </a:solidFill>
                <a:latin typeface="Arial" pitchFamily="34" charset="0"/>
                <a:ea typeface="Arial" pitchFamily="34" charset="-122"/>
                <a:cs typeface="Arial" pitchFamily="34" charset="-120"/>
              </a:rPr>
              <a:t>ENTERPRISE AUDIT</a:t>
            </a:r>
            <a:endParaRPr lang="en-US" sz="700" dirty="0"/>
          </a:p>
        </p:txBody>
      </p:sp>
      <p:sp>
        <p:nvSpPr>
          <p:cNvPr id="33" name="Text 30"/>
          <p:cNvSpPr/>
          <p:nvPr/>
        </p:nvSpPr>
        <p:spPr>
          <a:xfrm>
            <a:off x="6217920" y="2944368"/>
            <a:ext cx="2331720" cy="228600"/>
          </a:xfrm>
          <a:prstGeom prst="rect">
            <a:avLst/>
          </a:prstGeom>
          <a:noFill/>
          <a:ln/>
        </p:spPr>
        <p:txBody>
          <a:bodyPr wrap="square" rtlCol="0" anchor="ctr"/>
          <a:lstStyle/>
          <a:p>
            <a:pPr indent="0" marL="0">
              <a:buNone/>
            </a:pPr>
            <a:r>
              <a:rPr lang="en-US" sz="1050" b="1" dirty="0">
                <a:solidFill>
                  <a:srgbClr val="F8FAFC"/>
                </a:solidFill>
                <a:latin typeface="Arial" pitchFamily="34" charset="0"/>
                <a:ea typeface="Arial" pitchFamily="34" charset="-122"/>
                <a:cs typeface="Arial" pitchFamily="34" charset="-120"/>
              </a:rPr>
              <a:t>Immutable Audit Trail</a:t>
            </a:r>
            <a:endParaRPr lang="en-US" sz="1050" dirty="0"/>
          </a:p>
        </p:txBody>
      </p:sp>
      <p:sp>
        <p:nvSpPr>
          <p:cNvPr id="34" name="Text 31"/>
          <p:cNvSpPr/>
          <p:nvPr/>
        </p:nvSpPr>
        <p:spPr>
          <a:xfrm>
            <a:off x="4846320" y="3218688"/>
            <a:ext cx="3703320" cy="685800"/>
          </a:xfrm>
          <a:prstGeom prst="rect">
            <a:avLst/>
          </a:prstGeom>
          <a:noFill/>
          <a:ln/>
        </p:spPr>
        <p:txBody>
          <a:bodyPr wrap="square" rtlCol="0" anchor="ctr"/>
          <a:lstStyle/>
          <a:p>
            <a:pPr indent="0" marL="0">
              <a:lnSpc>
                <a:spcPts val="1100"/>
              </a:lnSpc>
              <a:buNone/>
            </a:pPr>
            <a:r>
              <a:rPr lang="en-US" sz="780" dirty="0">
                <a:solidFill>
                  <a:srgbClr val="CBD5E1"/>
                </a:solidFill>
                <a:latin typeface="Arial" pitchFamily="34" charset="0"/>
                <a:ea typeface="Arial" pitchFamily="34" charset="-122"/>
                <a:cs typeface="Arial" pitchFamily="34" charset="-120"/>
              </a:rPr>
              <a:t>Every prompt payload, masked entity, generated response, toxicity score, and timestamp is securely logged for compliance auditing.</a:t>
            </a:r>
            <a:endParaRPr lang="en-US" sz="780" dirty="0"/>
          </a:p>
        </p:txBody>
      </p:sp>
      <p:sp>
        <p:nvSpPr>
          <p:cNvPr id="35" name="Shape 32"/>
          <p:cNvSpPr/>
          <p:nvPr/>
        </p:nvSpPr>
        <p:spPr>
          <a:xfrm>
            <a:off x="4846320" y="3977640"/>
            <a:ext cx="3703320" cy="411480"/>
          </a:xfrm>
          <a:prstGeom prst="roundRect">
            <a:avLst>
              <a:gd name="adj" fmla="val 11111"/>
            </a:avLst>
          </a:prstGeom>
          <a:solidFill>
            <a:srgbClr val="0D1527"/>
          </a:solidFill>
          <a:ln w="10160">
            <a:solidFill>
              <a:srgbClr val="233354"/>
            </a:solidFill>
            <a:prstDash val="solid"/>
          </a:ln>
        </p:spPr>
      </p:sp>
      <p:sp>
        <p:nvSpPr>
          <p:cNvPr id="36" name="Text 33"/>
          <p:cNvSpPr/>
          <p:nvPr/>
        </p:nvSpPr>
        <p:spPr>
          <a:xfrm>
            <a:off x="4937760" y="4023360"/>
            <a:ext cx="3520440" cy="320040"/>
          </a:xfrm>
          <a:prstGeom prst="rect">
            <a:avLst/>
          </a:prstGeom>
          <a:noFill/>
          <a:ln/>
        </p:spPr>
        <p:txBody>
          <a:bodyPr wrap="square" rtlCol="0" anchor="ctr"/>
          <a:lstStyle/>
          <a:p>
            <a:pPr indent="0" marL="0">
              <a:buNone/>
            </a:pPr>
            <a:r>
              <a:rPr lang="en-US" sz="750" b="1" dirty="0">
                <a:solidFill>
                  <a:srgbClr val="38BDF8"/>
                </a:solidFill>
                <a:latin typeface="Arial" pitchFamily="34" charset="0"/>
                <a:ea typeface="Arial" pitchFamily="34" charset="-122"/>
                <a:cs typeface="Arial" pitchFamily="34" charset="-120"/>
              </a:rPr>
              <a:t>⚙ Note: Exportable directly to Data Cloud or external SIEM platforms.</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457200" y="256032"/>
            <a:ext cx="1097280" cy="27432"/>
          </a:xfrm>
          <a:prstGeom prst="rect">
            <a:avLst/>
          </a:prstGeom>
          <a:solidFill>
            <a:srgbClr val="00A1E0"/>
          </a:solidFill>
          <a:ln w="12700">
            <a:solidFill>
              <a:srgbClr val="00A1E0"/>
            </a:solidFill>
            <a:prstDash val="solid"/>
          </a:ln>
        </p:spPr>
      </p:sp>
      <p:sp>
        <p:nvSpPr>
          <p:cNvPr id="3" name="Text 1"/>
          <p:cNvSpPr/>
          <p:nvPr/>
        </p:nvSpPr>
        <p:spPr>
          <a:xfrm>
            <a:off x="457200" y="320040"/>
            <a:ext cx="8229600" cy="164592"/>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IMPLEMENTATION BLUEPRINT</a:t>
            </a:r>
            <a:endParaRPr lang="en-US" sz="800" dirty="0"/>
          </a:p>
        </p:txBody>
      </p:sp>
      <p:sp>
        <p:nvSpPr>
          <p:cNvPr id="4" name="Text 2"/>
          <p:cNvSpPr/>
          <p:nvPr/>
        </p:nvSpPr>
        <p:spPr>
          <a:xfrm>
            <a:off x="457200" y="493776"/>
            <a:ext cx="8229600" cy="320040"/>
          </a:xfrm>
          <a:prstGeom prst="rect">
            <a:avLst/>
          </a:prstGeom>
          <a:noFill/>
          <a:ln/>
        </p:spPr>
        <p:txBody>
          <a:bodyPr wrap="square" rtlCol="0" anchor="ctr"/>
          <a:lstStyle/>
          <a:p>
            <a:pPr indent="0" marL="0">
              <a:buNone/>
            </a:pPr>
            <a:r>
              <a:rPr lang="en-US" sz="1500" b="1" dirty="0">
                <a:solidFill>
                  <a:srgbClr val="F8FAFC"/>
                </a:solidFill>
                <a:latin typeface="Arial" pitchFamily="34" charset="0"/>
                <a:ea typeface="Arial" pitchFamily="34" charset="-122"/>
                <a:cs typeface="Arial" pitchFamily="34" charset="-120"/>
              </a:rPr>
              <a:t>Salesforce Setup Walkthrough: Screen-by-Screen Setup</a:t>
            </a:r>
            <a:endParaRPr lang="en-US" sz="1500" dirty="0"/>
          </a:p>
        </p:txBody>
      </p:sp>
      <p:sp>
        <p:nvSpPr>
          <p:cNvPr id="5" name="Shape 3"/>
          <p:cNvSpPr/>
          <p:nvPr/>
        </p:nvSpPr>
        <p:spPr>
          <a:xfrm>
            <a:off x="457200" y="859536"/>
            <a:ext cx="8229600" cy="0"/>
          </a:xfrm>
          <a:prstGeom prst="line">
            <a:avLst/>
          </a:prstGeom>
          <a:noFill/>
          <a:ln w="12700">
            <a:solidFill>
              <a:srgbClr val="1E293B"/>
            </a:solidFill>
            <a:prstDash val="solid"/>
          </a:ln>
        </p:spPr>
      </p:sp>
      <p:sp>
        <p:nvSpPr>
          <p:cNvPr id="6" name="Text 4"/>
          <p:cNvSpPr/>
          <p:nvPr/>
        </p:nvSpPr>
        <p:spPr>
          <a:xfrm>
            <a:off x="457200" y="4791456"/>
            <a:ext cx="6400800" cy="228600"/>
          </a:xfrm>
          <a:prstGeom prst="rect">
            <a:avLst/>
          </a:prstGeom>
          <a:noFill/>
          <a:ln/>
        </p:spPr>
        <p:txBody>
          <a:bodyPr wrap="square" rtlCol="0" anchor="ctr"/>
          <a:lstStyle/>
          <a:p>
            <a:pPr indent="0" marL="0">
              <a:buNone/>
            </a:pPr>
            <a:r>
              <a:rPr lang="en-US" sz="750" dirty="0">
                <a:solidFill>
                  <a:srgbClr val="94A3B8"/>
                </a:solidFill>
                <a:latin typeface="Arial" pitchFamily="34" charset="0"/>
                <a:ea typeface="Arial" pitchFamily="34" charset="-122"/>
                <a:cs typeface="Arial" pitchFamily="34" charset="-120"/>
              </a:rPr>
              <a:t>Salesforce Agentforce &amp; Data 360 Enablement  •  Day 1: Atlas Reasoning Engine &amp; ReAct Loop</a:t>
            </a:r>
            <a:endParaRPr lang="en-US" sz="750" dirty="0"/>
          </a:p>
        </p:txBody>
      </p:sp>
      <p:sp>
        <p:nvSpPr>
          <p:cNvPr id="7" name="Text 5"/>
          <p:cNvSpPr/>
          <p:nvPr/>
        </p:nvSpPr>
        <p:spPr>
          <a:xfrm>
            <a:off x="7315200" y="4791456"/>
            <a:ext cx="1371600" cy="228600"/>
          </a:xfrm>
          <a:prstGeom prst="rect">
            <a:avLst/>
          </a:prstGeom>
          <a:noFill/>
          <a:ln/>
        </p:spPr>
        <p:txBody>
          <a:bodyPr wrap="square" rtlCol="0" anchor="ctr"/>
          <a:lstStyle/>
          <a:p>
            <a:pPr algn="r" indent="0" marL="0">
              <a:buNone/>
            </a:pPr>
            <a:r>
              <a:rPr lang="en-US" sz="750" b="1" dirty="0">
                <a:solidFill>
                  <a:srgbClr val="00A1E0"/>
                </a:solidFill>
                <a:latin typeface="Arial" pitchFamily="34" charset="0"/>
                <a:ea typeface="Arial" pitchFamily="34" charset="-122"/>
                <a:cs typeface="Arial" pitchFamily="34" charset="-120"/>
              </a:rPr>
              <a:t>13 / 19</a:t>
            </a:r>
            <a:endParaRPr lang="en-US" sz="750" dirty="0"/>
          </a:p>
        </p:txBody>
      </p:sp>
      <p:sp>
        <p:nvSpPr>
          <p:cNvPr id="9" name="Shape 6"/>
          <p:cNvSpPr/>
          <p:nvPr/>
        </p:nvSpPr>
        <p:spPr>
          <a:xfrm>
            <a:off x="457200" y="1024128"/>
            <a:ext cx="8229600" cy="640080"/>
          </a:xfrm>
          <a:prstGeom prst="roundRect">
            <a:avLst>
              <a:gd name="adj" fmla="val 8571"/>
            </a:avLst>
          </a:prstGeom>
          <a:solidFill>
            <a:srgbClr val="131B2E"/>
          </a:solidFill>
          <a:ln w="10160">
            <a:solidFill>
              <a:srgbClr val="233354"/>
            </a:solidFill>
            <a:prstDash val="solid"/>
          </a:ln>
        </p:spPr>
      </p:sp>
      <p:sp>
        <p:nvSpPr>
          <p:cNvPr id="10" name="Shape 7"/>
          <p:cNvSpPr/>
          <p:nvPr/>
        </p:nvSpPr>
        <p:spPr>
          <a:xfrm>
            <a:off x="566928" y="1133856"/>
            <a:ext cx="685800" cy="420624"/>
          </a:xfrm>
          <a:prstGeom prst="roundRect">
            <a:avLst>
              <a:gd name="adj" fmla="val 8696"/>
            </a:avLst>
          </a:prstGeom>
          <a:solidFill>
            <a:srgbClr val="1E293B"/>
          </a:solidFill>
          <a:ln w="10160">
            <a:solidFill>
              <a:srgbClr val="00A1E0"/>
            </a:solidFill>
            <a:prstDash val="solid"/>
          </a:ln>
        </p:spPr>
      </p:sp>
      <p:sp>
        <p:nvSpPr>
          <p:cNvPr id="11" name="Text 8"/>
          <p:cNvSpPr/>
          <p:nvPr/>
        </p:nvSpPr>
        <p:spPr>
          <a:xfrm>
            <a:off x="566928" y="1225296"/>
            <a:ext cx="685800" cy="274320"/>
          </a:xfrm>
          <a:prstGeom prst="rect">
            <a:avLst/>
          </a:prstGeom>
          <a:noFill/>
          <a:ln/>
        </p:spPr>
        <p:txBody>
          <a:bodyPr wrap="square" rtlCol="0" anchor="ctr"/>
          <a:lstStyle/>
          <a:p>
            <a:pPr algn="ctr" indent="0" marL="0">
              <a:buNone/>
            </a:pPr>
            <a:r>
              <a:rPr lang="en-US" sz="800" b="1" dirty="0">
                <a:solidFill>
                  <a:srgbClr val="00A1E0"/>
                </a:solidFill>
                <a:latin typeface="Arial" pitchFamily="34" charset="0"/>
                <a:ea typeface="Arial" pitchFamily="34" charset="-122"/>
                <a:cs typeface="Arial" pitchFamily="34" charset="-120"/>
              </a:rPr>
              <a:t>Step 1</a:t>
            </a:r>
            <a:endParaRPr lang="en-US" sz="800" dirty="0"/>
          </a:p>
        </p:txBody>
      </p:sp>
      <p:sp>
        <p:nvSpPr>
          <p:cNvPr id="12" name="Text 9"/>
          <p:cNvSpPr/>
          <p:nvPr/>
        </p:nvSpPr>
        <p:spPr>
          <a:xfrm>
            <a:off x="1371600" y="1115568"/>
            <a:ext cx="2560320" cy="228600"/>
          </a:xfrm>
          <a:prstGeom prst="rect">
            <a:avLst/>
          </a:prstGeom>
          <a:noFill/>
          <a:ln/>
        </p:spPr>
        <p:txBody>
          <a:bodyPr wrap="square" rtlCol="0" anchor="ctr"/>
          <a:lstStyle/>
          <a:p>
            <a:pPr indent="0" marL="0">
              <a:buNone/>
            </a:pPr>
            <a:r>
              <a:rPr lang="en-US" sz="950" b="1" dirty="0">
                <a:solidFill>
                  <a:srgbClr val="F8FAFC"/>
                </a:solidFill>
                <a:latin typeface="Arial" pitchFamily="34" charset="0"/>
                <a:ea typeface="Arial" pitchFamily="34" charset="-122"/>
                <a:cs typeface="Arial" pitchFamily="34" charset="-120"/>
              </a:rPr>
              <a:t>Turn On Einstein</a:t>
            </a:r>
            <a:endParaRPr lang="en-US" sz="950" dirty="0"/>
          </a:p>
        </p:txBody>
      </p:sp>
      <p:sp>
        <p:nvSpPr>
          <p:cNvPr id="13" name="Text 10"/>
          <p:cNvSpPr/>
          <p:nvPr/>
        </p:nvSpPr>
        <p:spPr>
          <a:xfrm>
            <a:off x="1371600" y="1353312"/>
            <a:ext cx="3749040" cy="228600"/>
          </a:xfrm>
          <a:prstGeom prst="rect">
            <a:avLst/>
          </a:prstGeom>
          <a:noFill/>
          <a:ln/>
        </p:spPr>
        <p:txBody>
          <a:bodyPr wrap="square" rtlCol="0" anchor="ctr"/>
          <a:lstStyle/>
          <a:p>
            <a:pPr indent="0" marL="0">
              <a:buNone/>
            </a:pPr>
            <a:r>
              <a:rPr lang="en-US" sz="750" b="1" dirty="0">
                <a:solidFill>
                  <a:srgbClr val="38BDF8"/>
                </a:solidFill>
                <a:latin typeface="Consolas" pitchFamily="34" charset="0"/>
                <a:ea typeface="Consolas" pitchFamily="34" charset="-122"/>
                <a:cs typeface="Consolas" pitchFamily="34" charset="-120"/>
              </a:rPr>
              <a:t>Setup  ➜  Quick Find: "Einstein Setup"  ➜  Toggle "Turn on Einstein"</a:t>
            </a:r>
            <a:endParaRPr lang="en-US" sz="750" dirty="0"/>
          </a:p>
        </p:txBody>
      </p:sp>
      <p:sp>
        <p:nvSpPr>
          <p:cNvPr id="14" name="Text 11"/>
          <p:cNvSpPr/>
          <p:nvPr/>
        </p:nvSpPr>
        <p:spPr>
          <a:xfrm>
            <a:off x="5257800" y="1133856"/>
            <a:ext cx="3291840" cy="438912"/>
          </a:xfrm>
          <a:prstGeom prst="rect">
            <a:avLst/>
          </a:prstGeom>
          <a:noFill/>
          <a:ln/>
        </p:spPr>
        <p:txBody>
          <a:bodyPr wrap="square" rtlCol="0" anchor="ctr"/>
          <a:lstStyle/>
          <a:p>
            <a:pPr indent="0" marL="0">
              <a:lnSpc>
                <a:spcPts val="1100"/>
              </a:lnSpc>
              <a:buNone/>
            </a:pPr>
            <a:r>
              <a:rPr lang="en-US" sz="750" dirty="0">
                <a:solidFill>
                  <a:srgbClr val="CBD5E1"/>
                </a:solidFill>
                <a:latin typeface="Arial" pitchFamily="34" charset="0"/>
                <a:ea typeface="Arial" pitchFamily="34" charset="-122"/>
                <a:cs typeface="Arial" pitchFamily="34" charset="-120"/>
              </a:rPr>
              <a:t>Provisions tenant generative AI infrastructure and unlocks Einstein Trust Layer.</a:t>
            </a:r>
            <a:endParaRPr lang="en-US" sz="750" dirty="0"/>
          </a:p>
        </p:txBody>
      </p:sp>
      <p:sp>
        <p:nvSpPr>
          <p:cNvPr id="15" name="Shape 12"/>
          <p:cNvSpPr/>
          <p:nvPr/>
        </p:nvSpPr>
        <p:spPr>
          <a:xfrm>
            <a:off x="457200" y="1737360"/>
            <a:ext cx="8229600" cy="640080"/>
          </a:xfrm>
          <a:prstGeom prst="roundRect">
            <a:avLst>
              <a:gd name="adj" fmla="val 8571"/>
            </a:avLst>
          </a:prstGeom>
          <a:solidFill>
            <a:srgbClr val="131B2E"/>
          </a:solidFill>
          <a:ln w="10160">
            <a:solidFill>
              <a:srgbClr val="233354"/>
            </a:solidFill>
            <a:prstDash val="solid"/>
          </a:ln>
        </p:spPr>
      </p:sp>
      <p:sp>
        <p:nvSpPr>
          <p:cNvPr id="16" name="Shape 13"/>
          <p:cNvSpPr/>
          <p:nvPr/>
        </p:nvSpPr>
        <p:spPr>
          <a:xfrm>
            <a:off x="566928" y="1847088"/>
            <a:ext cx="685800" cy="420624"/>
          </a:xfrm>
          <a:prstGeom prst="roundRect">
            <a:avLst>
              <a:gd name="adj" fmla="val 8696"/>
            </a:avLst>
          </a:prstGeom>
          <a:solidFill>
            <a:srgbClr val="1E293B"/>
          </a:solidFill>
          <a:ln w="10160">
            <a:solidFill>
              <a:srgbClr val="00A1E0"/>
            </a:solidFill>
            <a:prstDash val="solid"/>
          </a:ln>
        </p:spPr>
      </p:sp>
      <p:sp>
        <p:nvSpPr>
          <p:cNvPr id="17" name="Text 14"/>
          <p:cNvSpPr/>
          <p:nvPr/>
        </p:nvSpPr>
        <p:spPr>
          <a:xfrm>
            <a:off x="566928" y="1938528"/>
            <a:ext cx="685800" cy="274320"/>
          </a:xfrm>
          <a:prstGeom prst="rect">
            <a:avLst/>
          </a:prstGeom>
          <a:noFill/>
          <a:ln/>
        </p:spPr>
        <p:txBody>
          <a:bodyPr wrap="square" rtlCol="0" anchor="ctr"/>
          <a:lstStyle/>
          <a:p>
            <a:pPr algn="ctr" indent="0" marL="0">
              <a:buNone/>
            </a:pPr>
            <a:r>
              <a:rPr lang="en-US" sz="800" b="1" dirty="0">
                <a:solidFill>
                  <a:srgbClr val="00A1E0"/>
                </a:solidFill>
                <a:latin typeface="Arial" pitchFamily="34" charset="0"/>
                <a:ea typeface="Arial" pitchFamily="34" charset="-122"/>
                <a:cs typeface="Arial" pitchFamily="34" charset="-120"/>
              </a:rPr>
              <a:t>Step 2</a:t>
            </a:r>
            <a:endParaRPr lang="en-US" sz="800" dirty="0"/>
          </a:p>
        </p:txBody>
      </p:sp>
      <p:sp>
        <p:nvSpPr>
          <p:cNvPr id="18" name="Text 15"/>
          <p:cNvSpPr/>
          <p:nvPr/>
        </p:nvSpPr>
        <p:spPr>
          <a:xfrm>
            <a:off x="1371600" y="1828800"/>
            <a:ext cx="2560320" cy="228600"/>
          </a:xfrm>
          <a:prstGeom prst="rect">
            <a:avLst/>
          </a:prstGeom>
          <a:noFill/>
          <a:ln/>
        </p:spPr>
        <p:txBody>
          <a:bodyPr wrap="square" rtlCol="0" anchor="ctr"/>
          <a:lstStyle/>
          <a:p>
            <a:pPr indent="0" marL="0">
              <a:buNone/>
            </a:pPr>
            <a:r>
              <a:rPr lang="en-US" sz="950" b="1" dirty="0">
                <a:solidFill>
                  <a:srgbClr val="F8FAFC"/>
                </a:solidFill>
                <a:latin typeface="Arial" pitchFamily="34" charset="0"/>
                <a:ea typeface="Arial" pitchFamily="34" charset="-122"/>
                <a:cs typeface="Arial" pitchFamily="34" charset="-120"/>
              </a:rPr>
              <a:t>Enable Agentforce</a:t>
            </a:r>
            <a:endParaRPr lang="en-US" sz="950" dirty="0"/>
          </a:p>
        </p:txBody>
      </p:sp>
      <p:sp>
        <p:nvSpPr>
          <p:cNvPr id="19" name="Text 16"/>
          <p:cNvSpPr/>
          <p:nvPr/>
        </p:nvSpPr>
        <p:spPr>
          <a:xfrm>
            <a:off x="1371600" y="2066544"/>
            <a:ext cx="3749040" cy="228600"/>
          </a:xfrm>
          <a:prstGeom prst="rect">
            <a:avLst/>
          </a:prstGeom>
          <a:noFill/>
          <a:ln/>
        </p:spPr>
        <p:txBody>
          <a:bodyPr wrap="square" rtlCol="0" anchor="ctr"/>
          <a:lstStyle/>
          <a:p>
            <a:pPr indent="0" marL="0">
              <a:buNone/>
            </a:pPr>
            <a:r>
              <a:rPr lang="en-US" sz="750" b="1" dirty="0">
                <a:solidFill>
                  <a:srgbClr val="38BDF8"/>
                </a:solidFill>
                <a:latin typeface="Consolas" pitchFamily="34" charset="0"/>
                <a:ea typeface="Consolas" pitchFamily="34" charset="-122"/>
                <a:cs typeface="Consolas" pitchFamily="34" charset="-120"/>
              </a:rPr>
              <a:t>Setup  ➜  Quick Find: "Agents"  ➜  Toggle "Turn on Agentforce"</a:t>
            </a:r>
            <a:endParaRPr lang="en-US" sz="750" dirty="0"/>
          </a:p>
        </p:txBody>
      </p:sp>
      <p:sp>
        <p:nvSpPr>
          <p:cNvPr id="20" name="Text 17"/>
          <p:cNvSpPr/>
          <p:nvPr/>
        </p:nvSpPr>
        <p:spPr>
          <a:xfrm>
            <a:off x="5257800" y="1847088"/>
            <a:ext cx="3291840" cy="438912"/>
          </a:xfrm>
          <a:prstGeom prst="rect">
            <a:avLst/>
          </a:prstGeom>
          <a:noFill/>
          <a:ln/>
        </p:spPr>
        <p:txBody>
          <a:bodyPr wrap="square" rtlCol="0" anchor="ctr"/>
          <a:lstStyle/>
          <a:p>
            <a:pPr indent="0" marL="0">
              <a:lnSpc>
                <a:spcPts val="1100"/>
              </a:lnSpc>
              <a:buNone/>
            </a:pPr>
            <a:r>
              <a:rPr lang="en-US" sz="750" dirty="0">
                <a:solidFill>
                  <a:srgbClr val="CBD5E1"/>
                </a:solidFill>
                <a:latin typeface="Arial" pitchFamily="34" charset="0"/>
                <a:ea typeface="Arial" pitchFamily="34" charset="-122"/>
                <a:cs typeface="Arial" pitchFamily="34" charset="-120"/>
              </a:rPr>
              <a:t>Initializes the Atlas Reasoning Engine runtime inside the org and activates Studio.</a:t>
            </a:r>
            <a:endParaRPr lang="en-US" sz="750" dirty="0"/>
          </a:p>
        </p:txBody>
      </p:sp>
      <p:sp>
        <p:nvSpPr>
          <p:cNvPr id="21" name="Shape 18"/>
          <p:cNvSpPr/>
          <p:nvPr/>
        </p:nvSpPr>
        <p:spPr>
          <a:xfrm>
            <a:off x="457200" y="2450592"/>
            <a:ext cx="8229600" cy="640080"/>
          </a:xfrm>
          <a:prstGeom prst="roundRect">
            <a:avLst>
              <a:gd name="adj" fmla="val 8571"/>
            </a:avLst>
          </a:prstGeom>
          <a:solidFill>
            <a:srgbClr val="131B2E"/>
          </a:solidFill>
          <a:ln w="10160">
            <a:solidFill>
              <a:srgbClr val="233354"/>
            </a:solidFill>
            <a:prstDash val="solid"/>
          </a:ln>
        </p:spPr>
      </p:sp>
      <p:sp>
        <p:nvSpPr>
          <p:cNvPr id="22" name="Shape 19"/>
          <p:cNvSpPr/>
          <p:nvPr/>
        </p:nvSpPr>
        <p:spPr>
          <a:xfrm>
            <a:off x="566928" y="2560320"/>
            <a:ext cx="685800" cy="420624"/>
          </a:xfrm>
          <a:prstGeom prst="roundRect">
            <a:avLst>
              <a:gd name="adj" fmla="val 8696"/>
            </a:avLst>
          </a:prstGeom>
          <a:solidFill>
            <a:srgbClr val="1E293B"/>
          </a:solidFill>
          <a:ln w="10160">
            <a:solidFill>
              <a:srgbClr val="8B5CF6"/>
            </a:solidFill>
            <a:prstDash val="solid"/>
          </a:ln>
        </p:spPr>
      </p:sp>
      <p:sp>
        <p:nvSpPr>
          <p:cNvPr id="23" name="Text 20"/>
          <p:cNvSpPr/>
          <p:nvPr/>
        </p:nvSpPr>
        <p:spPr>
          <a:xfrm>
            <a:off x="566928" y="2651760"/>
            <a:ext cx="685800" cy="274320"/>
          </a:xfrm>
          <a:prstGeom prst="rect">
            <a:avLst/>
          </a:prstGeom>
          <a:noFill/>
          <a:ln/>
        </p:spPr>
        <p:txBody>
          <a:bodyPr wrap="square" rtlCol="0" anchor="ctr"/>
          <a:lstStyle/>
          <a:p>
            <a:pPr algn="ctr" indent="0" marL="0">
              <a:buNone/>
            </a:pPr>
            <a:r>
              <a:rPr lang="en-US" sz="800" b="1" dirty="0">
                <a:solidFill>
                  <a:srgbClr val="8B5CF6"/>
                </a:solidFill>
                <a:latin typeface="Arial" pitchFamily="34" charset="0"/>
                <a:ea typeface="Arial" pitchFamily="34" charset="-122"/>
                <a:cs typeface="Arial" pitchFamily="34" charset="-120"/>
              </a:rPr>
              <a:t>Step 3</a:t>
            </a:r>
            <a:endParaRPr lang="en-US" sz="800" dirty="0"/>
          </a:p>
        </p:txBody>
      </p:sp>
      <p:sp>
        <p:nvSpPr>
          <p:cNvPr id="24" name="Text 21"/>
          <p:cNvSpPr/>
          <p:nvPr/>
        </p:nvSpPr>
        <p:spPr>
          <a:xfrm>
            <a:off x="1371600" y="2542032"/>
            <a:ext cx="2560320" cy="228600"/>
          </a:xfrm>
          <a:prstGeom prst="rect">
            <a:avLst/>
          </a:prstGeom>
          <a:noFill/>
          <a:ln/>
        </p:spPr>
        <p:txBody>
          <a:bodyPr wrap="square" rtlCol="0" anchor="ctr"/>
          <a:lstStyle/>
          <a:p>
            <a:pPr indent="0" marL="0">
              <a:buNone/>
            </a:pPr>
            <a:r>
              <a:rPr lang="en-US" sz="950" b="1" dirty="0">
                <a:solidFill>
                  <a:srgbClr val="F8FAFC"/>
                </a:solidFill>
                <a:latin typeface="Arial" pitchFamily="34" charset="0"/>
                <a:ea typeface="Arial" pitchFamily="34" charset="-122"/>
                <a:cs typeface="Arial" pitchFamily="34" charset="-120"/>
              </a:rPr>
              <a:t>Create New Agent</a:t>
            </a:r>
            <a:endParaRPr lang="en-US" sz="950" dirty="0"/>
          </a:p>
        </p:txBody>
      </p:sp>
      <p:sp>
        <p:nvSpPr>
          <p:cNvPr id="25" name="Text 22"/>
          <p:cNvSpPr/>
          <p:nvPr/>
        </p:nvSpPr>
        <p:spPr>
          <a:xfrm>
            <a:off x="1371600" y="2779776"/>
            <a:ext cx="3749040" cy="228600"/>
          </a:xfrm>
          <a:prstGeom prst="rect">
            <a:avLst/>
          </a:prstGeom>
          <a:noFill/>
          <a:ln/>
        </p:spPr>
        <p:txBody>
          <a:bodyPr wrap="square" rtlCol="0" anchor="ctr"/>
          <a:lstStyle/>
          <a:p>
            <a:pPr indent="0" marL="0">
              <a:buNone/>
            </a:pPr>
            <a:r>
              <a:rPr lang="en-US" sz="750" b="1" dirty="0">
                <a:solidFill>
                  <a:srgbClr val="38BDF8"/>
                </a:solidFill>
                <a:latin typeface="Consolas" pitchFamily="34" charset="0"/>
                <a:ea typeface="Consolas" pitchFamily="34" charset="-122"/>
                <a:cs typeface="Consolas" pitchFamily="34" charset="-120"/>
              </a:rPr>
              <a:t>Agents  ➜  Click "New Agent"  ➜  Select Type (Service / Sales)</a:t>
            </a:r>
            <a:endParaRPr lang="en-US" sz="750" dirty="0"/>
          </a:p>
        </p:txBody>
      </p:sp>
      <p:sp>
        <p:nvSpPr>
          <p:cNvPr id="26" name="Text 23"/>
          <p:cNvSpPr/>
          <p:nvPr/>
        </p:nvSpPr>
        <p:spPr>
          <a:xfrm>
            <a:off x="5257800" y="2560320"/>
            <a:ext cx="3291840" cy="438912"/>
          </a:xfrm>
          <a:prstGeom prst="rect">
            <a:avLst/>
          </a:prstGeom>
          <a:noFill/>
          <a:ln/>
        </p:spPr>
        <p:txBody>
          <a:bodyPr wrap="square" rtlCol="0" anchor="ctr"/>
          <a:lstStyle/>
          <a:p>
            <a:pPr indent="0" marL="0">
              <a:lnSpc>
                <a:spcPts val="1100"/>
              </a:lnSpc>
              <a:buNone/>
            </a:pPr>
            <a:r>
              <a:rPr lang="en-US" sz="750" dirty="0">
                <a:solidFill>
                  <a:srgbClr val="CBD5E1"/>
                </a:solidFill>
                <a:latin typeface="Arial" pitchFamily="34" charset="0"/>
                <a:ea typeface="Arial" pitchFamily="34" charset="-122"/>
                <a:cs typeface="Arial" pitchFamily="34" charset="-120"/>
              </a:rPr>
              <a:t>Defines master persona, corporate role ("Tier 1 Support"), tone, and guardrails.</a:t>
            </a:r>
            <a:endParaRPr lang="en-US" sz="750" dirty="0"/>
          </a:p>
        </p:txBody>
      </p:sp>
      <p:sp>
        <p:nvSpPr>
          <p:cNvPr id="27" name="Shape 24"/>
          <p:cNvSpPr/>
          <p:nvPr/>
        </p:nvSpPr>
        <p:spPr>
          <a:xfrm>
            <a:off x="457200" y="3163824"/>
            <a:ext cx="8229600" cy="640080"/>
          </a:xfrm>
          <a:prstGeom prst="roundRect">
            <a:avLst>
              <a:gd name="adj" fmla="val 8571"/>
            </a:avLst>
          </a:prstGeom>
          <a:solidFill>
            <a:srgbClr val="131B2E"/>
          </a:solidFill>
          <a:ln w="10160">
            <a:solidFill>
              <a:srgbClr val="233354"/>
            </a:solidFill>
            <a:prstDash val="solid"/>
          </a:ln>
        </p:spPr>
      </p:sp>
      <p:sp>
        <p:nvSpPr>
          <p:cNvPr id="28" name="Shape 25"/>
          <p:cNvSpPr/>
          <p:nvPr/>
        </p:nvSpPr>
        <p:spPr>
          <a:xfrm>
            <a:off x="566928" y="3273552"/>
            <a:ext cx="685800" cy="420624"/>
          </a:xfrm>
          <a:prstGeom prst="roundRect">
            <a:avLst>
              <a:gd name="adj" fmla="val 8696"/>
            </a:avLst>
          </a:prstGeom>
          <a:solidFill>
            <a:srgbClr val="1E293B"/>
          </a:solidFill>
          <a:ln w="10160">
            <a:solidFill>
              <a:srgbClr val="F59E0B"/>
            </a:solidFill>
            <a:prstDash val="solid"/>
          </a:ln>
        </p:spPr>
      </p:sp>
      <p:sp>
        <p:nvSpPr>
          <p:cNvPr id="29" name="Text 26"/>
          <p:cNvSpPr/>
          <p:nvPr/>
        </p:nvSpPr>
        <p:spPr>
          <a:xfrm>
            <a:off x="566928" y="3364992"/>
            <a:ext cx="685800" cy="274320"/>
          </a:xfrm>
          <a:prstGeom prst="rect">
            <a:avLst/>
          </a:prstGeom>
          <a:noFill/>
          <a:ln/>
        </p:spPr>
        <p:txBody>
          <a:bodyPr wrap="square" rtlCol="0" anchor="ctr"/>
          <a:lstStyle/>
          <a:p>
            <a:pPr algn="ctr" indent="0" marL="0">
              <a:buNone/>
            </a:pPr>
            <a:r>
              <a:rPr lang="en-US" sz="800" b="1" dirty="0">
                <a:solidFill>
                  <a:srgbClr val="F59E0B"/>
                </a:solidFill>
                <a:latin typeface="Arial" pitchFamily="34" charset="0"/>
                <a:ea typeface="Arial" pitchFamily="34" charset="-122"/>
                <a:cs typeface="Arial" pitchFamily="34" charset="-120"/>
              </a:rPr>
              <a:t>Step 4</a:t>
            </a:r>
            <a:endParaRPr lang="en-US" sz="800" dirty="0"/>
          </a:p>
        </p:txBody>
      </p:sp>
      <p:sp>
        <p:nvSpPr>
          <p:cNvPr id="30" name="Text 27"/>
          <p:cNvSpPr/>
          <p:nvPr/>
        </p:nvSpPr>
        <p:spPr>
          <a:xfrm>
            <a:off x="1371600" y="3255264"/>
            <a:ext cx="2560320" cy="228600"/>
          </a:xfrm>
          <a:prstGeom prst="rect">
            <a:avLst/>
          </a:prstGeom>
          <a:noFill/>
          <a:ln/>
        </p:spPr>
        <p:txBody>
          <a:bodyPr wrap="square" rtlCol="0" anchor="ctr"/>
          <a:lstStyle/>
          <a:p>
            <a:pPr indent="0" marL="0">
              <a:buNone/>
            </a:pPr>
            <a:r>
              <a:rPr lang="en-US" sz="950" b="1" dirty="0">
                <a:solidFill>
                  <a:srgbClr val="F8FAFC"/>
                </a:solidFill>
                <a:latin typeface="Arial" pitchFamily="34" charset="0"/>
                <a:ea typeface="Arial" pitchFamily="34" charset="-122"/>
                <a:cs typeface="Arial" pitchFamily="34" charset="-120"/>
              </a:rPr>
              <a:t>Configure Topics &amp; Actions</a:t>
            </a:r>
            <a:endParaRPr lang="en-US" sz="950" dirty="0"/>
          </a:p>
        </p:txBody>
      </p:sp>
      <p:sp>
        <p:nvSpPr>
          <p:cNvPr id="31" name="Text 28"/>
          <p:cNvSpPr/>
          <p:nvPr/>
        </p:nvSpPr>
        <p:spPr>
          <a:xfrm>
            <a:off x="1371600" y="3493008"/>
            <a:ext cx="3749040" cy="228600"/>
          </a:xfrm>
          <a:prstGeom prst="rect">
            <a:avLst/>
          </a:prstGeom>
          <a:noFill/>
          <a:ln/>
        </p:spPr>
        <p:txBody>
          <a:bodyPr wrap="square" rtlCol="0" anchor="ctr"/>
          <a:lstStyle/>
          <a:p>
            <a:pPr indent="0" marL="0">
              <a:buNone/>
            </a:pPr>
            <a:r>
              <a:rPr lang="en-US" sz="750" b="1" dirty="0">
                <a:solidFill>
                  <a:srgbClr val="38BDF8"/>
                </a:solidFill>
                <a:latin typeface="Consolas" pitchFamily="34" charset="0"/>
                <a:ea typeface="Consolas" pitchFamily="34" charset="-122"/>
                <a:cs typeface="Consolas" pitchFamily="34" charset="-120"/>
              </a:rPr>
              <a:t>Agent Builder  ➜  Topics Tab  ➜  "New Topic"  ➜  Bind Actions</a:t>
            </a:r>
            <a:endParaRPr lang="en-US" sz="750" dirty="0"/>
          </a:p>
        </p:txBody>
      </p:sp>
      <p:sp>
        <p:nvSpPr>
          <p:cNvPr id="32" name="Text 29"/>
          <p:cNvSpPr/>
          <p:nvPr/>
        </p:nvSpPr>
        <p:spPr>
          <a:xfrm>
            <a:off x="5257800" y="3273552"/>
            <a:ext cx="3291840" cy="438912"/>
          </a:xfrm>
          <a:prstGeom prst="rect">
            <a:avLst/>
          </a:prstGeom>
          <a:noFill/>
          <a:ln/>
        </p:spPr>
        <p:txBody>
          <a:bodyPr wrap="square" rtlCol="0" anchor="ctr"/>
          <a:lstStyle/>
          <a:p>
            <a:pPr indent="0" marL="0">
              <a:lnSpc>
                <a:spcPts val="1100"/>
              </a:lnSpc>
              <a:buNone/>
            </a:pPr>
            <a:r>
              <a:rPr lang="en-US" sz="750" dirty="0">
                <a:solidFill>
                  <a:srgbClr val="CBD5E1"/>
                </a:solidFill>
                <a:latin typeface="Arial" pitchFamily="34" charset="0"/>
                <a:ea typeface="Arial" pitchFamily="34" charset="-122"/>
                <a:cs typeface="Arial" pitchFamily="34" charset="-120"/>
              </a:rPr>
              <a:t>Write high-precision semantic topic descriptions. Attach autolaunched Flows / Apex.</a:t>
            </a:r>
            <a:endParaRPr lang="en-US" sz="750" dirty="0"/>
          </a:p>
        </p:txBody>
      </p:sp>
      <p:sp>
        <p:nvSpPr>
          <p:cNvPr id="33" name="Shape 30"/>
          <p:cNvSpPr/>
          <p:nvPr/>
        </p:nvSpPr>
        <p:spPr>
          <a:xfrm>
            <a:off x="457200" y="3877056"/>
            <a:ext cx="8229600" cy="640080"/>
          </a:xfrm>
          <a:prstGeom prst="roundRect">
            <a:avLst>
              <a:gd name="adj" fmla="val 8571"/>
            </a:avLst>
          </a:prstGeom>
          <a:solidFill>
            <a:srgbClr val="131B2E"/>
          </a:solidFill>
          <a:ln w="10160">
            <a:solidFill>
              <a:srgbClr val="233354"/>
            </a:solidFill>
            <a:prstDash val="solid"/>
          </a:ln>
        </p:spPr>
      </p:sp>
      <p:sp>
        <p:nvSpPr>
          <p:cNvPr id="34" name="Shape 31"/>
          <p:cNvSpPr/>
          <p:nvPr/>
        </p:nvSpPr>
        <p:spPr>
          <a:xfrm>
            <a:off x="566928" y="3986784"/>
            <a:ext cx="685800" cy="420624"/>
          </a:xfrm>
          <a:prstGeom prst="roundRect">
            <a:avLst>
              <a:gd name="adj" fmla="val 8696"/>
            </a:avLst>
          </a:prstGeom>
          <a:solidFill>
            <a:srgbClr val="1E293B"/>
          </a:solidFill>
          <a:ln w="10160">
            <a:solidFill>
              <a:srgbClr val="10B981"/>
            </a:solidFill>
            <a:prstDash val="solid"/>
          </a:ln>
        </p:spPr>
      </p:sp>
      <p:sp>
        <p:nvSpPr>
          <p:cNvPr id="35" name="Text 32"/>
          <p:cNvSpPr/>
          <p:nvPr/>
        </p:nvSpPr>
        <p:spPr>
          <a:xfrm>
            <a:off x="566928" y="4078224"/>
            <a:ext cx="685800" cy="274320"/>
          </a:xfrm>
          <a:prstGeom prst="rect">
            <a:avLst/>
          </a:prstGeom>
          <a:noFill/>
          <a:ln/>
        </p:spPr>
        <p:txBody>
          <a:bodyPr wrap="square" rtlCol="0" anchor="ctr"/>
          <a:lstStyle/>
          <a:p>
            <a:pPr algn="ctr" indent="0" marL="0">
              <a:buNone/>
            </a:pPr>
            <a:r>
              <a:rPr lang="en-US" sz="800" b="1" dirty="0">
                <a:solidFill>
                  <a:srgbClr val="10B981"/>
                </a:solidFill>
                <a:latin typeface="Arial" pitchFamily="34" charset="0"/>
                <a:ea typeface="Arial" pitchFamily="34" charset="-122"/>
                <a:cs typeface="Arial" pitchFamily="34" charset="-120"/>
              </a:rPr>
              <a:t>Step 5</a:t>
            </a:r>
            <a:endParaRPr lang="en-US" sz="800" dirty="0"/>
          </a:p>
        </p:txBody>
      </p:sp>
      <p:sp>
        <p:nvSpPr>
          <p:cNvPr id="36" name="Text 33"/>
          <p:cNvSpPr/>
          <p:nvPr/>
        </p:nvSpPr>
        <p:spPr>
          <a:xfrm>
            <a:off x="1371600" y="3968496"/>
            <a:ext cx="2560320" cy="228600"/>
          </a:xfrm>
          <a:prstGeom prst="rect">
            <a:avLst/>
          </a:prstGeom>
          <a:noFill/>
          <a:ln/>
        </p:spPr>
        <p:txBody>
          <a:bodyPr wrap="square" rtlCol="0" anchor="ctr"/>
          <a:lstStyle/>
          <a:p>
            <a:pPr indent="0" marL="0">
              <a:buNone/>
            </a:pPr>
            <a:r>
              <a:rPr lang="en-US" sz="950" b="1" dirty="0">
                <a:solidFill>
                  <a:srgbClr val="F8FAFC"/>
                </a:solidFill>
                <a:latin typeface="Arial" pitchFamily="34" charset="0"/>
                <a:ea typeface="Arial" pitchFamily="34" charset="-122"/>
                <a:cs typeface="Arial" pitchFamily="34" charset="-120"/>
              </a:rPr>
              <a:t>Test &amp; Activate</a:t>
            </a:r>
            <a:endParaRPr lang="en-US" sz="950" dirty="0"/>
          </a:p>
        </p:txBody>
      </p:sp>
      <p:sp>
        <p:nvSpPr>
          <p:cNvPr id="37" name="Text 34"/>
          <p:cNvSpPr/>
          <p:nvPr/>
        </p:nvSpPr>
        <p:spPr>
          <a:xfrm>
            <a:off x="1371600" y="4206240"/>
            <a:ext cx="3749040" cy="228600"/>
          </a:xfrm>
          <a:prstGeom prst="rect">
            <a:avLst/>
          </a:prstGeom>
          <a:noFill/>
          <a:ln/>
        </p:spPr>
        <p:txBody>
          <a:bodyPr wrap="square" rtlCol="0" anchor="ctr"/>
          <a:lstStyle/>
          <a:p>
            <a:pPr indent="0" marL="0">
              <a:buNone/>
            </a:pPr>
            <a:r>
              <a:rPr lang="en-US" sz="750" b="1" dirty="0">
                <a:solidFill>
                  <a:srgbClr val="38BDF8"/>
                </a:solidFill>
                <a:latin typeface="Consolas" pitchFamily="34" charset="0"/>
                <a:ea typeface="Consolas" pitchFamily="34" charset="-122"/>
                <a:cs typeface="Consolas" pitchFamily="34" charset="-120"/>
              </a:rPr>
              <a:t>Builder Preview Console  ➜  Enter Test Utterance  ➜  Click "Activate"</a:t>
            </a:r>
            <a:endParaRPr lang="en-US" sz="750" dirty="0"/>
          </a:p>
        </p:txBody>
      </p:sp>
      <p:sp>
        <p:nvSpPr>
          <p:cNvPr id="38" name="Text 35"/>
          <p:cNvSpPr/>
          <p:nvPr/>
        </p:nvSpPr>
        <p:spPr>
          <a:xfrm>
            <a:off x="5257800" y="3986784"/>
            <a:ext cx="3291840" cy="438912"/>
          </a:xfrm>
          <a:prstGeom prst="rect">
            <a:avLst/>
          </a:prstGeom>
          <a:noFill/>
          <a:ln/>
        </p:spPr>
        <p:txBody>
          <a:bodyPr wrap="square" rtlCol="0" anchor="ctr"/>
          <a:lstStyle/>
          <a:p>
            <a:pPr indent="0" marL="0">
              <a:lnSpc>
                <a:spcPts val="1100"/>
              </a:lnSpc>
              <a:buNone/>
            </a:pPr>
            <a:r>
              <a:rPr lang="en-US" sz="750" dirty="0">
                <a:solidFill>
                  <a:srgbClr val="CBD5E1"/>
                </a:solidFill>
                <a:latin typeface="Arial" pitchFamily="34" charset="0"/>
                <a:ea typeface="Arial" pitchFamily="34" charset="-122"/>
                <a:cs typeface="Arial" pitchFamily="34" charset="-120"/>
              </a:rPr>
              <a:t>Inspect the live Reasoning Log trace. Confirm Topic switching and tool execution.</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457200" y="256032"/>
            <a:ext cx="1097280" cy="27432"/>
          </a:xfrm>
          <a:prstGeom prst="rect">
            <a:avLst/>
          </a:prstGeom>
          <a:solidFill>
            <a:srgbClr val="00A1E0"/>
          </a:solidFill>
          <a:ln w="12700">
            <a:solidFill>
              <a:srgbClr val="00A1E0"/>
            </a:solidFill>
            <a:prstDash val="solid"/>
          </a:ln>
        </p:spPr>
      </p:sp>
      <p:sp>
        <p:nvSpPr>
          <p:cNvPr id="3" name="Text 1"/>
          <p:cNvSpPr/>
          <p:nvPr/>
        </p:nvSpPr>
        <p:spPr>
          <a:xfrm>
            <a:off x="457200" y="320040"/>
            <a:ext cx="8229600" cy="164592"/>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DEBUGGING &amp; OBSERVABILITY</a:t>
            </a:r>
            <a:endParaRPr lang="en-US" sz="800" dirty="0"/>
          </a:p>
        </p:txBody>
      </p:sp>
      <p:sp>
        <p:nvSpPr>
          <p:cNvPr id="4" name="Text 2"/>
          <p:cNvSpPr/>
          <p:nvPr/>
        </p:nvSpPr>
        <p:spPr>
          <a:xfrm>
            <a:off x="457200" y="493776"/>
            <a:ext cx="8229600" cy="320040"/>
          </a:xfrm>
          <a:prstGeom prst="rect">
            <a:avLst/>
          </a:prstGeom>
          <a:noFill/>
          <a:ln/>
        </p:spPr>
        <p:txBody>
          <a:bodyPr wrap="square" rtlCol="0" anchor="ctr"/>
          <a:lstStyle/>
          <a:p>
            <a:pPr indent="0" marL="0">
              <a:buNone/>
            </a:pPr>
            <a:r>
              <a:rPr lang="en-US" sz="1500" b="1" dirty="0">
                <a:solidFill>
                  <a:srgbClr val="F8FAFC"/>
                </a:solidFill>
                <a:latin typeface="Arial" pitchFamily="34" charset="0"/>
                <a:ea typeface="Arial" pitchFamily="34" charset="-122"/>
                <a:cs typeface="Arial" pitchFamily="34" charset="-120"/>
              </a:rPr>
              <a:t>Execution Tracing: Reading the Agentforce Reasoning Log</a:t>
            </a:r>
            <a:endParaRPr lang="en-US" sz="1500" dirty="0"/>
          </a:p>
        </p:txBody>
      </p:sp>
      <p:sp>
        <p:nvSpPr>
          <p:cNvPr id="5" name="Shape 3"/>
          <p:cNvSpPr/>
          <p:nvPr/>
        </p:nvSpPr>
        <p:spPr>
          <a:xfrm>
            <a:off x="457200" y="859536"/>
            <a:ext cx="8229600" cy="0"/>
          </a:xfrm>
          <a:prstGeom prst="line">
            <a:avLst/>
          </a:prstGeom>
          <a:noFill/>
          <a:ln w="12700">
            <a:solidFill>
              <a:srgbClr val="1E293B"/>
            </a:solidFill>
            <a:prstDash val="solid"/>
          </a:ln>
        </p:spPr>
      </p:sp>
      <p:sp>
        <p:nvSpPr>
          <p:cNvPr id="6" name="Text 4"/>
          <p:cNvSpPr/>
          <p:nvPr/>
        </p:nvSpPr>
        <p:spPr>
          <a:xfrm>
            <a:off x="457200" y="4791456"/>
            <a:ext cx="6400800" cy="228600"/>
          </a:xfrm>
          <a:prstGeom prst="rect">
            <a:avLst/>
          </a:prstGeom>
          <a:noFill/>
          <a:ln/>
        </p:spPr>
        <p:txBody>
          <a:bodyPr wrap="square" rtlCol="0" anchor="ctr"/>
          <a:lstStyle/>
          <a:p>
            <a:pPr indent="0" marL="0">
              <a:buNone/>
            </a:pPr>
            <a:r>
              <a:rPr lang="en-US" sz="750" dirty="0">
                <a:solidFill>
                  <a:srgbClr val="94A3B8"/>
                </a:solidFill>
                <a:latin typeface="Arial" pitchFamily="34" charset="0"/>
                <a:ea typeface="Arial" pitchFamily="34" charset="-122"/>
                <a:cs typeface="Arial" pitchFamily="34" charset="-120"/>
              </a:rPr>
              <a:t>Salesforce Agentforce &amp; Data 360 Enablement  •  Day 1: Atlas Reasoning Engine &amp; ReAct Loop</a:t>
            </a:r>
            <a:endParaRPr lang="en-US" sz="750" dirty="0"/>
          </a:p>
        </p:txBody>
      </p:sp>
      <p:sp>
        <p:nvSpPr>
          <p:cNvPr id="7" name="Text 5"/>
          <p:cNvSpPr/>
          <p:nvPr/>
        </p:nvSpPr>
        <p:spPr>
          <a:xfrm>
            <a:off x="7315200" y="4791456"/>
            <a:ext cx="1371600" cy="228600"/>
          </a:xfrm>
          <a:prstGeom prst="rect">
            <a:avLst/>
          </a:prstGeom>
          <a:noFill/>
          <a:ln/>
        </p:spPr>
        <p:txBody>
          <a:bodyPr wrap="square" rtlCol="0" anchor="ctr"/>
          <a:lstStyle/>
          <a:p>
            <a:pPr algn="r" indent="0" marL="0">
              <a:buNone/>
            </a:pPr>
            <a:r>
              <a:rPr lang="en-US" sz="750" b="1" dirty="0">
                <a:solidFill>
                  <a:srgbClr val="00A1E0"/>
                </a:solidFill>
                <a:latin typeface="Arial" pitchFamily="34" charset="0"/>
                <a:ea typeface="Arial" pitchFamily="34" charset="-122"/>
                <a:cs typeface="Arial" pitchFamily="34" charset="-120"/>
              </a:rPr>
              <a:t>14 / 19</a:t>
            </a:r>
            <a:endParaRPr lang="en-US" sz="750" dirty="0"/>
          </a:p>
        </p:txBody>
      </p:sp>
      <p:sp>
        <p:nvSpPr>
          <p:cNvPr id="9" name="Shape 6"/>
          <p:cNvSpPr/>
          <p:nvPr/>
        </p:nvSpPr>
        <p:spPr>
          <a:xfrm>
            <a:off x="457200" y="1024128"/>
            <a:ext cx="3977640" cy="3566160"/>
          </a:xfrm>
          <a:prstGeom prst="roundRect">
            <a:avLst>
              <a:gd name="adj" fmla="val 2051"/>
            </a:avLst>
          </a:prstGeom>
          <a:solidFill>
            <a:srgbClr val="080C14"/>
          </a:solidFill>
          <a:ln w="12700">
            <a:solidFill>
              <a:srgbClr val="00A1E0"/>
            </a:solidFill>
            <a:prstDash val="solid"/>
          </a:ln>
        </p:spPr>
      </p:sp>
      <p:sp>
        <p:nvSpPr>
          <p:cNvPr id="10" name="Text 7"/>
          <p:cNvSpPr/>
          <p:nvPr/>
        </p:nvSpPr>
        <p:spPr>
          <a:xfrm>
            <a:off x="594360" y="1143000"/>
            <a:ext cx="3703320" cy="201168"/>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BUILDER REASONING LOG TRACE</a:t>
            </a:r>
            <a:endParaRPr lang="en-US" sz="800" dirty="0"/>
          </a:p>
        </p:txBody>
      </p:sp>
      <p:sp>
        <p:nvSpPr>
          <p:cNvPr id="11" name="Text 8"/>
          <p:cNvSpPr/>
          <p:nvPr/>
        </p:nvSpPr>
        <p:spPr>
          <a:xfrm>
            <a:off x="594360" y="1389888"/>
            <a:ext cx="3703320" cy="3063240"/>
          </a:xfrm>
          <a:prstGeom prst="rect">
            <a:avLst/>
          </a:prstGeom>
          <a:noFill/>
          <a:ln/>
        </p:spPr>
        <p:txBody>
          <a:bodyPr wrap="square" rtlCol="0" anchor="ctr"/>
          <a:lstStyle/>
          <a:p>
            <a:pPr indent="0" marL="0">
              <a:lnSpc>
                <a:spcPts val="950"/>
              </a:lnSpc>
              <a:buNone/>
            </a:pPr>
            <a:r>
              <a:rPr lang="en-US" sz="680" dirty="0">
                <a:solidFill>
                  <a:srgbClr val="E2E8F0"/>
                </a:solidFill>
                <a:latin typeface="Consolas" pitchFamily="34" charset="0"/>
                <a:ea typeface="Consolas" pitchFamily="34" charset="-122"/>
                <a:cs typeface="Consolas" pitchFamily="34" charset="-120"/>
              </a:rPr>
              <a:t>14:02:01.120 [INPUT] Utterance: "Status of case #0001024?"</a:t>
            </a:r>
            <a:endParaRPr lang="en-US" sz="680" dirty="0"/>
          </a:p>
          <a:p>
            <a:pPr indent="0" marL="0">
              <a:lnSpc>
                <a:spcPts val="950"/>
              </a:lnSpc>
              <a:buNone/>
            </a:pPr>
            <a:r>
              <a:rPr lang="en-US" sz="680" dirty="0">
                <a:solidFill>
                  <a:srgbClr val="E2E8F0"/>
                </a:solidFill>
                <a:latin typeface="Consolas" pitchFamily="34" charset="0"/>
                <a:ea typeface="Consolas" pitchFamily="34" charset="-122"/>
                <a:cs typeface="Consolas" pitchFamily="34" charset="-120"/>
              </a:rPr>
              <a:t>14:02:01.350 [CLASSIFIER] Topic Classification:</a:t>
            </a:r>
            <a:endParaRPr lang="en-US" sz="680" dirty="0"/>
          </a:p>
          <a:p>
            <a:pPr indent="0" marL="0">
              <a:lnSpc>
                <a:spcPts val="950"/>
              </a:lnSpc>
              <a:buNone/>
            </a:pPr>
            <a:r>
              <a:rPr lang="en-US" sz="680" dirty="0">
                <a:solidFill>
                  <a:srgbClr val="E2E8F0"/>
                </a:solidFill>
                <a:latin typeface="Consolas" pitchFamily="34" charset="0"/>
                <a:ea typeface="Consolas" pitchFamily="34" charset="-122"/>
                <a:cs typeface="Consolas" pitchFamily="34" charset="-120"/>
              </a:rPr>
              <a:t>             -&gt; Selected: "Case Management" (Score: 0.96)</a:t>
            </a:r>
            <a:endParaRPr lang="en-US" sz="680" dirty="0"/>
          </a:p>
          <a:p>
            <a:pPr indent="0" marL="0">
              <a:lnSpc>
                <a:spcPts val="950"/>
              </a:lnSpc>
              <a:buNone/>
            </a:pPr>
            <a:r>
              <a:rPr lang="en-US" sz="680" dirty="0">
                <a:solidFill>
                  <a:srgbClr val="E2E8F0"/>
                </a:solidFill>
                <a:latin typeface="Consolas" pitchFamily="34" charset="0"/>
                <a:ea typeface="Consolas" pitchFamily="34" charset="-122"/>
                <a:cs typeface="Consolas" pitchFamily="34" charset="-120"/>
              </a:rPr>
              <a:t>             -&gt; Rejected: "Billing Inquiry" (Score: 0.12)</a:t>
            </a:r>
            <a:endParaRPr lang="en-US" sz="680" dirty="0"/>
          </a:p>
          <a:p>
            <a:pPr indent="0" marL="0">
              <a:lnSpc>
                <a:spcPts val="950"/>
              </a:lnSpc>
              <a:buNone/>
            </a:pPr>
            <a:r>
              <a:rPr lang="en-US" sz="680" dirty="0">
                <a:solidFill>
                  <a:srgbClr val="E2E8F0"/>
                </a:solidFill>
                <a:latin typeface="Consolas" pitchFamily="34" charset="0"/>
                <a:ea typeface="Consolas" pitchFamily="34" charset="-122"/>
                <a:cs typeface="Consolas" pitchFamily="34" charset="-120"/>
              </a:rPr>
              <a:t>14:02:01.580 [REASONING] Thought:</a:t>
            </a:r>
            <a:endParaRPr lang="en-US" sz="680" dirty="0"/>
          </a:p>
          <a:p>
            <a:pPr indent="0" marL="0">
              <a:lnSpc>
                <a:spcPts val="950"/>
              </a:lnSpc>
              <a:buNone/>
            </a:pPr>
            <a:r>
              <a:rPr lang="en-US" sz="680" dirty="0">
                <a:solidFill>
                  <a:srgbClr val="E2E8F0"/>
                </a:solidFill>
                <a:latin typeface="Consolas" pitchFamily="34" charset="0"/>
                <a:ea typeface="Consolas" pitchFamily="34" charset="-122"/>
                <a:cs typeface="Consolas" pitchFamily="34" charset="-120"/>
              </a:rPr>
              <a:t>             "User is inquiring about status of case #0001024.</a:t>
            </a:r>
            <a:endParaRPr lang="en-US" sz="680" dirty="0"/>
          </a:p>
          <a:p>
            <a:pPr indent="0" marL="0">
              <a:lnSpc>
                <a:spcPts val="950"/>
              </a:lnSpc>
              <a:buNone/>
            </a:pPr>
            <a:r>
              <a:rPr lang="en-US" sz="680" dirty="0">
                <a:solidFill>
                  <a:srgbClr val="E2E8F0"/>
                </a:solidFill>
                <a:latin typeface="Consolas" pitchFamily="34" charset="0"/>
                <a:ea typeface="Consolas" pitchFamily="34" charset="-122"/>
                <a:cs typeface="Consolas" pitchFamily="34" charset="-120"/>
              </a:rPr>
              <a:t>              Action 'Get_Case_Details' matches input</a:t>
            </a:r>
            <a:endParaRPr lang="en-US" sz="680" dirty="0"/>
          </a:p>
          <a:p>
            <a:pPr indent="0" marL="0">
              <a:lnSpc>
                <a:spcPts val="950"/>
              </a:lnSpc>
              <a:buNone/>
            </a:pPr>
            <a:r>
              <a:rPr lang="en-US" sz="680" dirty="0">
                <a:solidFill>
                  <a:srgbClr val="E2E8F0"/>
                </a:solidFill>
                <a:latin typeface="Consolas" pitchFamily="34" charset="0"/>
                <a:ea typeface="Consolas" pitchFamily="34" charset="-122"/>
                <a:cs typeface="Consolas" pitchFamily="34" charset="-120"/>
              </a:rPr>
              <a:t>              'CaseNumber' -&gt; '0001024'."</a:t>
            </a:r>
            <a:endParaRPr lang="en-US" sz="680" dirty="0"/>
          </a:p>
          <a:p>
            <a:pPr indent="0" marL="0">
              <a:lnSpc>
                <a:spcPts val="950"/>
              </a:lnSpc>
              <a:buNone/>
            </a:pPr>
            <a:r>
              <a:rPr lang="en-US" sz="680" dirty="0">
                <a:solidFill>
                  <a:srgbClr val="E2E8F0"/>
                </a:solidFill>
                <a:latin typeface="Consolas" pitchFamily="34" charset="0"/>
                <a:ea typeface="Consolas" pitchFamily="34" charset="-122"/>
                <a:cs typeface="Consolas" pitchFamily="34" charset="-120"/>
              </a:rPr>
              <a:t>14:02:01.710 [ACTION CALL] Invoking Tool:</a:t>
            </a:r>
            <a:endParaRPr lang="en-US" sz="680" dirty="0"/>
          </a:p>
          <a:p>
            <a:pPr indent="0" marL="0">
              <a:lnSpc>
                <a:spcPts val="950"/>
              </a:lnSpc>
              <a:buNone/>
            </a:pPr>
            <a:r>
              <a:rPr lang="en-US" sz="680" dirty="0">
                <a:solidFill>
                  <a:srgbClr val="E2E8F0"/>
                </a:solidFill>
                <a:latin typeface="Consolas" pitchFamily="34" charset="0"/>
                <a:ea typeface="Consolas" pitchFamily="34" charset="-122"/>
                <a:cs typeface="Consolas" pitchFamily="34" charset="-120"/>
              </a:rPr>
              <a:t>             -&gt; Tool: Autolaunched Flow 'Get_Case_Details'</a:t>
            </a:r>
            <a:endParaRPr lang="en-US" sz="680" dirty="0"/>
          </a:p>
          <a:p>
            <a:pPr indent="0" marL="0">
              <a:lnSpc>
                <a:spcPts val="950"/>
              </a:lnSpc>
              <a:buNone/>
            </a:pPr>
            <a:r>
              <a:rPr lang="en-US" sz="680" dirty="0">
                <a:solidFill>
                  <a:srgbClr val="E2E8F0"/>
                </a:solidFill>
                <a:latin typeface="Consolas" pitchFamily="34" charset="0"/>
                <a:ea typeface="Consolas" pitchFamily="34" charset="-122"/>
                <a:cs typeface="Consolas" pitchFamily="34" charset="-120"/>
              </a:rPr>
              <a:t>             -&gt; Ingested Params: { CaseNumber: "0001024" }</a:t>
            </a:r>
            <a:endParaRPr lang="en-US" sz="680" dirty="0"/>
          </a:p>
          <a:p>
            <a:pPr indent="0" marL="0">
              <a:lnSpc>
                <a:spcPts val="950"/>
              </a:lnSpc>
              <a:buNone/>
            </a:pPr>
            <a:r>
              <a:rPr lang="en-US" sz="680" dirty="0">
                <a:solidFill>
                  <a:srgbClr val="E2E8F0"/>
                </a:solidFill>
                <a:latin typeface="Consolas" pitchFamily="34" charset="0"/>
                <a:ea typeface="Consolas" pitchFamily="34" charset="-122"/>
                <a:cs typeface="Consolas" pitchFamily="34" charset="-120"/>
              </a:rPr>
              <a:t>14:02:02.040 [OBSERVATION] Tool Result:</a:t>
            </a:r>
            <a:endParaRPr lang="en-US" sz="680" dirty="0"/>
          </a:p>
          <a:p>
            <a:pPr indent="0" marL="0">
              <a:lnSpc>
                <a:spcPts val="950"/>
              </a:lnSpc>
              <a:buNone/>
            </a:pPr>
            <a:r>
              <a:rPr lang="en-US" sz="680" dirty="0">
                <a:solidFill>
                  <a:srgbClr val="E2E8F0"/>
                </a:solidFill>
                <a:latin typeface="Consolas" pitchFamily="34" charset="0"/>
                <a:ea typeface="Consolas" pitchFamily="34" charset="-122"/>
                <a:cs typeface="Consolas" pitchFamily="34" charset="-120"/>
              </a:rPr>
              <a:t>             -&gt; Output: { Status: "New", Priority: "Medium",</a:t>
            </a:r>
            <a:endParaRPr lang="en-US" sz="680" dirty="0"/>
          </a:p>
          <a:p>
            <a:pPr indent="0" marL="0">
              <a:lnSpc>
                <a:spcPts val="950"/>
              </a:lnSpc>
              <a:buNone/>
            </a:pPr>
            <a:r>
              <a:rPr lang="en-US" sz="680" dirty="0">
                <a:solidFill>
                  <a:srgbClr val="E2E8F0"/>
                </a:solidFill>
                <a:latin typeface="Consolas" pitchFamily="34" charset="0"/>
                <a:ea typeface="Consolas" pitchFamily="34" charset="-122"/>
                <a:cs typeface="Consolas" pitchFamily="34" charset="-120"/>
              </a:rPr>
              <a:t>                          Subject: "System Access Issue" }</a:t>
            </a:r>
            <a:endParaRPr lang="en-US" sz="680" dirty="0"/>
          </a:p>
          <a:p>
            <a:pPr indent="0" marL="0">
              <a:lnSpc>
                <a:spcPts val="950"/>
              </a:lnSpc>
              <a:buNone/>
            </a:pPr>
            <a:r>
              <a:rPr lang="en-US" sz="680" dirty="0">
                <a:solidFill>
                  <a:srgbClr val="E2E8F0"/>
                </a:solidFill>
                <a:latin typeface="Consolas" pitchFamily="34" charset="0"/>
                <a:ea typeface="Consolas" pitchFamily="34" charset="-122"/>
                <a:cs typeface="Consolas" pitchFamily="34" charset="-120"/>
              </a:rPr>
              <a:t>14:02:02.320 [SYNTHESIS] Thought:</a:t>
            </a:r>
            <a:endParaRPr lang="en-US" sz="680" dirty="0"/>
          </a:p>
          <a:p>
            <a:pPr indent="0" marL="0">
              <a:lnSpc>
                <a:spcPts val="950"/>
              </a:lnSpc>
              <a:buNone/>
            </a:pPr>
            <a:r>
              <a:rPr lang="en-US" sz="680" dirty="0">
                <a:solidFill>
                  <a:srgbClr val="E2E8F0"/>
                </a:solidFill>
                <a:latin typeface="Consolas" pitchFamily="34" charset="0"/>
                <a:ea typeface="Consolas" pitchFamily="34" charset="-122"/>
                <a:cs typeface="Consolas" pitchFamily="34" charset="-120"/>
              </a:rPr>
              <a:t>             "Goal satisfied. Formulating reply."</a:t>
            </a:r>
            <a:endParaRPr lang="en-US" sz="680" dirty="0"/>
          </a:p>
          <a:p>
            <a:pPr indent="0" marL="0">
              <a:lnSpc>
                <a:spcPts val="950"/>
              </a:lnSpc>
              <a:buNone/>
            </a:pPr>
            <a:r>
              <a:rPr lang="en-US" sz="680" dirty="0">
                <a:solidFill>
                  <a:srgbClr val="E2E8F0"/>
                </a:solidFill>
                <a:latin typeface="Consolas" pitchFamily="34" charset="0"/>
                <a:ea typeface="Consolas" pitchFamily="34" charset="-122"/>
                <a:cs typeface="Consolas" pitchFamily="34" charset="-120"/>
              </a:rPr>
              <a:t>14:02:02.680 [AGENT OUTPUT]:</a:t>
            </a:r>
            <a:endParaRPr lang="en-US" sz="680" dirty="0"/>
          </a:p>
          <a:p>
            <a:pPr indent="0" marL="0">
              <a:lnSpc>
                <a:spcPts val="950"/>
              </a:lnSpc>
              <a:buNone/>
            </a:pPr>
            <a:r>
              <a:rPr lang="en-US" sz="680" dirty="0">
                <a:solidFill>
                  <a:srgbClr val="E2E8F0"/>
                </a:solidFill>
                <a:latin typeface="Consolas" pitchFamily="34" charset="0"/>
                <a:ea typeface="Consolas" pitchFamily="34" charset="-122"/>
                <a:cs typeface="Consolas" pitchFamily="34" charset="-120"/>
              </a:rPr>
              <a:t>             "Case #0001024 ('System Access Issue') is currently New</a:t>
            </a:r>
            <a:endParaRPr lang="en-US" sz="680" dirty="0"/>
          </a:p>
          <a:p>
            <a:pPr indent="0" marL="0">
              <a:lnSpc>
                <a:spcPts val="950"/>
              </a:lnSpc>
              <a:buNone/>
            </a:pPr>
            <a:r>
              <a:rPr lang="en-US" sz="680" dirty="0">
                <a:solidFill>
                  <a:srgbClr val="E2E8F0"/>
                </a:solidFill>
                <a:latin typeface="Consolas" pitchFamily="34" charset="0"/>
                <a:ea typeface="Consolas" pitchFamily="34" charset="-122"/>
                <a:cs typeface="Consolas" pitchFamily="34" charset="-120"/>
              </a:rPr>
              <a:t>              with Medium priority."</a:t>
            </a:r>
            <a:endParaRPr lang="en-US" sz="680" dirty="0"/>
          </a:p>
        </p:txBody>
      </p:sp>
      <p:sp>
        <p:nvSpPr>
          <p:cNvPr id="12" name="Shape 9"/>
          <p:cNvSpPr/>
          <p:nvPr/>
        </p:nvSpPr>
        <p:spPr>
          <a:xfrm>
            <a:off x="4709160" y="1024128"/>
            <a:ext cx="3977640" cy="3566160"/>
          </a:xfrm>
          <a:prstGeom prst="roundRect">
            <a:avLst>
              <a:gd name="adj" fmla="val 2051"/>
            </a:avLst>
          </a:prstGeom>
          <a:solidFill>
            <a:srgbClr val="131B2E"/>
          </a:solidFill>
          <a:ln w="12700">
            <a:solidFill>
              <a:srgbClr val="233354"/>
            </a:solidFill>
            <a:prstDash val="solid"/>
          </a:ln>
        </p:spPr>
      </p:sp>
      <p:sp>
        <p:nvSpPr>
          <p:cNvPr id="13" name="Shape 10"/>
          <p:cNvSpPr/>
          <p:nvPr/>
        </p:nvSpPr>
        <p:spPr>
          <a:xfrm>
            <a:off x="4709160" y="1024128"/>
            <a:ext cx="3977640" cy="45720"/>
          </a:xfrm>
          <a:prstGeom prst="rect">
            <a:avLst/>
          </a:prstGeom>
          <a:solidFill>
            <a:srgbClr val="F59E0B"/>
          </a:solidFill>
          <a:ln w="12700">
            <a:solidFill>
              <a:srgbClr val="F59E0B"/>
            </a:solidFill>
            <a:prstDash val="solid"/>
          </a:ln>
        </p:spPr>
      </p:sp>
      <p:sp>
        <p:nvSpPr>
          <p:cNvPr id="14" name="Text 11"/>
          <p:cNvSpPr/>
          <p:nvPr/>
        </p:nvSpPr>
        <p:spPr>
          <a:xfrm>
            <a:off x="4892040" y="1143000"/>
            <a:ext cx="3611880" cy="201168"/>
          </a:xfrm>
          <a:prstGeom prst="rect">
            <a:avLst/>
          </a:prstGeom>
          <a:noFill/>
          <a:ln/>
        </p:spPr>
        <p:txBody>
          <a:bodyPr wrap="square" rtlCol="0" anchor="ctr"/>
          <a:lstStyle/>
          <a:p>
            <a:pPr indent="0" marL="0">
              <a:buNone/>
            </a:pPr>
            <a:r>
              <a:rPr lang="en-US" sz="800" b="1" dirty="0">
                <a:solidFill>
                  <a:srgbClr val="F59E0B"/>
                </a:solidFill>
                <a:latin typeface="Arial" pitchFamily="34" charset="0"/>
                <a:ea typeface="Arial" pitchFamily="34" charset="-122"/>
                <a:cs typeface="Arial" pitchFamily="34" charset="-120"/>
              </a:rPr>
              <a:t>ARCHITECTURAL AUDIT CHECKPOINTS</a:t>
            </a:r>
            <a:endParaRPr lang="en-US" sz="800" dirty="0"/>
          </a:p>
        </p:txBody>
      </p:sp>
      <p:sp>
        <p:nvSpPr>
          <p:cNvPr id="15" name="Text 12"/>
          <p:cNvSpPr/>
          <p:nvPr/>
        </p:nvSpPr>
        <p:spPr>
          <a:xfrm>
            <a:off x="4892040" y="1371600"/>
            <a:ext cx="3611880" cy="228600"/>
          </a:xfrm>
          <a:prstGeom prst="rect">
            <a:avLst/>
          </a:prstGeom>
          <a:noFill/>
          <a:ln/>
        </p:spPr>
        <p:txBody>
          <a:bodyPr wrap="square" rtlCol="0" anchor="ctr"/>
          <a:lstStyle/>
          <a:p>
            <a:pPr indent="0" marL="0">
              <a:buNone/>
            </a:pPr>
            <a:r>
              <a:rPr lang="en-US" sz="1050" b="1" dirty="0">
                <a:solidFill>
                  <a:srgbClr val="F8FAFC"/>
                </a:solidFill>
                <a:latin typeface="Arial" pitchFamily="34" charset="0"/>
                <a:ea typeface="Arial" pitchFamily="34" charset="-122"/>
                <a:cs typeface="Arial" pitchFamily="34" charset="-120"/>
              </a:rPr>
              <a:t>What Every Architect Must Inspect in the Trace:</a:t>
            </a:r>
            <a:endParaRPr lang="en-US" sz="1050" dirty="0"/>
          </a:p>
        </p:txBody>
      </p:sp>
      <p:sp>
        <p:nvSpPr>
          <p:cNvPr id="16" name="Text 13"/>
          <p:cNvSpPr/>
          <p:nvPr/>
        </p:nvSpPr>
        <p:spPr>
          <a:xfrm>
            <a:off x="4892040" y="1691640"/>
            <a:ext cx="3611880" cy="201168"/>
          </a:xfrm>
          <a:prstGeom prst="rect">
            <a:avLst/>
          </a:prstGeom>
          <a:noFill/>
          <a:ln/>
        </p:spPr>
        <p:txBody>
          <a:bodyPr wrap="square" rtlCol="0" anchor="ctr"/>
          <a:lstStyle/>
          <a:p>
            <a:pPr indent="0" marL="0">
              <a:buNone/>
            </a:pPr>
            <a:r>
              <a:rPr lang="en-US" sz="850" b="1" dirty="0">
                <a:solidFill>
                  <a:srgbClr val="38BDF8"/>
                </a:solidFill>
                <a:latin typeface="Arial" pitchFamily="34" charset="0"/>
                <a:ea typeface="Arial" pitchFamily="34" charset="-122"/>
                <a:cs typeface="Arial" pitchFamily="34" charset="-120"/>
              </a:rPr>
              <a:t>1. Topic Classification Confidence</a:t>
            </a:r>
            <a:endParaRPr lang="en-US" sz="850" dirty="0"/>
          </a:p>
        </p:txBody>
      </p:sp>
      <p:sp>
        <p:nvSpPr>
          <p:cNvPr id="17" name="Text 14"/>
          <p:cNvSpPr/>
          <p:nvPr/>
        </p:nvSpPr>
        <p:spPr>
          <a:xfrm>
            <a:off x="4892040" y="1892808"/>
            <a:ext cx="3611880" cy="438912"/>
          </a:xfrm>
          <a:prstGeom prst="rect">
            <a:avLst/>
          </a:prstGeom>
          <a:noFill/>
          <a:ln/>
        </p:spPr>
        <p:txBody>
          <a:bodyPr wrap="square" rtlCol="0" anchor="ctr"/>
          <a:lstStyle/>
          <a:p>
            <a:pPr indent="0" marL="0">
              <a:lnSpc>
                <a:spcPts val="1100"/>
              </a:lnSpc>
              <a:buNone/>
            </a:pPr>
            <a:r>
              <a:rPr lang="en-US" sz="750" dirty="0">
                <a:solidFill>
                  <a:srgbClr val="CBD5E1"/>
                </a:solidFill>
                <a:latin typeface="Arial" pitchFamily="34" charset="0"/>
                <a:ea typeface="Arial" pitchFamily="34" charset="-122"/>
                <a:cs typeface="Arial" pitchFamily="34" charset="-120"/>
              </a:rPr>
              <a:t>Did Atlas pick the intended Topic? If score is below 0.85 or competing topics tie, sharpen the Topic description.</a:t>
            </a:r>
            <a:endParaRPr lang="en-US" sz="750" dirty="0"/>
          </a:p>
        </p:txBody>
      </p:sp>
      <p:sp>
        <p:nvSpPr>
          <p:cNvPr id="18" name="Text 15"/>
          <p:cNvSpPr/>
          <p:nvPr/>
        </p:nvSpPr>
        <p:spPr>
          <a:xfrm>
            <a:off x="4892040" y="2386584"/>
            <a:ext cx="3611880" cy="201168"/>
          </a:xfrm>
          <a:prstGeom prst="rect">
            <a:avLst/>
          </a:prstGeom>
          <a:noFill/>
          <a:ln/>
        </p:spPr>
        <p:txBody>
          <a:bodyPr wrap="square" rtlCol="0" anchor="ctr"/>
          <a:lstStyle/>
          <a:p>
            <a:pPr indent="0" marL="0">
              <a:buNone/>
            </a:pPr>
            <a:r>
              <a:rPr lang="en-US" sz="850" b="1" dirty="0">
                <a:solidFill>
                  <a:srgbClr val="38BDF8"/>
                </a:solidFill>
                <a:latin typeface="Arial" pitchFamily="34" charset="0"/>
                <a:ea typeface="Arial" pitchFamily="34" charset="-122"/>
                <a:cs typeface="Arial" pitchFamily="34" charset="-120"/>
              </a:rPr>
              <a:t>2. Parameter Extraction Accuracy</a:t>
            </a:r>
            <a:endParaRPr lang="en-US" sz="850" dirty="0"/>
          </a:p>
        </p:txBody>
      </p:sp>
      <p:sp>
        <p:nvSpPr>
          <p:cNvPr id="19" name="Text 16"/>
          <p:cNvSpPr/>
          <p:nvPr/>
        </p:nvSpPr>
        <p:spPr>
          <a:xfrm>
            <a:off x="4892040" y="2587752"/>
            <a:ext cx="3611880" cy="438912"/>
          </a:xfrm>
          <a:prstGeom prst="rect">
            <a:avLst/>
          </a:prstGeom>
          <a:noFill/>
          <a:ln/>
        </p:spPr>
        <p:txBody>
          <a:bodyPr wrap="square" rtlCol="0" anchor="ctr"/>
          <a:lstStyle/>
          <a:p>
            <a:pPr indent="0" marL="0">
              <a:lnSpc>
                <a:spcPts val="1100"/>
              </a:lnSpc>
              <a:buNone/>
            </a:pPr>
            <a:r>
              <a:rPr lang="en-US" sz="750" dirty="0">
                <a:solidFill>
                  <a:srgbClr val="CBD5E1"/>
                </a:solidFill>
                <a:latin typeface="Arial" pitchFamily="34" charset="0"/>
                <a:ea typeface="Arial" pitchFamily="34" charset="-122"/>
                <a:cs typeface="Arial" pitchFamily="34" charset="-120"/>
              </a:rPr>
              <a:t>Verify that the LLM extracted parameter types correctly (e.g. stripping "#" from "0001024" for SOQL safety).</a:t>
            </a:r>
            <a:endParaRPr lang="en-US" sz="750" dirty="0"/>
          </a:p>
        </p:txBody>
      </p:sp>
      <p:sp>
        <p:nvSpPr>
          <p:cNvPr id="20" name="Text 17"/>
          <p:cNvSpPr/>
          <p:nvPr/>
        </p:nvSpPr>
        <p:spPr>
          <a:xfrm>
            <a:off x="4892040" y="3081528"/>
            <a:ext cx="3611880" cy="201168"/>
          </a:xfrm>
          <a:prstGeom prst="rect">
            <a:avLst/>
          </a:prstGeom>
          <a:noFill/>
          <a:ln/>
        </p:spPr>
        <p:txBody>
          <a:bodyPr wrap="square" rtlCol="0" anchor="ctr"/>
          <a:lstStyle/>
          <a:p>
            <a:pPr indent="0" marL="0">
              <a:buNone/>
            </a:pPr>
            <a:r>
              <a:rPr lang="en-US" sz="850" b="1" dirty="0">
                <a:solidFill>
                  <a:srgbClr val="38BDF8"/>
                </a:solidFill>
                <a:latin typeface="Arial" pitchFamily="34" charset="0"/>
                <a:ea typeface="Arial" pitchFamily="34" charset="-122"/>
                <a:cs typeface="Arial" pitchFamily="34" charset="-120"/>
              </a:rPr>
              <a:t>3. Tool Response Payload Size</a:t>
            </a:r>
            <a:endParaRPr lang="en-US" sz="850" dirty="0"/>
          </a:p>
        </p:txBody>
      </p:sp>
      <p:sp>
        <p:nvSpPr>
          <p:cNvPr id="21" name="Text 18"/>
          <p:cNvSpPr/>
          <p:nvPr/>
        </p:nvSpPr>
        <p:spPr>
          <a:xfrm>
            <a:off x="4892040" y="3282696"/>
            <a:ext cx="3611880" cy="438912"/>
          </a:xfrm>
          <a:prstGeom prst="rect">
            <a:avLst/>
          </a:prstGeom>
          <a:noFill/>
          <a:ln/>
        </p:spPr>
        <p:txBody>
          <a:bodyPr wrap="square" rtlCol="0" anchor="ctr"/>
          <a:lstStyle/>
          <a:p>
            <a:pPr indent="0" marL="0">
              <a:lnSpc>
                <a:spcPts val="1100"/>
              </a:lnSpc>
              <a:buNone/>
            </a:pPr>
            <a:r>
              <a:rPr lang="en-US" sz="750" dirty="0">
                <a:solidFill>
                  <a:srgbClr val="CBD5E1"/>
                </a:solidFill>
                <a:latin typeface="Arial" pitchFamily="34" charset="0"/>
                <a:ea typeface="Arial" pitchFamily="34" charset="-122"/>
                <a:cs typeface="Arial" pitchFamily="34" charset="-120"/>
              </a:rPr>
              <a:t>Keep Action outputs concise. Returning 50 unneeded Case fields pollutes LLM context and drives up token latency.</a:t>
            </a:r>
            <a:endParaRPr lang="en-US" sz="750" dirty="0"/>
          </a:p>
        </p:txBody>
      </p:sp>
      <p:sp>
        <p:nvSpPr>
          <p:cNvPr id="22" name="Text 19"/>
          <p:cNvSpPr/>
          <p:nvPr/>
        </p:nvSpPr>
        <p:spPr>
          <a:xfrm>
            <a:off x="4892040" y="3776472"/>
            <a:ext cx="3611880" cy="201168"/>
          </a:xfrm>
          <a:prstGeom prst="rect">
            <a:avLst/>
          </a:prstGeom>
          <a:noFill/>
          <a:ln/>
        </p:spPr>
        <p:txBody>
          <a:bodyPr wrap="square" rtlCol="0" anchor="ctr"/>
          <a:lstStyle/>
          <a:p>
            <a:pPr indent="0" marL="0">
              <a:buNone/>
            </a:pPr>
            <a:r>
              <a:rPr lang="en-US" sz="850" b="1" dirty="0">
                <a:solidFill>
                  <a:srgbClr val="38BDF8"/>
                </a:solidFill>
                <a:latin typeface="Arial" pitchFamily="34" charset="0"/>
                <a:ea typeface="Arial" pitchFamily="34" charset="-122"/>
                <a:cs typeface="Arial" pitchFamily="34" charset="-120"/>
              </a:rPr>
              <a:t>4. Grounding Fidelity (Zero Hallucination)</a:t>
            </a:r>
            <a:endParaRPr lang="en-US" sz="850" dirty="0"/>
          </a:p>
        </p:txBody>
      </p:sp>
      <p:sp>
        <p:nvSpPr>
          <p:cNvPr id="23" name="Text 20"/>
          <p:cNvSpPr/>
          <p:nvPr/>
        </p:nvSpPr>
        <p:spPr>
          <a:xfrm>
            <a:off x="4892040" y="3977640"/>
            <a:ext cx="3611880" cy="438912"/>
          </a:xfrm>
          <a:prstGeom prst="rect">
            <a:avLst/>
          </a:prstGeom>
          <a:noFill/>
          <a:ln/>
        </p:spPr>
        <p:txBody>
          <a:bodyPr wrap="square" rtlCol="0" anchor="ctr"/>
          <a:lstStyle/>
          <a:p>
            <a:pPr indent="0" marL="0">
              <a:lnSpc>
                <a:spcPts val="1100"/>
              </a:lnSpc>
              <a:buNone/>
            </a:pPr>
            <a:r>
              <a:rPr lang="en-US" sz="750" dirty="0">
                <a:solidFill>
                  <a:srgbClr val="CBD5E1"/>
                </a:solidFill>
                <a:latin typeface="Arial" pitchFamily="34" charset="0"/>
                <a:ea typeface="Arial" pitchFamily="34" charset="-122"/>
                <a:cs typeface="Arial" pitchFamily="34" charset="-120"/>
              </a:rPr>
              <a:t>Ensure the final agent message only states facts returned in the Observation payload without extrapolating assumptions.</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457200" y="256032"/>
            <a:ext cx="1097280" cy="27432"/>
          </a:xfrm>
          <a:prstGeom prst="rect">
            <a:avLst/>
          </a:prstGeom>
          <a:solidFill>
            <a:srgbClr val="00A1E0"/>
          </a:solidFill>
          <a:ln w="12700">
            <a:solidFill>
              <a:srgbClr val="00A1E0"/>
            </a:solidFill>
            <a:prstDash val="solid"/>
          </a:ln>
        </p:spPr>
      </p:sp>
      <p:sp>
        <p:nvSpPr>
          <p:cNvPr id="3" name="Text 1"/>
          <p:cNvSpPr/>
          <p:nvPr/>
        </p:nvSpPr>
        <p:spPr>
          <a:xfrm>
            <a:off x="457200" y="320040"/>
            <a:ext cx="8229600" cy="164592"/>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PITFALLS &amp; ANTI-PATTERNS</a:t>
            </a:r>
            <a:endParaRPr lang="en-US" sz="800" dirty="0"/>
          </a:p>
        </p:txBody>
      </p:sp>
      <p:sp>
        <p:nvSpPr>
          <p:cNvPr id="4" name="Text 2"/>
          <p:cNvSpPr/>
          <p:nvPr/>
        </p:nvSpPr>
        <p:spPr>
          <a:xfrm>
            <a:off x="457200" y="493776"/>
            <a:ext cx="8229600" cy="320040"/>
          </a:xfrm>
          <a:prstGeom prst="rect">
            <a:avLst/>
          </a:prstGeom>
          <a:noFill/>
          <a:ln/>
        </p:spPr>
        <p:txBody>
          <a:bodyPr wrap="square" rtlCol="0" anchor="ctr"/>
          <a:lstStyle/>
          <a:p>
            <a:pPr indent="0" marL="0">
              <a:buNone/>
            </a:pPr>
            <a:r>
              <a:rPr lang="en-US" sz="1500" b="1" dirty="0">
                <a:solidFill>
                  <a:srgbClr val="F8FAFC"/>
                </a:solidFill>
                <a:latin typeface="Arial" pitchFamily="34" charset="0"/>
                <a:ea typeface="Arial" pitchFamily="34" charset="-122"/>
                <a:cs typeface="Arial" pitchFamily="34" charset="-120"/>
              </a:rPr>
              <a:t>Critical Production Architecture Traps &amp; Hard Limits</a:t>
            </a:r>
            <a:endParaRPr lang="en-US" sz="1500" dirty="0"/>
          </a:p>
        </p:txBody>
      </p:sp>
      <p:sp>
        <p:nvSpPr>
          <p:cNvPr id="5" name="Shape 3"/>
          <p:cNvSpPr/>
          <p:nvPr/>
        </p:nvSpPr>
        <p:spPr>
          <a:xfrm>
            <a:off x="457200" y="859536"/>
            <a:ext cx="8229600" cy="0"/>
          </a:xfrm>
          <a:prstGeom prst="line">
            <a:avLst/>
          </a:prstGeom>
          <a:noFill/>
          <a:ln w="12700">
            <a:solidFill>
              <a:srgbClr val="1E293B"/>
            </a:solidFill>
            <a:prstDash val="solid"/>
          </a:ln>
        </p:spPr>
      </p:sp>
      <p:sp>
        <p:nvSpPr>
          <p:cNvPr id="6" name="Text 4"/>
          <p:cNvSpPr/>
          <p:nvPr/>
        </p:nvSpPr>
        <p:spPr>
          <a:xfrm>
            <a:off x="457200" y="4791456"/>
            <a:ext cx="6400800" cy="228600"/>
          </a:xfrm>
          <a:prstGeom prst="rect">
            <a:avLst/>
          </a:prstGeom>
          <a:noFill/>
          <a:ln/>
        </p:spPr>
        <p:txBody>
          <a:bodyPr wrap="square" rtlCol="0" anchor="ctr"/>
          <a:lstStyle/>
          <a:p>
            <a:pPr indent="0" marL="0">
              <a:buNone/>
            </a:pPr>
            <a:r>
              <a:rPr lang="en-US" sz="750" dirty="0">
                <a:solidFill>
                  <a:srgbClr val="94A3B8"/>
                </a:solidFill>
                <a:latin typeface="Arial" pitchFamily="34" charset="0"/>
                <a:ea typeface="Arial" pitchFamily="34" charset="-122"/>
                <a:cs typeface="Arial" pitchFamily="34" charset="-120"/>
              </a:rPr>
              <a:t>Salesforce Agentforce &amp; Data 360 Enablement  •  Day 1: Atlas Reasoning Engine &amp; ReAct Loop</a:t>
            </a:r>
            <a:endParaRPr lang="en-US" sz="750" dirty="0"/>
          </a:p>
        </p:txBody>
      </p:sp>
      <p:sp>
        <p:nvSpPr>
          <p:cNvPr id="7" name="Text 5"/>
          <p:cNvSpPr/>
          <p:nvPr/>
        </p:nvSpPr>
        <p:spPr>
          <a:xfrm>
            <a:off x="7315200" y="4791456"/>
            <a:ext cx="1371600" cy="228600"/>
          </a:xfrm>
          <a:prstGeom prst="rect">
            <a:avLst/>
          </a:prstGeom>
          <a:noFill/>
          <a:ln/>
        </p:spPr>
        <p:txBody>
          <a:bodyPr wrap="square" rtlCol="0" anchor="ctr"/>
          <a:lstStyle/>
          <a:p>
            <a:pPr algn="r" indent="0" marL="0">
              <a:buNone/>
            </a:pPr>
            <a:r>
              <a:rPr lang="en-US" sz="750" b="1" dirty="0">
                <a:solidFill>
                  <a:srgbClr val="00A1E0"/>
                </a:solidFill>
                <a:latin typeface="Arial" pitchFamily="34" charset="0"/>
                <a:ea typeface="Arial" pitchFamily="34" charset="-122"/>
                <a:cs typeface="Arial" pitchFamily="34" charset="-120"/>
              </a:rPr>
              <a:t>15 / 19</a:t>
            </a:r>
            <a:endParaRPr lang="en-US" sz="750" dirty="0"/>
          </a:p>
        </p:txBody>
      </p:sp>
      <p:sp>
        <p:nvSpPr>
          <p:cNvPr id="9" name="Shape 6"/>
          <p:cNvSpPr/>
          <p:nvPr/>
        </p:nvSpPr>
        <p:spPr>
          <a:xfrm>
            <a:off x="457200" y="1024128"/>
            <a:ext cx="3977640" cy="1691640"/>
          </a:xfrm>
          <a:prstGeom prst="roundRect">
            <a:avLst>
              <a:gd name="adj" fmla="val 4324"/>
            </a:avLst>
          </a:prstGeom>
          <a:solidFill>
            <a:srgbClr val="131B2E"/>
          </a:solidFill>
          <a:ln w="12700">
            <a:solidFill>
              <a:srgbClr val="F43F5E"/>
            </a:solidFill>
            <a:prstDash val="solid"/>
          </a:ln>
        </p:spPr>
      </p:sp>
      <p:sp>
        <p:nvSpPr>
          <p:cNvPr id="10" name="Shape 7"/>
          <p:cNvSpPr/>
          <p:nvPr/>
        </p:nvSpPr>
        <p:spPr>
          <a:xfrm>
            <a:off x="457200" y="1024128"/>
            <a:ext cx="3977640" cy="45720"/>
          </a:xfrm>
          <a:prstGeom prst="rect">
            <a:avLst/>
          </a:prstGeom>
          <a:solidFill>
            <a:srgbClr val="F43F5E"/>
          </a:solidFill>
          <a:ln w="12700">
            <a:solidFill>
              <a:srgbClr val="F43F5E"/>
            </a:solidFill>
            <a:prstDash val="solid"/>
          </a:ln>
        </p:spPr>
      </p:sp>
      <p:sp>
        <p:nvSpPr>
          <p:cNvPr id="11" name="Text 8"/>
          <p:cNvSpPr/>
          <p:nvPr/>
        </p:nvSpPr>
        <p:spPr>
          <a:xfrm>
            <a:off x="594360" y="1133856"/>
            <a:ext cx="3703320" cy="228600"/>
          </a:xfrm>
          <a:prstGeom prst="rect">
            <a:avLst/>
          </a:prstGeom>
          <a:noFill/>
          <a:ln/>
        </p:spPr>
        <p:txBody>
          <a:bodyPr wrap="square" rtlCol="0" anchor="ctr"/>
          <a:lstStyle/>
          <a:p>
            <a:pPr indent="0" marL="0">
              <a:buNone/>
            </a:pPr>
            <a:r>
              <a:rPr lang="en-US" sz="950" b="1" dirty="0">
                <a:solidFill>
                  <a:srgbClr val="F8FAFC"/>
                </a:solidFill>
                <a:latin typeface="Arial" pitchFamily="34" charset="0"/>
                <a:ea typeface="Arial" pitchFamily="34" charset="-122"/>
                <a:cs typeface="Arial" pitchFamily="34" charset="-120"/>
              </a:rPr>
              <a:t>Trap 1: The Monolithic Topic Anti-Pattern</a:t>
            </a:r>
            <a:endParaRPr lang="en-US" sz="950" dirty="0"/>
          </a:p>
        </p:txBody>
      </p:sp>
      <p:sp>
        <p:nvSpPr>
          <p:cNvPr id="12" name="Text 9"/>
          <p:cNvSpPr/>
          <p:nvPr/>
        </p:nvSpPr>
        <p:spPr>
          <a:xfrm>
            <a:off x="594360" y="1389888"/>
            <a:ext cx="3703320" cy="548640"/>
          </a:xfrm>
          <a:prstGeom prst="rect">
            <a:avLst/>
          </a:prstGeom>
          <a:noFill/>
          <a:ln/>
        </p:spPr>
        <p:txBody>
          <a:bodyPr wrap="square" rtlCol="0" anchor="ctr"/>
          <a:lstStyle/>
          <a:p>
            <a:pPr indent="0" marL="0">
              <a:lnSpc>
                <a:spcPts val="1100"/>
              </a:lnSpc>
              <a:buNone/>
            </a:pPr>
            <a:r>
              <a:rPr lang="en-US" sz="750" dirty="0">
                <a:solidFill>
                  <a:srgbClr val="FDA4AF"/>
                </a:solidFill>
                <a:latin typeface="Arial" pitchFamily="34" charset="0"/>
                <a:ea typeface="Arial" pitchFamily="34" charset="-122"/>
                <a:cs typeface="Arial" pitchFamily="34" charset="-120"/>
              </a:rPr>
              <a:t>❌ Pitfall: Stuffing 25+ Actions into a single generic Topic. Causes LLM choice paralysis, tool misfires, and high response latency.</a:t>
            </a:r>
            <a:endParaRPr lang="en-US" sz="750" dirty="0"/>
          </a:p>
        </p:txBody>
      </p:sp>
      <p:sp>
        <p:nvSpPr>
          <p:cNvPr id="13" name="Shape 10"/>
          <p:cNvSpPr/>
          <p:nvPr/>
        </p:nvSpPr>
        <p:spPr>
          <a:xfrm>
            <a:off x="594360" y="1984248"/>
            <a:ext cx="3703320" cy="594360"/>
          </a:xfrm>
          <a:prstGeom prst="roundRect">
            <a:avLst>
              <a:gd name="adj" fmla="val 7692"/>
            </a:avLst>
          </a:prstGeom>
          <a:solidFill>
            <a:srgbClr val="0D1527"/>
          </a:solidFill>
          <a:ln w="10160">
            <a:solidFill>
              <a:srgbClr val="233354"/>
            </a:solidFill>
            <a:prstDash val="solid"/>
          </a:ln>
        </p:spPr>
      </p:sp>
      <p:sp>
        <p:nvSpPr>
          <p:cNvPr id="14" name="Text 11"/>
          <p:cNvSpPr/>
          <p:nvPr/>
        </p:nvSpPr>
        <p:spPr>
          <a:xfrm>
            <a:off x="685800" y="2029968"/>
            <a:ext cx="3520440" cy="502920"/>
          </a:xfrm>
          <a:prstGeom prst="rect">
            <a:avLst/>
          </a:prstGeom>
          <a:noFill/>
          <a:ln/>
        </p:spPr>
        <p:txBody>
          <a:bodyPr wrap="square" rtlCol="0" anchor="ctr"/>
          <a:lstStyle/>
          <a:p>
            <a:pPr indent="0" marL="0">
              <a:lnSpc>
                <a:spcPts val="1100"/>
              </a:lnSpc>
              <a:buNone/>
            </a:pPr>
            <a:r>
              <a:rPr lang="en-US" sz="750" b="1" dirty="0">
                <a:solidFill>
                  <a:srgbClr val="CBD5E1"/>
                </a:solidFill>
                <a:latin typeface="Arial" pitchFamily="34" charset="0"/>
                <a:ea typeface="Arial" pitchFamily="34" charset="-122"/>
                <a:cs typeface="Arial" pitchFamily="34" charset="-120"/>
              </a:rPr>
              <a:t>✅ Solution: Decompose into 3-7 sharply scoped micro-topics (e.g. "Case Inquiries", "Refund Escalations") with clear boundaries.</a:t>
            </a:r>
            <a:endParaRPr lang="en-US" sz="750" dirty="0"/>
          </a:p>
        </p:txBody>
      </p:sp>
      <p:sp>
        <p:nvSpPr>
          <p:cNvPr id="15" name="Shape 12"/>
          <p:cNvSpPr/>
          <p:nvPr/>
        </p:nvSpPr>
        <p:spPr>
          <a:xfrm>
            <a:off x="4709160" y="1024128"/>
            <a:ext cx="3977640" cy="1691640"/>
          </a:xfrm>
          <a:prstGeom prst="roundRect">
            <a:avLst>
              <a:gd name="adj" fmla="val 4324"/>
            </a:avLst>
          </a:prstGeom>
          <a:solidFill>
            <a:srgbClr val="131B2E"/>
          </a:solidFill>
          <a:ln w="12700">
            <a:solidFill>
              <a:srgbClr val="F59E0B"/>
            </a:solidFill>
            <a:prstDash val="solid"/>
          </a:ln>
        </p:spPr>
      </p:sp>
      <p:sp>
        <p:nvSpPr>
          <p:cNvPr id="16" name="Shape 13"/>
          <p:cNvSpPr/>
          <p:nvPr/>
        </p:nvSpPr>
        <p:spPr>
          <a:xfrm>
            <a:off x="4709160" y="1024128"/>
            <a:ext cx="3977640" cy="45720"/>
          </a:xfrm>
          <a:prstGeom prst="rect">
            <a:avLst/>
          </a:prstGeom>
          <a:solidFill>
            <a:srgbClr val="F59E0B"/>
          </a:solidFill>
          <a:ln w="12700">
            <a:solidFill>
              <a:srgbClr val="F59E0B"/>
            </a:solidFill>
            <a:prstDash val="solid"/>
          </a:ln>
        </p:spPr>
      </p:sp>
      <p:sp>
        <p:nvSpPr>
          <p:cNvPr id="17" name="Text 14"/>
          <p:cNvSpPr/>
          <p:nvPr/>
        </p:nvSpPr>
        <p:spPr>
          <a:xfrm>
            <a:off x="4846320" y="1133856"/>
            <a:ext cx="3703320" cy="228600"/>
          </a:xfrm>
          <a:prstGeom prst="rect">
            <a:avLst/>
          </a:prstGeom>
          <a:noFill/>
          <a:ln/>
        </p:spPr>
        <p:txBody>
          <a:bodyPr wrap="square" rtlCol="0" anchor="ctr"/>
          <a:lstStyle/>
          <a:p>
            <a:pPr indent="0" marL="0">
              <a:buNone/>
            </a:pPr>
            <a:r>
              <a:rPr lang="en-US" sz="950" b="1" dirty="0">
                <a:solidFill>
                  <a:srgbClr val="F8FAFC"/>
                </a:solidFill>
                <a:latin typeface="Arial" pitchFamily="34" charset="0"/>
                <a:ea typeface="Arial" pitchFamily="34" charset="-122"/>
                <a:cs typeface="Arial" pitchFamily="34" charset="-120"/>
              </a:rPr>
              <a:t>Trap 2: Vague Action Descriptions</a:t>
            </a:r>
            <a:endParaRPr lang="en-US" sz="950" dirty="0"/>
          </a:p>
        </p:txBody>
      </p:sp>
      <p:sp>
        <p:nvSpPr>
          <p:cNvPr id="18" name="Text 15"/>
          <p:cNvSpPr/>
          <p:nvPr/>
        </p:nvSpPr>
        <p:spPr>
          <a:xfrm>
            <a:off x="4846320" y="1389888"/>
            <a:ext cx="3703320" cy="548640"/>
          </a:xfrm>
          <a:prstGeom prst="rect">
            <a:avLst/>
          </a:prstGeom>
          <a:noFill/>
          <a:ln/>
        </p:spPr>
        <p:txBody>
          <a:bodyPr wrap="square" rtlCol="0" anchor="ctr"/>
          <a:lstStyle/>
          <a:p>
            <a:pPr indent="0" marL="0">
              <a:lnSpc>
                <a:spcPts val="1100"/>
              </a:lnSpc>
              <a:buNone/>
            </a:pPr>
            <a:r>
              <a:rPr lang="en-US" sz="750" dirty="0">
                <a:solidFill>
                  <a:srgbClr val="FDA4AF"/>
                </a:solidFill>
                <a:latin typeface="Arial" pitchFamily="34" charset="0"/>
                <a:ea typeface="Arial" pitchFamily="34" charset="-122"/>
                <a:cs typeface="Arial" pitchFamily="34" charset="-120"/>
              </a:rPr>
              <a:t>❌ Pitfall: Naming an Action "ProcessCase" with description "Processes cases". Atlas cannot decipher when or why to invoke it.</a:t>
            </a:r>
            <a:endParaRPr lang="en-US" sz="750" dirty="0"/>
          </a:p>
        </p:txBody>
      </p:sp>
      <p:sp>
        <p:nvSpPr>
          <p:cNvPr id="19" name="Shape 16"/>
          <p:cNvSpPr/>
          <p:nvPr/>
        </p:nvSpPr>
        <p:spPr>
          <a:xfrm>
            <a:off x="4846320" y="1984248"/>
            <a:ext cx="3703320" cy="594360"/>
          </a:xfrm>
          <a:prstGeom prst="roundRect">
            <a:avLst>
              <a:gd name="adj" fmla="val 7692"/>
            </a:avLst>
          </a:prstGeom>
          <a:solidFill>
            <a:srgbClr val="0D1527"/>
          </a:solidFill>
          <a:ln w="10160">
            <a:solidFill>
              <a:srgbClr val="233354"/>
            </a:solidFill>
            <a:prstDash val="solid"/>
          </a:ln>
        </p:spPr>
      </p:sp>
      <p:sp>
        <p:nvSpPr>
          <p:cNvPr id="20" name="Text 17"/>
          <p:cNvSpPr/>
          <p:nvPr/>
        </p:nvSpPr>
        <p:spPr>
          <a:xfrm>
            <a:off x="4937760" y="2029968"/>
            <a:ext cx="3520440" cy="502920"/>
          </a:xfrm>
          <a:prstGeom prst="rect">
            <a:avLst/>
          </a:prstGeom>
          <a:noFill/>
          <a:ln/>
        </p:spPr>
        <p:txBody>
          <a:bodyPr wrap="square" rtlCol="0" anchor="ctr"/>
          <a:lstStyle/>
          <a:p>
            <a:pPr indent="0" marL="0">
              <a:lnSpc>
                <a:spcPts val="1100"/>
              </a:lnSpc>
              <a:buNone/>
            </a:pPr>
            <a:r>
              <a:rPr lang="en-US" sz="750" b="1" dirty="0">
                <a:solidFill>
                  <a:srgbClr val="CBD5E1"/>
                </a:solidFill>
                <a:latin typeface="Arial" pitchFamily="34" charset="0"/>
                <a:ea typeface="Arial" pitchFamily="34" charset="-122"/>
                <a:cs typeface="Arial" pitchFamily="34" charset="-120"/>
              </a:rPr>
              <a:t>✅ Solution: Use semantic descriptions: "Invoked when user provides an existing 8-digit case number to query status and priority."</a:t>
            </a:r>
            <a:endParaRPr lang="en-US" sz="750" dirty="0"/>
          </a:p>
        </p:txBody>
      </p:sp>
      <p:sp>
        <p:nvSpPr>
          <p:cNvPr id="21" name="Shape 18"/>
          <p:cNvSpPr/>
          <p:nvPr/>
        </p:nvSpPr>
        <p:spPr>
          <a:xfrm>
            <a:off x="457200" y="2834640"/>
            <a:ext cx="3977640" cy="1691640"/>
          </a:xfrm>
          <a:prstGeom prst="roundRect">
            <a:avLst>
              <a:gd name="adj" fmla="val 4324"/>
            </a:avLst>
          </a:prstGeom>
          <a:solidFill>
            <a:srgbClr val="131B2E"/>
          </a:solidFill>
          <a:ln w="12700">
            <a:solidFill>
              <a:srgbClr val="8B5CF6"/>
            </a:solidFill>
            <a:prstDash val="solid"/>
          </a:ln>
        </p:spPr>
      </p:sp>
      <p:sp>
        <p:nvSpPr>
          <p:cNvPr id="22" name="Shape 19"/>
          <p:cNvSpPr/>
          <p:nvPr/>
        </p:nvSpPr>
        <p:spPr>
          <a:xfrm>
            <a:off x="457200" y="2834640"/>
            <a:ext cx="3977640" cy="45720"/>
          </a:xfrm>
          <a:prstGeom prst="rect">
            <a:avLst/>
          </a:prstGeom>
          <a:solidFill>
            <a:srgbClr val="8B5CF6"/>
          </a:solidFill>
          <a:ln w="12700">
            <a:solidFill>
              <a:srgbClr val="8B5CF6"/>
            </a:solidFill>
            <a:prstDash val="solid"/>
          </a:ln>
        </p:spPr>
      </p:sp>
      <p:sp>
        <p:nvSpPr>
          <p:cNvPr id="23" name="Text 20"/>
          <p:cNvSpPr/>
          <p:nvPr/>
        </p:nvSpPr>
        <p:spPr>
          <a:xfrm>
            <a:off x="594360" y="2944368"/>
            <a:ext cx="3703320" cy="228600"/>
          </a:xfrm>
          <a:prstGeom prst="rect">
            <a:avLst/>
          </a:prstGeom>
          <a:noFill/>
          <a:ln/>
        </p:spPr>
        <p:txBody>
          <a:bodyPr wrap="square" rtlCol="0" anchor="ctr"/>
          <a:lstStyle/>
          <a:p>
            <a:pPr indent="0" marL="0">
              <a:buNone/>
            </a:pPr>
            <a:r>
              <a:rPr lang="en-US" sz="950" b="1" dirty="0">
                <a:solidFill>
                  <a:srgbClr val="F8FAFC"/>
                </a:solidFill>
                <a:latin typeface="Arial" pitchFamily="34" charset="0"/>
                <a:ea typeface="Arial" pitchFamily="34" charset="-122"/>
                <a:cs typeface="Arial" pitchFamily="34" charset="-120"/>
              </a:rPr>
              <a:t>Trap 3: Unbounded ReAct Execution Loops</a:t>
            </a:r>
            <a:endParaRPr lang="en-US" sz="950" dirty="0"/>
          </a:p>
        </p:txBody>
      </p:sp>
      <p:sp>
        <p:nvSpPr>
          <p:cNvPr id="24" name="Text 21"/>
          <p:cNvSpPr/>
          <p:nvPr/>
        </p:nvSpPr>
        <p:spPr>
          <a:xfrm>
            <a:off x="594360" y="3200400"/>
            <a:ext cx="3703320" cy="548640"/>
          </a:xfrm>
          <a:prstGeom prst="rect">
            <a:avLst/>
          </a:prstGeom>
          <a:noFill/>
          <a:ln/>
        </p:spPr>
        <p:txBody>
          <a:bodyPr wrap="square" rtlCol="0" anchor="ctr"/>
          <a:lstStyle/>
          <a:p>
            <a:pPr indent="0" marL="0">
              <a:lnSpc>
                <a:spcPts val="1100"/>
              </a:lnSpc>
              <a:buNone/>
            </a:pPr>
            <a:r>
              <a:rPr lang="en-US" sz="750" dirty="0">
                <a:solidFill>
                  <a:srgbClr val="FDA4AF"/>
                </a:solidFill>
                <a:latin typeface="Arial" pitchFamily="34" charset="0"/>
                <a:ea typeface="Arial" pitchFamily="34" charset="-122"/>
                <a:cs typeface="Arial" pitchFamily="34" charset="-120"/>
              </a:rPr>
              <a:t>❌ Pitfall: Action fails to satisfy goal, causing Atlas to repeatedly call the same action in an infinite loop, exhausting API limits.</a:t>
            </a:r>
            <a:endParaRPr lang="en-US" sz="750" dirty="0"/>
          </a:p>
        </p:txBody>
      </p:sp>
      <p:sp>
        <p:nvSpPr>
          <p:cNvPr id="25" name="Shape 22"/>
          <p:cNvSpPr/>
          <p:nvPr/>
        </p:nvSpPr>
        <p:spPr>
          <a:xfrm>
            <a:off x="594360" y="3794760"/>
            <a:ext cx="3703320" cy="594360"/>
          </a:xfrm>
          <a:prstGeom prst="roundRect">
            <a:avLst>
              <a:gd name="adj" fmla="val 7692"/>
            </a:avLst>
          </a:prstGeom>
          <a:solidFill>
            <a:srgbClr val="0D1527"/>
          </a:solidFill>
          <a:ln w="10160">
            <a:solidFill>
              <a:srgbClr val="233354"/>
            </a:solidFill>
            <a:prstDash val="solid"/>
          </a:ln>
        </p:spPr>
      </p:sp>
      <p:sp>
        <p:nvSpPr>
          <p:cNvPr id="26" name="Text 23"/>
          <p:cNvSpPr/>
          <p:nvPr/>
        </p:nvSpPr>
        <p:spPr>
          <a:xfrm>
            <a:off x="685800" y="3840480"/>
            <a:ext cx="3520440" cy="502920"/>
          </a:xfrm>
          <a:prstGeom prst="rect">
            <a:avLst/>
          </a:prstGeom>
          <a:noFill/>
          <a:ln/>
        </p:spPr>
        <p:txBody>
          <a:bodyPr wrap="square" rtlCol="0" anchor="ctr"/>
          <a:lstStyle/>
          <a:p>
            <a:pPr indent="0" marL="0">
              <a:lnSpc>
                <a:spcPts val="1100"/>
              </a:lnSpc>
              <a:buNone/>
            </a:pPr>
            <a:r>
              <a:rPr lang="en-US" sz="750" b="1" dirty="0">
                <a:solidFill>
                  <a:srgbClr val="CBD5E1"/>
                </a:solidFill>
                <a:latin typeface="Arial" pitchFamily="34" charset="0"/>
                <a:ea typeface="Arial" pitchFamily="34" charset="-122"/>
                <a:cs typeface="Arial" pitchFamily="34" charset="-120"/>
              </a:rPr>
              <a:t>✅ Solution: Define explicit exit criteria: "If the case number is not found after 1 search, inform user and do not retry."</a:t>
            </a:r>
            <a:endParaRPr lang="en-US" sz="750" dirty="0"/>
          </a:p>
        </p:txBody>
      </p:sp>
      <p:sp>
        <p:nvSpPr>
          <p:cNvPr id="27" name="Shape 24"/>
          <p:cNvSpPr/>
          <p:nvPr/>
        </p:nvSpPr>
        <p:spPr>
          <a:xfrm>
            <a:off x="4709160" y="2834640"/>
            <a:ext cx="3977640" cy="1691640"/>
          </a:xfrm>
          <a:prstGeom prst="roundRect">
            <a:avLst>
              <a:gd name="adj" fmla="val 4324"/>
            </a:avLst>
          </a:prstGeom>
          <a:solidFill>
            <a:srgbClr val="131B2E"/>
          </a:solidFill>
          <a:ln w="12700">
            <a:solidFill>
              <a:srgbClr val="00A1E0"/>
            </a:solidFill>
            <a:prstDash val="solid"/>
          </a:ln>
        </p:spPr>
      </p:sp>
      <p:sp>
        <p:nvSpPr>
          <p:cNvPr id="28" name="Shape 25"/>
          <p:cNvSpPr/>
          <p:nvPr/>
        </p:nvSpPr>
        <p:spPr>
          <a:xfrm>
            <a:off x="4709160" y="2834640"/>
            <a:ext cx="3977640" cy="45720"/>
          </a:xfrm>
          <a:prstGeom prst="rect">
            <a:avLst/>
          </a:prstGeom>
          <a:solidFill>
            <a:srgbClr val="00A1E0"/>
          </a:solidFill>
          <a:ln w="12700">
            <a:solidFill>
              <a:srgbClr val="00A1E0"/>
            </a:solidFill>
            <a:prstDash val="solid"/>
          </a:ln>
        </p:spPr>
      </p:sp>
      <p:sp>
        <p:nvSpPr>
          <p:cNvPr id="29" name="Text 26"/>
          <p:cNvSpPr/>
          <p:nvPr/>
        </p:nvSpPr>
        <p:spPr>
          <a:xfrm>
            <a:off x="4846320" y="2944368"/>
            <a:ext cx="3703320" cy="228600"/>
          </a:xfrm>
          <a:prstGeom prst="rect">
            <a:avLst/>
          </a:prstGeom>
          <a:noFill/>
          <a:ln/>
        </p:spPr>
        <p:txBody>
          <a:bodyPr wrap="square" rtlCol="0" anchor="ctr"/>
          <a:lstStyle/>
          <a:p>
            <a:pPr indent="0" marL="0">
              <a:buNone/>
            </a:pPr>
            <a:r>
              <a:rPr lang="en-US" sz="950" b="1" dirty="0">
                <a:solidFill>
                  <a:srgbClr val="F8FAFC"/>
                </a:solidFill>
                <a:latin typeface="Arial" pitchFamily="34" charset="0"/>
                <a:ea typeface="Arial" pitchFamily="34" charset="-122"/>
                <a:cs typeface="Arial" pitchFamily="34" charset="-120"/>
              </a:rPr>
              <a:t>Trap 4: Context Pollution &amp; PII Leakage</a:t>
            </a:r>
            <a:endParaRPr lang="en-US" sz="950" dirty="0"/>
          </a:p>
        </p:txBody>
      </p:sp>
      <p:sp>
        <p:nvSpPr>
          <p:cNvPr id="30" name="Text 27"/>
          <p:cNvSpPr/>
          <p:nvPr/>
        </p:nvSpPr>
        <p:spPr>
          <a:xfrm>
            <a:off x="4846320" y="3200400"/>
            <a:ext cx="3703320" cy="548640"/>
          </a:xfrm>
          <a:prstGeom prst="rect">
            <a:avLst/>
          </a:prstGeom>
          <a:noFill/>
          <a:ln/>
        </p:spPr>
        <p:txBody>
          <a:bodyPr wrap="square" rtlCol="0" anchor="ctr"/>
          <a:lstStyle/>
          <a:p>
            <a:pPr indent="0" marL="0">
              <a:lnSpc>
                <a:spcPts val="1100"/>
              </a:lnSpc>
              <a:buNone/>
            </a:pPr>
            <a:r>
              <a:rPr lang="en-US" sz="750" dirty="0">
                <a:solidFill>
                  <a:srgbClr val="FDA4AF"/>
                </a:solidFill>
                <a:latin typeface="Arial" pitchFamily="34" charset="0"/>
                <a:ea typeface="Arial" pitchFamily="34" charset="-122"/>
                <a:cs typeface="Arial" pitchFamily="34" charset="-120"/>
              </a:rPr>
              <a:t>❌ Pitfall: Returning raw Salesforce record objects containing sensitive internal fields, bypassing Field-Level Security (FLS).</a:t>
            </a:r>
            <a:endParaRPr lang="en-US" sz="750" dirty="0"/>
          </a:p>
        </p:txBody>
      </p:sp>
      <p:sp>
        <p:nvSpPr>
          <p:cNvPr id="31" name="Shape 28"/>
          <p:cNvSpPr/>
          <p:nvPr/>
        </p:nvSpPr>
        <p:spPr>
          <a:xfrm>
            <a:off x="4846320" y="3794760"/>
            <a:ext cx="3703320" cy="594360"/>
          </a:xfrm>
          <a:prstGeom prst="roundRect">
            <a:avLst>
              <a:gd name="adj" fmla="val 7692"/>
            </a:avLst>
          </a:prstGeom>
          <a:solidFill>
            <a:srgbClr val="0D1527"/>
          </a:solidFill>
          <a:ln w="10160">
            <a:solidFill>
              <a:srgbClr val="233354"/>
            </a:solidFill>
            <a:prstDash val="solid"/>
          </a:ln>
        </p:spPr>
      </p:sp>
      <p:sp>
        <p:nvSpPr>
          <p:cNvPr id="32" name="Text 29"/>
          <p:cNvSpPr/>
          <p:nvPr/>
        </p:nvSpPr>
        <p:spPr>
          <a:xfrm>
            <a:off x="4937760" y="3840480"/>
            <a:ext cx="3520440" cy="502920"/>
          </a:xfrm>
          <a:prstGeom prst="rect">
            <a:avLst/>
          </a:prstGeom>
          <a:noFill/>
          <a:ln/>
        </p:spPr>
        <p:txBody>
          <a:bodyPr wrap="square" rtlCol="0" anchor="ctr"/>
          <a:lstStyle/>
          <a:p>
            <a:pPr indent="0" marL="0">
              <a:lnSpc>
                <a:spcPts val="1100"/>
              </a:lnSpc>
              <a:buNone/>
            </a:pPr>
            <a:r>
              <a:rPr lang="en-US" sz="750" b="1" dirty="0">
                <a:solidFill>
                  <a:srgbClr val="CBD5E1"/>
                </a:solidFill>
                <a:latin typeface="Arial" pitchFamily="34" charset="0"/>
                <a:ea typeface="Arial" pitchFamily="34" charset="-122"/>
                <a:cs typeface="Arial" pitchFamily="34" charset="-120"/>
              </a:rPr>
              <a:t>✅ Solution: Enforce strict output DTOs in Flows and Apex. Rely on Einstein Trust Layer dynamic masking to sanitize tokens.</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457200" y="256032"/>
            <a:ext cx="1097280" cy="27432"/>
          </a:xfrm>
          <a:prstGeom prst="rect">
            <a:avLst/>
          </a:prstGeom>
          <a:solidFill>
            <a:srgbClr val="00A1E0"/>
          </a:solidFill>
          <a:ln w="12700">
            <a:solidFill>
              <a:srgbClr val="00A1E0"/>
            </a:solidFill>
            <a:prstDash val="solid"/>
          </a:ln>
        </p:spPr>
      </p:sp>
      <p:sp>
        <p:nvSpPr>
          <p:cNvPr id="3" name="Text 1"/>
          <p:cNvSpPr/>
          <p:nvPr/>
        </p:nvSpPr>
        <p:spPr>
          <a:xfrm>
            <a:off x="457200" y="320040"/>
            <a:ext cx="8229600" cy="164592"/>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INTERACTIVE WORKSHOP</a:t>
            </a:r>
            <a:endParaRPr lang="en-US" sz="800" dirty="0"/>
          </a:p>
        </p:txBody>
      </p:sp>
      <p:sp>
        <p:nvSpPr>
          <p:cNvPr id="4" name="Text 2"/>
          <p:cNvSpPr/>
          <p:nvPr/>
        </p:nvSpPr>
        <p:spPr>
          <a:xfrm>
            <a:off x="457200" y="493776"/>
            <a:ext cx="8229600" cy="320040"/>
          </a:xfrm>
          <a:prstGeom prst="rect">
            <a:avLst/>
          </a:prstGeom>
          <a:noFill/>
          <a:ln/>
        </p:spPr>
        <p:txBody>
          <a:bodyPr wrap="square" rtlCol="0" anchor="ctr"/>
          <a:lstStyle/>
          <a:p>
            <a:pPr indent="0" marL="0">
              <a:buNone/>
            </a:pPr>
            <a:r>
              <a:rPr lang="en-US" sz="1500" b="1" dirty="0">
                <a:solidFill>
                  <a:srgbClr val="F8FAFC"/>
                </a:solidFill>
                <a:latin typeface="Arial" pitchFamily="34" charset="0"/>
                <a:ea typeface="Arial" pitchFamily="34" charset="-122"/>
                <a:cs typeface="Arial" pitchFamily="34" charset="-120"/>
              </a:rPr>
              <a:t>Hands-On Lab: First Contact with Agentforce Builder</a:t>
            </a:r>
            <a:endParaRPr lang="en-US" sz="1500" dirty="0"/>
          </a:p>
        </p:txBody>
      </p:sp>
      <p:sp>
        <p:nvSpPr>
          <p:cNvPr id="5" name="Shape 3"/>
          <p:cNvSpPr/>
          <p:nvPr/>
        </p:nvSpPr>
        <p:spPr>
          <a:xfrm>
            <a:off x="457200" y="859536"/>
            <a:ext cx="8229600" cy="0"/>
          </a:xfrm>
          <a:prstGeom prst="line">
            <a:avLst/>
          </a:prstGeom>
          <a:noFill/>
          <a:ln w="12700">
            <a:solidFill>
              <a:srgbClr val="1E293B"/>
            </a:solidFill>
            <a:prstDash val="solid"/>
          </a:ln>
        </p:spPr>
      </p:sp>
      <p:sp>
        <p:nvSpPr>
          <p:cNvPr id="6" name="Text 4"/>
          <p:cNvSpPr/>
          <p:nvPr/>
        </p:nvSpPr>
        <p:spPr>
          <a:xfrm>
            <a:off x="457200" y="4791456"/>
            <a:ext cx="6400800" cy="228600"/>
          </a:xfrm>
          <a:prstGeom prst="rect">
            <a:avLst/>
          </a:prstGeom>
          <a:noFill/>
          <a:ln/>
        </p:spPr>
        <p:txBody>
          <a:bodyPr wrap="square" rtlCol="0" anchor="ctr"/>
          <a:lstStyle/>
          <a:p>
            <a:pPr indent="0" marL="0">
              <a:buNone/>
            </a:pPr>
            <a:r>
              <a:rPr lang="en-US" sz="750" dirty="0">
                <a:solidFill>
                  <a:srgbClr val="94A3B8"/>
                </a:solidFill>
                <a:latin typeface="Arial" pitchFamily="34" charset="0"/>
                <a:ea typeface="Arial" pitchFamily="34" charset="-122"/>
                <a:cs typeface="Arial" pitchFamily="34" charset="-120"/>
              </a:rPr>
              <a:t>Salesforce Agentforce &amp; Data 360 Enablement  •  Day 1: Atlas Reasoning Engine &amp; ReAct Loop</a:t>
            </a:r>
            <a:endParaRPr lang="en-US" sz="750" dirty="0"/>
          </a:p>
        </p:txBody>
      </p:sp>
      <p:sp>
        <p:nvSpPr>
          <p:cNvPr id="7" name="Text 5"/>
          <p:cNvSpPr/>
          <p:nvPr/>
        </p:nvSpPr>
        <p:spPr>
          <a:xfrm>
            <a:off x="7315200" y="4791456"/>
            <a:ext cx="1371600" cy="228600"/>
          </a:xfrm>
          <a:prstGeom prst="rect">
            <a:avLst/>
          </a:prstGeom>
          <a:noFill/>
          <a:ln/>
        </p:spPr>
        <p:txBody>
          <a:bodyPr wrap="square" rtlCol="0" anchor="ctr"/>
          <a:lstStyle/>
          <a:p>
            <a:pPr algn="r" indent="0" marL="0">
              <a:buNone/>
            </a:pPr>
            <a:r>
              <a:rPr lang="en-US" sz="750" b="1" dirty="0">
                <a:solidFill>
                  <a:srgbClr val="00A1E0"/>
                </a:solidFill>
                <a:latin typeface="Arial" pitchFamily="34" charset="0"/>
                <a:ea typeface="Arial" pitchFamily="34" charset="-122"/>
                <a:cs typeface="Arial" pitchFamily="34" charset="-120"/>
              </a:rPr>
              <a:t>16 / 19</a:t>
            </a:r>
            <a:endParaRPr lang="en-US" sz="750" dirty="0"/>
          </a:p>
        </p:txBody>
      </p:sp>
      <p:sp>
        <p:nvSpPr>
          <p:cNvPr id="9" name="Shape 6"/>
          <p:cNvSpPr/>
          <p:nvPr/>
        </p:nvSpPr>
        <p:spPr>
          <a:xfrm>
            <a:off x="457200" y="1024128"/>
            <a:ext cx="8229600" cy="502920"/>
          </a:xfrm>
          <a:prstGeom prst="roundRect">
            <a:avLst>
              <a:gd name="adj" fmla="val 10909"/>
            </a:avLst>
          </a:prstGeom>
          <a:solidFill>
            <a:srgbClr val="162238"/>
          </a:solidFill>
          <a:ln w="12700">
            <a:solidFill>
              <a:srgbClr val="00A1E0"/>
            </a:solidFill>
            <a:prstDash val="solid"/>
          </a:ln>
        </p:spPr>
      </p:sp>
      <p:sp>
        <p:nvSpPr>
          <p:cNvPr id="10" name="Text 7"/>
          <p:cNvSpPr/>
          <p:nvPr/>
        </p:nvSpPr>
        <p:spPr>
          <a:xfrm>
            <a:off x="640080" y="1078992"/>
            <a:ext cx="7863840" cy="411480"/>
          </a:xfrm>
          <a:prstGeom prst="rect">
            <a:avLst/>
          </a:prstGeom>
          <a:noFill/>
          <a:ln/>
        </p:spPr>
        <p:txBody>
          <a:bodyPr wrap="square" rtlCol="0" anchor="ctr"/>
          <a:lstStyle/>
          <a:p>
            <a:pPr indent="0" marL="0">
              <a:lnSpc>
                <a:spcPts val="1200"/>
              </a:lnSpc>
              <a:buNone/>
            </a:pPr>
            <a:r>
              <a:rPr lang="en-US" sz="850" b="1" dirty="0">
                <a:solidFill>
                  <a:srgbClr val="F8FAFC"/>
                </a:solidFill>
                <a:latin typeface="Arial" pitchFamily="34" charset="0"/>
                <a:ea typeface="Arial" pitchFamily="34" charset="-122"/>
                <a:cs typeface="Arial" pitchFamily="34" charset="-120"/>
              </a:rPr>
              <a:t>LAB OBJECTIVE: Build, configure, and verify your first autonomous Agent in Agentforce Studio within 30 minutes, handling case queries via dynamic ReAct execution without a single hardcoded decision tree.</a:t>
            </a:r>
            <a:endParaRPr lang="en-US" sz="850" dirty="0"/>
          </a:p>
        </p:txBody>
      </p:sp>
      <p:sp>
        <p:nvSpPr>
          <p:cNvPr id="11" name="Shape 8"/>
          <p:cNvSpPr/>
          <p:nvPr/>
        </p:nvSpPr>
        <p:spPr>
          <a:xfrm>
            <a:off x="457200" y="1664208"/>
            <a:ext cx="1920240" cy="2926080"/>
          </a:xfrm>
          <a:prstGeom prst="roundRect">
            <a:avLst>
              <a:gd name="adj" fmla="val 3810"/>
            </a:avLst>
          </a:prstGeom>
          <a:solidFill>
            <a:srgbClr val="131B2E"/>
          </a:solidFill>
          <a:ln w="12700">
            <a:solidFill>
              <a:srgbClr val="00A1E0"/>
            </a:solidFill>
            <a:prstDash val="solid"/>
          </a:ln>
        </p:spPr>
      </p:sp>
      <p:sp>
        <p:nvSpPr>
          <p:cNvPr id="12" name="Shape 9"/>
          <p:cNvSpPr/>
          <p:nvPr/>
        </p:nvSpPr>
        <p:spPr>
          <a:xfrm>
            <a:off x="457200" y="1664208"/>
            <a:ext cx="1920240" cy="45720"/>
          </a:xfrm>
          <a:prstGeom prst="rect">
            <a:avLst/>
          </a:prstGeom>
          <a:solidFill>
            <a:srgbClr val="00A1E0"/>
          </a:solidFill>
          <a:ln w="12700">
            <a:solidFill>
              <a:srgbClr val="00A1E0"/>
            </a:solidFill>
            <a:prstDash val="solid"/>
          </a:ln>
        </p:spPr>
      </p:sp>
      <p:sp>
        <p:nvSpPr>
          <p:cNvPr id="13" name="Text 10"/>
          <p:cNvSpPr/>
          <p:nvPr/>
        </p:nvSpPr>
        <p:spPr>
          <a:xfrm>
            <a:off x="566928" y="1783080"/>
            <a:ext cx="1700784" cy="182880"/>
          </a:xfrm>
          <a:prstGeom prst="rect">
            <a:avLst/>
          </a:prstGeom>
          <a:noFill/>
          <a:ln/>
        </p:spPr>
        <p:txBody>
          <a:bodyPr wrap="square" rtlCol="0" anchor="ctr"/>
          <a:lstStyle/>
          <a:p>
            <a:pPr indent="0" marL="0">
              <a:buNone/>
            </a:pPr>
            <a:r>
              <a:rPr lang="en-US" sz="750" b="1" dirty="0">
                <a:solidFill>
                  <a:srgbClr val="00A1E0"/>
                </a:solidFill>
                <a:latin typeface="Arial" pitchFamily="34" charset="0"/>
                <a:ea typeface="Arial" pitchFamily="34" charset="-122"/>
                <a:cs typeface="Arial" pitchFamily="34" charset="-120"/>
              </a:rPr>
              <a:t>PHASE 1</a:t>
            </a:r>
            <a:endParaRPr lang="en-US" sz="750" dirty="0"/>
          </a:p>
        </p:txBody>
      </p:sp>
      <p:sp>
        <p:nvSpPr>
          <p:cNvPr id="14" name="Text 11"/>
          <p:cNvSpPr/>
          <p:nvPr/>
        </p:nvSpPr>
        <p:spPr>
          <a:xfrm>
            <a:off x="566928" y="1965960"/>
            <a:ext cx="1700784" cy="228600"/>
          </a:xfrm>
          <a:prstGeom prst="rect">
            <a:avLst/>
          </a:prstGeom>
          <a:noFill/>
          <a:ln/>
        </p:spPr>
        <p:txBody>
          <a:bodyPr wrap="square" rtlCol="0" anchor="ctr"/>
          <a:lstStyle/>
          <a:p>
            <a:pPr indent="0" marL="0">
              <a:buNone/>
            </a:pPr>
            <a:r>
              <a:rPr lang="en-US" sz="1000" b="1" dirty="0">
                <a:solidFill>
                  <a:srgbClr val="F8FAFC"/>
                </a:solidFill>
                <a:latin typeface="Arial" pitchFamily="34" charset="0"/>
                <a:ea typeface="Arial" pitchFamily="34" charset="-122"/>
                <a:cs typeface="Arial" pitchFamily="34" charset="-120"/>
              </a:rPr>
              <a:t>Agent Creation</a:t>
            </a:r>
            <a:endParaRPr lang="en-US" sz="1000" dirty="0"/>
          </a:p>
        </p:txBody>
      </p:sp>
      <p:sp>
        <p:nvSpPr>
          <p:cNvPr id="15" name="Text 12"/>
          <p:cNvSpPr/>
          <p:nvPr/>
        </p:nvSpPr>
        <p:spPr>
          <a:xfrm>
            <a:off x="566928" y="2267712"/>
            <a:ext cx="1700784" cy="2194560"/>
          </a:xfrm>
          <a:prstGeom prst="rect">
            <a:avLst/>
          </a:prstGeom>
          <a:noFill/>
          <a:ln/>
        </p:spPr>
        <p:txBody>
          <a:bodyPr wrap="square" rtlCol="0" anchor="ctr"/>
          <a:lstStyle/>
          <a:p>
            <a:pPr indent="0" marL="0">
              <a:lnSpc>
                <a:spcPts val="1200"/>
              </a:lnSpc>
              <a:buNone/>
            </a:pPr>
            <a:r>
              <a:rPr lang="en-US" sz="750" dirty="0">
                <a:solidFill>
                  <a:srgbClr val="CBD5E1"/>
                </a:solidFill>
                <a:latin typeface="Arial" pitchFamily="34" charset="0"/>
                <a:ea typeface="Arial" pitchFamily="34" charset="-122"/>
                <a:cs typeface="Arial" pitchFamily="34" charset="-120"/>
              </a:rPr>
              <a:t>1. Navigate Setup ➜ Agents</a:t>
            </a:r>
            <a:endParaRPr lang="en-US" sz="750" dirty="0"/>
          </a:p>
          <a:p>
            <a:pPr indent="0" marL="0">
              <a:lnSpc>
                <a:spcPts val="1200"/>
              </a:lnSpc>
              <a:buNone/>
            </a:pPr>
            <a:endParaRPr lang="en-US" sz="750" dirty="0"/>
          </a:p>
          <a:p>
            <a:pPr indent="0" marL="0">
              <a:lnSpc>
                <a:spcPts val="1200"/>
              </a:lnSpc>
              <a:buNone/>
            </a:pPr>
            <a:r>
              <a:rPr lang="en-US" sz="750" dirty="0">
                <a:solidFill>
                  <a:srgbClr val="CBD5E1"/>
                </a:solidFill>
                <a:latin typeface="Arial" pitchFamily="34" charset="0"/>
                <a:ea typeface="Arial" pitchFamily="34" charset="-122"/>
                <a:cs typeface="Arial" pitchFamily="34" charset="-120"/>
              </a:rPr>
              <a:t>2. Click New Agent ➜ Service</a:t>
            </a:r>
            <a:endParaRPr lang="en-US" sz="750" dirty="0"/>
          </a:p>
          <a:p>
            <a:pPr indent="0" marL="0">
              <a:lnSpc>
                <a:spcPts val="1200"/>
              </a:lnSpc>
              <a:buNone/>
            </a:pPr>
            <a:endParaRPr lang="en-US" sz="750" dirty="0"/>
          </a:p>
          <a:p>
            <a:pPr indent="0" marL="0">
              <a:lnSpc>
                <a:spcPts val="1200"/>
              </a:lnSpc>
              <a:buNone/>
            </a:pPr>
            <a:r>
              <a:rPr lang="en-US" sz="750" dirty="0">
                <a:solidFill>
                  <a:srgbClr val="CBD5E1"/>
                </a:solidFill>
                <a:latin typeface="Arial" pitchFamily="34" charset="0"/>
                <a:ea typeface="Arial" pitchFamily="34" charset="-122"/>
                <a:cs typeface="Arial" pitchFamily="34" charset="-120"/>
              </a:rPr>
              <a:t>3. Name: "Service Desk Agent"</a:t>
            </a:r>
            <a:endParaRPr lang="en-US" sz="750" dirty="0"/>
          </a:p>
          <a:p>
            <a:pPr indent="0" marL="0">
              <a:lnSpc>
                <a:spcPts val="1200"/>
              </a:lnSpc>
              <a:buNone/>
            </a:pPr>
            <a:endParaRPr lang="en-US" sz="750" dirty="0"/>
          </a:p>
          <a:p>
            <a:pPr indent="0" marL="0">
              <a:lnSpc>
                <a:spcPts val="1200"/>
              </a:lnSpc>
              <a:buNone/>
            </a:pPr>
            <a:r>
              <a:rPr lang="en-US" sz="750" dirty="0">
                <a:solidFill>
                  <a:srgbClr val="CBD5E1"/>
                </a:solidFill>
                <a:latin typeface="Arial" pitchFamily="34" charset="0"/>
                <a:ea typeface="Arial" pitchFamily="34" charset="-122"/>
                <a:cs typeface="Arial" pitchFamily="34" charset="-120"/>
              </a:rPr>
              <a:t>4. Role: "Tier 1 Support Agent"</a:t>
            </a:r>
            <a:endParaRPr lang="en-US" sz="750" dirty="0"/>
          </a:p>
        </p:txBody>
      </p:sp>
      <p:sp>
        <p:nvSpPr>
          <p:cNvPr id="16" name="Shape 13"/>
          <p:cNvSpPr/>
          <p:nvPr/>
        </p:nvSpPr>
        <p:spPr>
          <a:xfrm>
            <a:off x="2560320" y="1664208"/>
            <a:ext cx="1920240" cy="2926080"/>
          </a:xfrm>
          <a:prstGeom prst="roundRect">
            <a:avLst>
              <a:gd name="adj" fmla="val 3810"/>
            </a:avLst>
          </a:prstGeom>
          <a:solidFill>
            <a:srgbClr val="131B2E"/>
          </a:solidFill>
          <a:ln w="12700">
            <a:solidFill>
              <a:srgbClr val="8B5CF6"/>
            </a:solidFill>
            <a:prstDash val="solid"/>
          </a:ln>
        </p:spPr>
      </p:sp>
      <p:sp>
        <p:nvSpPr>
          <p:cNvPr id="17" name="Shape 14"/>
          <p:cNvSpPr/>
          <p:nvPr/>
        </p:nvSpPr>
        <p:spPr>
          <a:xfrm>
            <a:off x="2560320" y="1664208"/>
            <a:ext cx="1920240" cy="45720"/>
          </a:xfrm>
          <a:prstGeom prst="rect">
            <a:avLst/>
          </a:prstGeom>
          <a:solidFill>
            <a:srgbClr val="8B5CF6"/>
          </a:solidFill>
          <a:ln w="12700">
            <a:solidFill>
              <a:srgbClr val="8B5CF6"/>
            </a:solidFill>
            <a:prstDash val="solid"/>
          </a:ln>
        </p:spPr>
      </p:sp>
      <p:sp>
        <p:nvSpPr>
          <p:cNvPr id="18" name="Text 15"/>
          <p:cNvSpPr/>
          <p:nvPr/>
        </p:nvSpPr>
        <p:spPr>
          <a:xfrm>
            <a:off x="2670048" y="1783080"/>
            <a:ext cx="1700784" cy="182880"/>
          </a:xfrm>
          <a:prstGeom prst="rect">
            <a:avLst/>
          </a:prstGeom>
          <a:noFill/>
          <a:ln/>
        </p:spPr>
        <p:txBody>
          <a:bodyPr wrap="square" rtlCol="0" anchor="ctr"/>
          <a:lstStyle/>
          <a:p>
            <a:pPr indent="0" marL="0">
              <a:buNone/>
            </a:pPr>
            <a:r>
              <a:rPr lang="en-US" sz="750" b="1" dirty="0">
                <a:solidFill>
                  <a:srgbClr val="8B5CF6"/>
                </a:solidFill>
                <a:latin typeface="Arial" pitchFamily="34" charset="0"/>
                <a:ea typeface="Arial" pitchFamily="34" charset="-122"/>
                <a:cs typeface="Arial" pitchFamily="34" charset="-120"/>
              </a:rPr>
              <a:t>PHASE 2</a:t>
            </a:r>
            <a:endParaRPr lang="en-US" sz="750" dirty="0"/>
          </a:p>
        </p:txBody>
      </p:sp>
      <p:sp>
        <p:nvSpPr>
          <p:cNvPr id="19" name="Text 16"/>
          <p:cNvSpPr/>
          <p:nvPr/>
        </p:nvSpPr>
        <p:spPr>
          <a:xfrm>
            <a:off x="2670048" y="1965960"/>
            <a:ext cx="1700784" cy="228600"/>
          </a:xfrm>
          <a:prstGeom prst="rect">
            <a:avLst/>
          </a:prstGeom>
          <a:noFill/>
          <a:ln/>
        </p:spPr>
        <p:txBody>
          <a:bodyPr wrap="square" rtlCol="0" anchor="ctr"/>
          <a:lstStyle/>
          <a:p>
            <a:pPr indent="0" marL="0">
              <a:buNone/>
            </a:pPr>
            <a:r>
              <a:rPr lang="en-US" sz="1000" b="1" dirty="0">
                <a:solidFill>
                  <a:srgbClr val="F8FAFC"/>
                </a:solidFill>
                <a:latin typeface="Arial" pitchFamily="34" charset="0"/>
                <a:ea typeface="Arial" pitchFamily="34" charset="-122"/>
                <a:cs typeface="Arial" pitchFamily="34" charset="-120"/>
              </a:rPr>
              <a:t>Topic Configuration</a:t>
            </a:r>
            <a:endParaRPr lang="en-US" sz="1000" dirty="0"/>
          </a:p>
        </p:txBody>
      </p:sp>
      <p:sp>
        <p:nvSpPr>
          <p:cNvPr id="20" name="Text 17"/>
          <p:cNvSpPr/>
          <p:nvPr/>
        </p:nvSpPr>
        <p:spPr>
          <a:xfrm>
            <a:off x="2670048" y="2267712"/>
            <a:ext cx="1700784" cy="2194560"/>
          </a:xfrm>
          <a:prstGeom prst="rect">
            <a:avLst/>
          </a:prstGeom>
          <a:noFill/>
          <a:ln/>
        </p:spPr>
        <p:txBody>
          <a:bodyPr wrap="square" rtlCol="0" anchor="ctr"/>
          <a:lstStyle/>
          <a:p>
            <a:pPr indent="0" marL="0">
              <a:lnSpc>
                <a:spcPts val="1200"/>
              </a:lnSpc>
              <a:buNone/>
            </a:pPr>
            <a:r>
              <a:rPr lang="en-US" sz="750" dirty="0">
                <a:solidFill>
                  <a:srgbClr val="CBD5E1"/>
                </a:solidFill>
                <a:latin typeface="Arial" pitchFamily="34" charset="0"/>
                <a:ea typeface="Arial" pitchFamily="34" charset="-122"/>
                <a:cs typeface="Arial" pitchFamily="34" charset="-120"/>
              </a:rPr>
              <a:t>1. Create Topic: "Case Inquiry"</a:t>
            </a:r>
            <a:endParaRPr lang="en-US" sz="750" dirty="0"/>
          </a:p>
          <a:p>
            <a:pPr indent="0" marL="0">
              <a:lnSpc>
                <a:spcPts val="1200"/>
              </a:lnSpc>
              <a:buNone/>
            </a:pPr>
            <a:endParaRPr lang="en-US" sz="750" dirty="0"/>
          </a:p>
          <a:p>
            <a:pPr indent="0" marL="0">
              <a:lnSpc>
                <a:spcPts val="1200"/>
              </a:lnSpc>
              <a:buNone/>
            </a:pPr>
            <a:r>
              <a:rPr lang="en-US" sz="750" dirty="0">
                <a:solidFill>
                  <a:srgbClr val="CBD5E1"/>
                </a:solidFill>
                <a:latin typeface="Arial" pitchFamily="34" charset="0"/>
                <a:ea typeface="Arial" pitchFamily="34" charset="-122"/>
                <a:cs typeface="Arial" pitchFamily="34" charset="-120"/>
              </a:rPr>
              <a:t>2. Description: "Help customers check status of existing cases"</a:t>
            </a:r>
            <a:endParaRPr lang="en-US" sz="750" dirty="0"/>
          </a:p>
          <a:p>
            <a:pPr indent="0" marL="0">
              <a:lnSpc>
                <a:spcPts val="1200"/>
              </a:lnSpc>
              <a:buNone/>
            </a:pPr>
            <a:endParaRPr lang="en-US" sz="750" dirty="0"/>
          </a:p>
          <a:p>
            <a:pPr indent="0" marL="0">
              <a:lnSpc>
                <a:spcPts val="1200"/>
              </a:lnSpc>
              <a:buNone/>
            </a:pPr>
            <a:r>
              <a:rPr lang="en-US" sz="750" dirty="0">
                <a:solidFill>
                  <a:srgbClr val="CBD5E1"/>
                </a:solidFill>
                <a:latin typeface="Arial" pitchFamily="34" charset="0"/>
                <a:ea typeface="Arial" pitchFamily="34" charset="-122"/>
                <a:cs typeface="Arial" pitchFamily="34" charset="-120"/>
              </a:rPr>
              <a:t>3. Scope: "Only lookup existing cases. Escalate if unassigned"</a:t>
            </a:r>
            <a:endParaRPr lang="en-US" sz="750" dirty="0"/>
          </a:p>
        </p:txBody>
      </p:sp>
      <p:sp>
        <p:nvSpPr>
          <p:cNvPr id="21" name="Shape 18"/>
          <p:cNvSpPr/>
          <p:nvPr/>
        </p:nvSpPr>
        <p:spPr>
          <a:xfrm>
            <a:off x="4663440" y="1664208"/>
            <a:ext cx="1920240" cy="2926080"/>
          </a:xfrm>
          <a:prstGeom prst="roundRect">
            <a:avLst>
              <a:gd name="adj" fmla="val 3810"/>
            </a:avLst>
          </a:prstGeom>
          <a:solidFill>
            <a:srgbClr val="131B2E"/>
          </a:solidFill>
          <a:ln w="12700">
            <a:solidFill>
              <a:srgbClr val="F59E0B"/>
            </a:solidFill>
            <a:prstDash val="solid"/>
          </a:ln>
        </p:spPr>
      </p:sp>
      <p:sp>
        <p:nvSpPr>
          <p:cNvPr id="22" name="Shape 19"/>
          <p:cNvSpPr/>
          <p:nvPr/>
        </p:nvSpPr>
        <p:spPr>
          <a:xfrm>
            <a:off x="4663440" y="1664208"/>
            <a:ext cx="1920240" cy="45720"/>
          </a:xfrm>
          <a:prstGeom prst="rect">
            <a:avLst/>
          </a:prstGeom>
          <a:solidFill>
            <a:srgbClr val="F59E0B"/>
          </a:solidFill>
          <a:ln w="12700">
            <a:solidFill>
              <a:srgbClr val="F59E0B"/>
            </a:solidFill>
            <a:prstDash val="solid"/>
          </a:ln>
        </p:spPr>
      </p:sp>
      <p:sp>
        <p:nvSpPr>
          <p:cNvPr id="23" name="Text 20"/>
          <p:cNvSpPr/>
          <p:nvPr/>
        </p:nvSpPr>
        <p:spPr>
          <a:xfrm>
            <a:off x="4773168" y="1783080"/>
            <a:ext cx="1700784" cy="182880"/>
          </a:xfrm>
          <a:prstGeom prst="rect">
            <a:avLst/>
          </a:prstGeom>
          <a:noFill/>
          <a:ln/>
        </p:spPr>
        <p:txBody>
          <a:bodyPr wrap="square" rtlCol="0" anchor="ctr"/>
          <a:lstStyle/>
          <a:p>
            <a:pPr indent="0" marL="0">
              <a:buNone/>
            </a:pPr>
            <a:r>
              <a:rPr lang="en-US" sz="750" b="1" dirty="0">
                <a:solidFill>
                  <a:srgbClr val="F59E0B"/>
                </a:solidFill>
                <a:latin typeface="Arial" pitchFamily="34" charset="0"/>
                <a:ea typeface="Arial" pitchFamily="34" charset="-122"/>
                <a:cs typeface="Arial" pitchFamily="34" charset="-120"/>
              </a:rPr>
              <a:t>PHASE 3</a:t>
            </a:r>
            <a:endParaRPr lang="en-US" sz="750" dirty="0"/>
          </a:p>
        </p:txBody>
      </p:sp>
      <p:sp>
        <p:nvSpPr>
          <p:cNvPr id="24" name="Text 21"/>
          <p:cNvSpPr/>
          <p:nvPr/>
        </p:nvSpPr>
        <p:spPr>
          <a:xfrm>
            <a:off x="4773168" y="1965960"/>
            <a:ext cx="1700784" cy="228600"/>
          </a:xfrm>
          <a:prstGeom prst="rect">
            <a:avLst/>
          </a:prstGeom>
          <a:noFill/>
          <a:ln/>
        </p:spPr>
        <p:txBody>
          <a:bodyPr wrap="square" rtlCol="0" anchor="ctr"/>
          <a:lstStyle/>
          <a:p>
            <a:pPr indent="0" marL="0">
              <a:buNone/>
            </a:pPr>
            <a:r>
              <a:rPr lang="en-US" sz="1000" b="1" dirty="0">
                <a:solidFill>
                  <a:srgbClr val="F8FAFC"/>
                </a:solidFill>
                <a:latin typeface="Arial" pitchFamily="34" charset="0"/>
                <a:ea typeface="Arial" pitchFamily="34" charset="-122"/>
                <a:cs typeface="Arial" pitchFamily="34" charset="-120"/>
              </a:rPr>
              <a:t>Action Binding</a:t>
            </a:r>
            <a:endParaRPr lang="en-US" sz="1000" dirty="0"/>
          </a:p>
        </p:txBody>
      </p:sp>
      <p:sp>
        <p:nvSpPr>
          <p:cNvPr id="25" name="Text 22"/>
          <p:cNvSpPr/>
          <p:nvPr/>
        </p:nvSpPr>
        <p:spPr>
          <a:xfrm>
            <a:off x="4773168" y="2267712"/>
            <a:ext cx="1700784" cy="2194560"/>
          </a:xfrm>
          <a:prstGeom prst="rect">
            <a:avLst/>
          </a:prstGeom>
          <a:noFill/>
          <a:ln/>
        </p:spPr>
        <p:txBody>
          <a:bodyPr wrap="square" rtlCol="0" anchor="ctr"/>
          <a:lstStyle/>
          <a:p>
            <a:pPr indent="0" marL="0">
              <a:lnSpc>
                <a:spcPts val="1200"/>
              </a:lnSpc>
              <a:buNone/>
            </a:pPr>
            <a:r>
              <a:rPr lang="en-US" sz="750" dirty="0">
                <a:solidFill>
                  <a:srgbClr val="CBD5E1"/>
                </a:solidFill>
                <a:latin typeface="Arial" pitchFamily="34" charset="0"/>
                <a:ea typeface="Arial" pitchFamily="34" charset="-122"/>
                <a:cs typeface="Arial" pitchFamily="34" charset="-120"/>
              </a:rPr>
              <a:t>1. Attach Flow: "Get Case Details"</a:t>
            </a:r>
            <a:endParaRPr lang="en-US" sz="750" dirty="0"/>
          </a:p>
          <a:p>
            <a:pPr indent="0" marL="0">
              <a:lnSpc>
                <a:spcPts val="1200"/>
              </a:lnSpc>
              <a:buNone/>
            </a:pPr>
            <a:endParaRPr lang="en-US" sz="750" dirty="0"/>
          </a:p>
          <a:p>
            <a:pPr indent="0" marL="0">
              <a:lnSpc>
                <a:spcPts val="1200"/>
              </a:lnSpc>
              <a:buNone/>
            </a:pPr>
            <a:r>
              <a:rPr lang="en-US" sz="750" dirty="0">
                <a:solidFill>
                  <a:srgbClr val="CBD5E1"/>
                </a:solidFill>
                <a:latin typeface="Arial" pitchFamily="34" charset="0"/>
                <a:ea typeface="Arial" pitchFamily="34" charset="-122"/>
                <a:cs typeface="Arial" pitchFamily="34" charset="-120"/>
              </a:rPr>
              <a:t>2. Map Input: CaseNumber (String)</a:t>
            </a:r>
            <a:endParaRPr lang="en-US" sz="750" dirty="0"/>
          </a:p>
          <a:p>
            <a:pPr indent="0" marL="0">
              <a:lnSpc>
                <a:spcPts val="1200"/>
              </a:lnSpc>
              <a:buNone/>
            </a:pPr>
            <a:endParaRPr lang="en-US" sz="750" dirty="0"/>
          </a:p>
          <a:p>
            <a:pPr indent="0" marL="0">
              <a:lnSpc>
                <a:spcPts val="1200"/>
              </a:lnSpc>
              <a:buNone/>
            </a:pPr>
            <a:r>
              <a:rPr lang="en-US" sz="750" dirty="0">
                <a:solidFill>
                  <a:srgbClr val="CBD5E1"/>
                </a:solidFill>
                <a:latin typeface="Arial" pitchFamily="34" charset="0"/>
                <a:ea typeface="Arial" pitchFamily="34" charset="-122"/>
                <a:cs typeface="Arial" pitchFamily="34" charset="-120"/>
              </a:rPr>
              <a:t>3. Map Outputs: Subject, Status</a:t>
            </a:r>
            <a:endParaRPr lang="en-US" sz="750" dirty="0"/>
          </a:p>
          <a:p>
            <a:pPr indent="0" marL="0">
              <a:lnSpc>
                <a:spcPts val="1200"/>
              </a:lnSpc>
              <a:buNone/>
            </a:pPr>
            <a:endParaRPr lang="en-US" sz="750" dirty="0"/>
          </a:p>
          <a:p>
            <a:pPr indent="0" marL="0">
              <a:lnSpc>
                <a:spcPts val="1200"/>
              </a:lnSpc>
              <a:buNone/>
            </a:pPr>
            <a:r>
              <a:rPr lang="en-US" sz="750" dirty="0">
                <a:solidFill>
                  <a:srgbClr val="CBD5E1"/>
                </a:solidFill>
                <a:latin typeface="Arial" pitchFamily="34" charset="0"/>
                <a:ea typeface="Arial" pitchFamily="34" charset="-122"/>
                <a:cs typeface="Arial" pitchFamily="34" charset="-120"/>
              </a:rPr>
              <a:t>4. Save Topic configuration</a:t>
            </a:r>
            <a:endParaRPr lang="en-US" sz="750" dirty="0"/>
          </a:p>
        </p:txBody>
      </p:sp>
      <p:sp>
        <p:nvSpPr>
          <p:cNvPr id="26" name="Shape 23"/>
          <p:cNvSpPr/>
          <p:nvPr/>
        </p:nvSpPr>
        <p:spPr>
          <a:xfrm>
            <a:off x="6766560" y="1664208"/>
            <a:ext cx="1920240" cy="2926080"/>
          </a:xfrm>
          <a:prstGeom prst="roundRect">
            <a:avLst>
              <a:gd name="adj" fmla="val 3810"/>
            </a:avLst>
          </a:prstGeom>
          <a:solidFill>
            <a:srgbClr val="131B2E"/>
          </a:solidFill>
          <a:ln w="12700">
            <a:solidFill>
              <a:srgbClr val="10B981"/>
            </a:solidFill>
            <a:prstDash val="solid"/>
          </a:ln>
        </p:spPr>
      </p:sp>
      <p:sp>
        <p:nvSpPr>
          <p:cNvPr id="27" name="Shape 24"/>
          <p:cNvSpPr/>
          <p:nvPr/>
        </p:nvSpPr>
        <p:spPr>
          <a:xfrm>
            <a:off x="6766560" y="1664208"/>
            <a:ext cx="1920240" cy="45720"/>
          </a:xfrm>
          <a:prstGeom prst="rect">
            <a:avLst/>
          </a:prstGeom>
          <a:solidFill>
            <a:srgbClr val="10B981"/>
          </a:solidFill>
          <a:ln w="12700">
            <a:solidFill>
              <a:srgbClr val="10B981"/>
            </a:solidFill>
            <a:prstDash val="solid"/>
          </a:ln>
        </p:spPr>
      </p:sp>
      <p:sp>
        <p:nvSpPr>
          <p:cNvPr id="28" name="Text 25"/>
          <p:cNvSpPr/>
          <p:nvPr/>
        </p:nvSpPr>
        <p:spPr>
          <a:xfrm>
            <a:off x="6876288" y="1783080"/>
            <a:ext cx="1700784" cy="182880"/>
          </a:xfrm>
          <a:prstGeom prst="rect">
            <a:avLst/>
          </a:prstGeom>
          <a:noFill/>
          <a:ln/>
        </p:spPr>
        <p:txBody>
          <a:bodyPr wrap="square" rtlCol="0" anchor="ctr"/>
          <a:lstStyle/>
          <a:p>
            <a:pPr indent="0" marL="0">
              <a:buNone/>
            </a:pPr>
            <a:r>
              <a:rPr lang="en-US" sz="750" b="1" dirty="0">
                <a:solidFill>
                  <a:srgbClr val="10B981"/>
                </a:solidFill>
                <a:latin typeface="Arial" pitchFamily="34" charset="0"/>
                <a:ea typeface="Arial" pitchFamily="34" charset="-122"/>
                <a:cs typeface="Arial" pitchFamily="34" charset="-120"/>
              </a:rPr>
              <a:t>PHASE 4</a:t>
            </a:r>
            <a:endParaRPr lang="en-US" sz="750" dirty="0"/>
          </a:p>
        </p:txBody>
      </p:sp>
      <p:sp>
        <p:nvSpPr>
          <p:cNvPr id="29" name="Text 26"/>
          <p:cNvSpPr/>
          <p:nvPr/>
        </p:nvSpPr>
        <p:spPr>
          <a:xfrm>
            <a:off x="6876288" y="1965960"/>
            <a:ext cx="1700784" cy="228600"/>
          </a:xfrm>
          <a:prstGeom prst="rect">
            <a:avLst/>
          </a:prstGeom>
          <a:noFill/>
          <a:ln/>
        </p:spPr>
        <p:txBody>
          <a:bodyPr wrap="square" rtlCol="0" anchor="ctr"/>
          <a:lstStyle/>
          <a:p>
            <a:pPr indent="0" marL="0">
              <a:buNone/>
            </a:pPr>
            <a:r>
              <a:rPr lang="en-US" sz="1000" b="1" dirty="0">
                <a:solidFill>
                  <a:srgbClr val="F8FAFC"/>
                </a:solidFill>
                <a:latin typeface="Arial" pitchFamily="34" charset="0"/>
                <a:ea typeface="Arial" pitchFamily="34" charset="-122"/>
                <a:cs typeface="Arial" pitchFamily="34" charset="-120"/>
              </a:rPr>
              <a:t>Trace Verification</a:t>
            </a:r>
            <a:endParaRPr lang="en-US" sz="1000" dirty="0"/>
          </a:p>
        </p:txBody>
      </p:sp>
      <p:sp>
        <p:nvSpPr>
          <p:cNvPr id="30" name="Text 27"/>
          <p:cNvSpPr/>
          <p:nvPr/>
        </p:nvSpPr>
        <p:spPr>
          <a:xfrm>
            <a:off x="6876288" y="2267712"/>
            <a:ext cx="1700784" cy="2194560"/>
          </a:xfrm>
          <a:prstGeom prst="rect">
            <a:avLst/>
          </a:prstGeom>
          <a:noFill/>
          <a:ln/>
        </p:spPr>
        <p:txBody>
          <a:bodyPr wrap="square" rtlCol="0" anchor="ctr"/>
          <a:lstStyle/>
          <a:p>
            <a:pPr indent="0" marL="0">
              <a:lnSpc>
                <a:spcPts val="1200"/>
              </a:lnSpc>
              <a:buNone/>
            </a:pPr>
            <a:r>
              <a:rPr lang="en-US" sz="750" dirty="0">
                <a:solidFill>
                  <a:srgbClr val="CBD5E1"/>
                </a:solidFill>
                <a:latin typeface="Arial" pitchFamily="34" charset="0"/>
                <a:ea typeface="Arial" pitchFamily="34" charset="-122"/>
                <a:cs typeface="Arial" pitchFamily="34" charset="-120"/>
              </a:rPr>
              <a:t>1. Open Builder Preview Console</a:t>
            </a:r>
            <a:endParaRPr lang="en-US" sz="750" dirty="0"/>
          </a:p>
          <a:p>
            <a:pPr indent="0" marL="0">
              <a:lnSpc>
                <a:spcPts val="1200"/>
              </a:lnSpc>
              <a:buNone/>
            </a:pPr>
            <a:endParaRPr lang="en-US" sz="750" dirty="0"/>
          </a:p>
          <a:p>
            <a:pPr indent="0" marL="0">
              <a:lnSpc>
                <a:spcPts val="1200"/>
              </a:lnSpc>
              <a:buNone/>
            </a:pPr>
            <a:r>
              <a:rPr lang="en-US" sz="750" dirty="0">
                <a:solidFill>
                  <a:srgbClr val="CBD5E1"/>
                </a:solidFill>
                <a:latin typeface="Arial" pitchFamily="34" charset="0"/>
                <a:ea typeface="Arial" pitchFamily="34" charset="-122"/>
                <a:cs typeface="Arial" pitchFamily="34" charset="-120"/>
              </a:rPr>
              <a:t>2. Test: "Status of #0001024?"</a:t>
            </a:r>
            <a:endParaRPr lang="en-US" sz="750" dirty="0"/>
          </a:p>
          <a:p>
            <a:pPr indent="0" marL="0">
              <a:lnSpc>
                <a:spcPts val="1200"/>
              </a:lnSpc>
              <a:buNone/>
            </a:pPr>
            <a:endParaRPr lang="en-US" sz="750" dirty="0"/>
          </a:p>
          <a:p>
            <a:pPr indent="0" marL="0">
              <a:lnSpc>
                <a:spcPts val="1200"/>
              </a:lnSpc>
              <a:buNone/>
            </a:pPr>
            <a:r>
              <a:rPr lang="en-US" sz="750" dirty="0">
                <a:solidFill>
                  <a:srgbClr val="CBD5E1"/>
                </a:solidFill>
                <a:latin typeface="Arial" pitchFamily="34" charset="0"/>
                <a:ea typeface="Arial" pitchFamily="34" charset="-122"/>
                <a:cs typeface="Arial" pitchFamily="34" charset="-120"/>
              </a:rPr>
              <a:t>3. Verify Reasoning Log trace</a:t>
            </a:r>
            <a:endParaRPr lang="en-US" sz="750" dirty="0"/>
          </a:p>
          <a:p>
            <a:pPr indent="0" marL="0">
              <a:lnSpc>
                <a:spcPts val="1200"/>
              </a:lnSpc>
              <a:buNone/>
            </a:pPr>
            <a:endParaRPr lang="en-US" sz="750" dirty="0"/>
          </a:p>
          <a:p>
            <a:pPr indent="0" marL="0">
              <a:lnSpc>
                <a:spcPts val="1200"/>
              </a:lnSpc>
              <a:buNone/>
            </a:pPr>
            <a:r>
              <a:rPr lang="en-US" sz="750" dirty="0">
                <a:solidFill>
                  <a:srgbClr val="CBD5E1"/>
                </a:solidFill>
                <a:latin typeface="Arial" pitchFamily="34" charset="0"/>
                <a:ea typeface="Arial" pitchFamily="34" charset="-122"/>
                <a:cs typeface="Arial" pitchFamily="34" charset="-120"/>
              </a:rPr>
              <a:t>4. Click Activate</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457200" y="256032"/>
            <a:ext cx="1097280" cy="27432"/>
          </a:xfrm>
          <a:prstGeom prst="rect">
            <a:avLst/>
          </a:prstGeom>
          <a:solidFill>
            <a:srgbClr val="00A1E0"/>
          </a:solidFill>
          <a:ln w="12700">
            <a:solidFill>
              <a:srgbClr val="00A1E0"/>
            </a:solidFill>
            <a:prstDash val="solid"/>
          </a:ln>
        </p:spPr>
      </p:sp>
      <p:sp>
        <p:nvSpPr>
          <p:cNvPr id="3" name="Text 1"/>
          <p:cNvSpPr/>
          <p:nvPr/>
        </p:nvSpPr>
        <p:spPr>
          <a:xfrm>
            <a:off x="457200" y="320040"/>
            <a:ext cx="8229600" cy="164592"/>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KNOWLEDGE VERIFICATION</a:t>
            </a:r>
            <a:endParaRPr lang="en-US" sz="800" dirty="0"/>
          </a:p>
        </p:txBody>
      </p:sp>
      <p:sp>
        <p:nvSpPr>
          <p:cNvPr id="4" name="Text 2"/>
          <p:cNvSpPr/>
          <p:nvPr/>
        </p:nvSpPr>
        <p:spPr>
          <a:xfrm>
            <a:off x="457200" y="493776"/>
            <a:ext cx="8229600" cy="320040"/>
          </a:xfrm>
          <a:prstGeom prst="rect">
            <a:avLst/>
          </a:prstGeom>
          <a:noFill/>
          <a:ln/>
        </p:spPr>
        <p:txBody>
          <a:bodyPr wrap="square" rtlCol="0" anchor="ctr"/>
          <a:lstStyle/>
          <a:p>
            <a:pPr indent="0" marL="0">
              <a:buNone/>
            </a:pPr>
            <a:r>
              <a:rPr lang="en-US" sz="1500" b="1" dirty="0">
                <a:solidFill>
                  <a:srgbClr val="F8FAFC"/>
                </a:solidFill>
                <a:latin typeface="Arial" pitchFamily="34" charset="0"/>
                <a:ea typeface="Arial" pitchFamily="34" charset="-122"/>
                <a:cs typeface="Arial" pitchFamily="34" charset="-120"/>
              </a:rPr>
              <a:t>Day 1 Checkpoint Quiz: Architecture Verification</a:t>
            </a:r>
            <a:endParaRPr lang="en-US" sz="1500" dirty="0"/>
          </a:p>
        </p:txBody>
      </p:sp>
      <p:sp>
        <p:nvSpPr>
          <p:cNvPr id="5" name="Shape 3"/>
          <p:cNvSpPr/>
          <p:nvPr/>
        </p:nvSpPr>
        <p:spPr>
          <a:xfrm>
            <a:off x="457200" y="859536"/>
            <a:ext cx="8229600" cy="0"/>
          </a:xfrm>
          <a:prstGeom prst="line">
            <a:avLst/>
          </a:prstGeom>
          <a:noFill/>
          <a:ln w="12700">
            <a:solidFill>
              <a:srgbClr val="1E293B"/>
            </a:solidFill>
            <a:prstDash val="solid"/>
          </a:ln>
        </p:spPr>
      </p:sp>
      <p:sp>
        <p:nvSpPr>
          <p:cNvPr id="6" name="Text 4"/>
          <p:cNvSpPr/>
          <p:nvPr/>
        </p:nvSpPr>
        <p:spPr>
          <a:xfrm>
            <a:off x="457200" y="4791456"/>
            <a:ext cx="6400800" cy="228600"/>
          </a:xfrm>
          <a:prstGeom prst="rect">
            <a:avLst/>
          </a:prstGeom>
          <a:noFill/>
          <a:ln/>
        </p:spPr>
        <p:txBody>
          <a:bodyPr wrap="square" rtlCol="0" anchor="ctr"/>
          <a:lstStyle/>
          <a:p>
            <a:pPr indent="0" marL="0">
              <a:buNone/>
            </a:pPr>
            <a:r>
              <a:rPr lang="en-US" sz="750" dirty="0">
                <a:solidFill>
                  <a:srgbClr val="94A3B8"/>
                </a:solidFill>
                <a:latin typeface="Arial" pitchFamily="34" charset="0"/>
                <a:ea typeface="Arial" pitchFamily="34" charset="-122"/>
                <a:cs typeface="Arial" pitchFamily="34" charset="-120"/>
              </a:rPr>
              <a:t>Salesforce Agentforce &amp; Data 360 Enablement  •  Day 1: Atlas Reasoning Engine &amp; ReAct Loop</a:t>
            </a:r>
            <a:endParaRPr lang="en-US" sz="750" dirty="0"/>
          </a:p>
        </p:txBody>
      </p:sp>
      <p:sp>
        <p:nvSpPr>
          <p:cNvPr id="7" name="Text 5"/>
          <p:cNvSpPr/>
          <p:nvPr/>
        </p:nvSpPr>
        <p:spPr>
          <a:xfrm>
            <a:off x="7315200" y="4791456"/>
            <a:ext cx="1371600" cy="228600"/>
          </a:xfrm>
          <a:prstGeom prst="rect">
            <a:avLst/>
          </a:prstGeom>
          <a:noFill/>
          <a:ln/>
        </p:spPr>
        <p:txBody>
          <a:bodyPr wrap="square" rtlCol="0" anchor="ctr"/>
          <a:lstStyle/>
          <a:p>
            <a:pPr algn="r" indent="0" marL="0">
              <a:buNone/>
            </a:pPr>
            <a:r>
              <a:rPr lang="en-US" sz="750" b="1" dirty="0">
                <a:solidFill>
                  <a:srgbClr val="00A1E0"/>
                </a:solidFill>
                <a:latin typeface="Arial" pitchFamily="34" charset="0"/>
                <a:ea typeface="Arial" pitchFamily="34" charset="-122"/>
                <a:cs typeface="Arial" pitchFamily="34" charset="-120"/>
              </a:rPr>
              <a:t>17 / 19</a:t>
            </a:r>
            <a:endParaRPr lang="en-US" sz="750" dirty="0"/>
          </a:p>
        </p:txBody>
      </p:sp>
      <p:sp>
        <p:nvSpPr>
          <p:cNvPr id="9" name="Shape 6"/>
          <p:cNvSpPr/>
          <p:nvPr/>
        </p:nvSpPr>
        <p:spPr>
          <a:xfrm>
            <a:off x="457200" y="1024128"/>
            <a:ext cx="8229600" cy="1097280"/>
          </a:xfrm>
          <a:prstGeom prst="roundRect">
            <a:avLst>
              <a:gd name="adj" fmla="val 5000"/>
            </a:avLst>
          </a:prstGeom>
          <a:solidFill>
            <a:srgbClr val="131B2E"/>
          </a:solidFill>
          <a:ln w="10160">
            <a:solidFill>
              <a:srgbClr val="233354"/>
            </a:solidFill>
            <a:prstDash val="solid"/>
          </a:ln>
        </p:spPr>
      </p:sp>
      <p:sp>
        <p:nvSpPr>
          <p:cNvPr id="10" name="Shape 7"/>
          <p:cNvSpPr/>
          <p:nvPr/>
        </p:nvSpPr>
        <p:spPr>
          <a:xfrm>
            <a:off x="594360" y="1133856"/>
            <a:ext cx="1143000" cy="201168"/>
          </a:xfrm>
          <a:prstGeom prst="roundRect">
            <a:avLst>
              <a:gd name="adj" fmla="val 18182"/>
            </a:avLst>
          </a:prstGeom>
          <a:solidFill>
            <a:srgbClr val="1E293B"/>
          </a:solidFill>
          <a:ln w="10160">
            <a:solidFill>
              <a:srgbClr val="00A1E0"/>
            </a:solidFill>
            <a:prstDash val="solid"/>
          </a:ln>
        </p:spPr>
      </p:sp>
      <p:sp>
        <p:nvSpPr>
          <p:cNvPr id="11" name="Text 8"/>
          <p:cNvSpPr/>
          <p:nvPr/>
        </p:nvSpPr>
        <p:spPr>
          <a:xfrm>
            <a:off x="594360" y="1133856"/>
            <a:ext cx="1143000" cy="201168"/>
          </a:xfrm>
          <a:prstGeom prst="rect">
            <a:avLst/>
          </a:prstGeom>
          <a:noFill/>
          <a:ln/>
        </p:spPr>
        <p:txBody>
          <a:bodyPr wrap="square" rtlCol="0" anchor="ctr"/>
          <a:lstStyle/>
          <a:p>
            <a:pPr algn="ctr" indent="0" marL="0">
              <a:buNone/>
            </a:pPr>
            <a:r>
              <a:rPr lang="en-US" sz="680" b="1" dirty="0">
                <a:solidFill>
                  <a:srgbClr val="00A1E0"/>
                </a:solidFill>
                <a:latin typeface="Arial" pitchFamily="34" charset="0"/>
                <a:ea typeface="Arial" pitchFamily="34" charset="-122"/>
                <a:cs typeface="Arial" pitchFamily="34" charset="-120"/>
              </a:rPr>
              <a:t>ATLAS REASONING</a:t>
            </a:r>
            <a:endParaRPr lang="en-US" sz="680" dirty="0"/>
          </a:p>
        </p:txBody>
      </p:sp>
      <p:sp>
        <p:nvSpPr>
          <p:cNvPr id="12" name="Text 9"/>
          <p:cNvSpPr/>
          <p:nvPr/>
        </p:nvSpPr>
        <p:spPr>
          <a:xfrm>
            <a:off x="1828800" y="1115568"/>
            <a:ext cx="6675120" cy="228600"/>
          </a:xfrm>
          <a:prstGeom prst="rect">
            <a:avLst/>
          </a:prstGeom>
          <a:noFill/>
          <a:ln/>
        </p:spPr>
        <p:txBody>
          <a:bodyPr wrap="square" rtlCol="0" anchor="ctr"/>
          <a:lstStyle/>
          <a:p>
            <a:pPr indent="0" marL="0">
              <a:buNone/>
            </a:pPr>
            <a:r>
              <a:rPr lang="en-US" sz="950" b="1" dirty="0">
                <a:solidFill>
                  <a:srgbClr val="F8FAFC"/>
                </a:solidFill>
                <a:latin typeface="Arial" pitchFamily="34" charset="0"/>
                <a:ea typeface="Arial" pitchFamily="34" charset="-122"/>
                <a:cs typeface="Arial" pitchFamily="34" charset="-120"/>
              </a:rPr>
              <a:t>Q1: How does Atlas determine which Action to trigger when a user sends a message?</a:t>
            </a:r>
            <a:endParaRPr lang="en-US" sz="950" dirty="0"/>
          </a:p>
        </p:txBody>
      </p:sp>
      <p:sp>
        <p:nvSpPr>
          <p:cNvPr id="13" name="Shape 10"/>
          <p:cNvSpPr/>
          <p:nvPr/>
        </p:nvSpPr>
        <p:spPr>
          <a:xfrm>
            <a:off x="594360" y="1389888"/>
            <a:ext cx="7955280" cy="621792"/>
          </a:xfrm>
          <a:prstGeom prst="roundRect">
            <a:avLst>
              <a:gd name="adj" fmla="val 7353"/>
            </a:avLst>
          </a:prstGeom>
          <a:solidFill>
            <a:srgbClr val="0D1527"/>
          </a:solidFill>
          <a:ln w="10160">
            <a:solidFill>
              <a:srgbClr val="233354"/>
            </a:solidFill>
            <a:prstDash val="solid"/>
          </a:ln>
        </p:spPr>
      </p:sp>
      <p:sp>
        <p:nvSpPr>
          <p:cNvPr id="14" name="Text 11"/>
          <p:cNvSpPr/>
          <p:nvPr/>
        </p:nvSpPr>
        <p:spPr>
          <a:xfrm>
            <a:off x="685800" y="1435608"/>
            <a:ext cx="7772400" cy="530352"/>
          </a:xfrm>
          <a:prstGeom prst="rect">
            <a:avLst/>
          </a:prstGeom>
          <a:noFill/>
          <a:ln/>
        </p:spPr>
        <p:txBody>
          <a:bodyPr wrap="square" rtlCol="0" anchor="ctr"/>
          <a:lstStyle/>
          <a:p>
            <a:pPr indent="0" marL="0">
              <a:lnSpc>
                <a:spcPts val="1100"/>
              </a:lnSpc>
              <a:buNone/>
            </a:pPr>
            <a:r>
              <a:rPr lang="en-US" sz="800" dirty="0">
                <a:solidFill>
                  <a:srgbClr val="CBD5E1"/>
                </a:solidFill>
                <a:latin typeface="Arial" pitchFamily="34" charset="0"/>
                <a:ea typeface="Arial" pitchFamily="34" charset="-122"/>
                <a:cs typeface="Arial" pitchFamily="34" charset="-120"/>
              </a:rPr>
              <a:t>✔ Architect Answer: Atlas evaluates semantic meaning against Topic Scopes and Action Descriptions. It generates an internal "Thought" (plan) selecting the action whose description best matches the intended goal.</a:t>
            </a:r>
            <a:endParaRPr lang="en-US" sz="800" dirty="0"/>
          </a:p>
        </p:txBody>
      </p:sp>
      <p:sp>
        <p:nvSpPr>
          <p:cNvPr id="15" name="Shape 12"/>
          <p:cNvSpPr/>
          <p:nvPr/>
        </p:nvSpPr>
        <p:spPr>
          <a:xfrm>
            <a:off x="457200" y="2212848"/>
            <a:ext cx="8229600" cy="1097280"/>
          </a:xfrm>
          <a:prstGeom prst="roundRect">
            <a:avLst>
              <a:gd name="adj" fmla="val 5000"/>
            </a:avLst>
          </a:prstGeom>
          <a:solidFill>
            <a:srgbClr val="131B2E"/>
          </a:solidFill>
          <a:ln w="10160">
            <a:solidFill>
              <a:srgbClr val="233354"/>
            </a:solidFill>
            <a:prstDash val="solid"/>
          </a:ln>
        </p:spPr>
      </p:sp>
      <p:sp>
        <p:nvSpPr>
          <p:cNvPr id="16" name="Shape 13"/>
          <p:cNvSpPr/>
          <p:nvPr/>
        </p:nvSpPr>
        <p:spPr>
          <a:xfrm>
            <a:off x="594360" y="2322576"/>
            <a:ext cx="1143000" cy="201168"/>
          </a:xfrm>
          <a:prstGeom prst="roundRect">
            <a:avLst>
              <a:gd name="adj" fmla="val 18182"/>
            </a:avLst>
          </a:prstGeom>
          <a:solidFill>
            <a:srgbClr val="1E293B"/>
          </a:solidFill>
          <a:ln w="10160">
            <a:solidFill>
              <a:srgbClr val="00A1E0"/>
            </a:solidFill>
            <a:prstDash val="solid"/>
          </a:ln>
        </p:spPr>
      </p:sp>
      <p:sp>
        <p:nvSpPr>
          <p:cNvPr id="17" name="Text 14"/>
          <p:cNvSpPr/>
          <p:nvPr/>
        </p:nvSpPr>
        <p:spPr>
          <a:xfrm>
            <a:off x="594360" y="2322576"/>
            <a:ext cx="1143000" cy="201168"/>
          </a:xfrm>
          <a:prstGeom prst="rect">
            <a:avLst/>
          </a:prstGeom>
          <a:noFill/>
          <a:ln/>
        </p:spPr>
        <p:txBody>
          <a:bodyPr wrap="square" rtlCol="0" anchor="ctr"/>
          <a:lstStyle/>
          <a:p>
            <a:pPr algn="ctr" indent="0" marL="0">
              <a:buNone/>
            </a:pPr>
            <a:r>
              <a:rPr lang="en-US" sz="680" b="1" dirty="0">
                <a:solidFill>
                  <a:srgbClr val="00A1E0"/>
                </a:solidFill>
                <a:latin typeface="Arial" pitchFamily="34" charset="0"/>
                <a:ea typeface="Arial" pitchFamily="34" charset="-122"/>
                <a:cs typeface="Arial" pitchFamily="34" charset="-120"/>
              </a:rPr>
              <a:t>TRUST LAYER</a:t>
            </a:r>
            <a:endParaRPr lang="en-US" sz="680" dirty="0"/>
          </a:p>
        </p:txBody>
      </p:sp>
      <p:sp>
        <p:nvSpPr>
          <p:cNvPr id="18" name="Text 15"/>
          <p:cNvSpPr/>
          <p:nvPr/>
        </p:nvSpPr>
        <p:spPr>
          <a:xfrm>
            <a:off x="1828800" y="2304288"/>
            <a:ext cx="6675120" cy="228600"/>
          </a:xfrm>
          <a:prstGeom prst="rect">
            <a:avLst/>
          </a:prstGeom>
          <a:noFill/>
          <a:ln/>
        </p:spPr>
        <p:txBody>
          <a:bodyPr wrap="square" rtlCol="0" anchor="ctr"/>
          <a:lstStyle/>
          <a:p>
            <a:pPr indent="0" marL="0">
              <a:buNone/>
            </a:pPr>
            <a:r>
              <a:rPr lang="en-US" sz="950" b="1" dirty="0">
                <a:solidFill>
                  <a:srgbClr val="F8FAFC"/>
                </a:solidFill>
                <a:latin typeface="Arial" pitchFamily="34" charset="0"/>
                <a:ea typeface="Arial" pitchFamily="34" charset="-122"/>
                <a:cs typeface="Arial" pitchFamily="34" charset="-120"/>
              </a:rPr>
              <a:t>Q2: What is the architectural role of Zero Data Retention (ZDR) in the Trust Layer?</a:t>
            </a:r>
            <a:endParaRPr lang="en-US" sz="950" dirty="0"/>
          </a:p>
        </p:txBody>
      </p:sp>
      <p:sp>
        <p:nvSpPr>
          <p:cNvPr id="19" name="Shape 16"/>
          <p:cNvSpPr/>
          <p:nvPr/>
        </p:nvSpPr>
        <p:spPr>
          <a:xfrm>
            <a:off x="594360" y="2578608"/>
            <a:ext cx="7955280" cy="621792"/>
          </a:xfrm>
          <a:prstGeom prst="roundRect">
            <a:avLst>
              <a:gd name="adj" fmla="val 7353"/>
            </a:avLst>
          </a:prstGeom>
          <a:solidFill>
            <a:srgbClr val="0D1527"/>
          </a:solidFill>
          <a:ln w="10160">
            <a:solidFill>
              <a:srgbClr val="233354"/>
            </a:solidFill>
            <a:prstDash val="solid"/>
          </a:ln>
        </p:spPr>
      </p:sp>
      <p:sp>
        <p:nvSpPr>
          <p:cNvPr id="20" name="Text 17"/>
          <p:cNvSpPr/>
          <p:nvPr/>
        </p:nvSpPr>
        <p:spPr>
          <a:xfrm>
            <a:off x="685800" y="2624328"/>
            <a:ext cx="7772400" cy="530352"/>
          </a:xfrm>
          <a:prstGeom prst="rect">
            <a:avLst/>
          </a:prstGeom>
          <a:noFill/>
          <a:ln/>
        </p:spPr>
        <p:txBody>
          <a:bodyPr wrap="square" rtlCol="0" anchor="ctr"/>
          <a:lstStyle/>
          <a:p>
            <a:pPr indent="0" marL="0">
              <a:lnSpc>
                <a:spcPts val="1100"/>
              </a:lnSpc>
              <a:buNone/>
            </a:pPr>
            <a:r>
              <a:rPr lang="en-US" sz="800" dirty="0">
                <a:solidFill>
                  <a:srgbClr val="CBD5E1"/>
                </a:solidFill>
                <a:latin typeface="Arial" pitchFamily="34" charset="0"/>
                <a:ea typeface="Arial" pitchFamily="34" charset="-122"/>
                <a:cs typeface="Arial" pitchFamily="34" charset="-120"/>
              </a:rPr>
              <a:t>✔ Architect Answer: ZDR legally and technically guarantees that external foundation LLMs process prompts strictly in-memory and NEVER persist, log, or use enterprise customer data to train future models.</a:t>
            </a:r>
            <a:endParaRPr lang="en-US" sz="800" dirty="0"/>
          </a:p>
        </p:txBody>
      </p:sp>
      <p:sp>
        <p:nvSpPr>
          <p:cNvPr id="21" name="Shape 18"/>
          <p:cNvSpPr/>
          <p:nvPr/>
        </p:nvSpPr>
        <p:spPr>
          <a:xfrm>
            <a:off x="457200" y="3401568"/>
            <a:ext cx="8229600" cy="1097280"/>
          </a:xfrm>
          <a:prstGeom prst="roundRect">
            <a:avLst>
              <a:gd name="adj" fmla="val 5000"/>
            </a:avLst>
          </a:prstGeom>
          <a:solidFill>
            <a:srgbClr val="131B2E"/>
          </a:solidFill>
          <a:ln w="10160">
            <a:solidFill>
              <a:srgbClr val="233354"/>
            </a:solidFill>
            <a:prstDash val="solid"/>
          </a:ln>
        </p:spPr>
      </p:sp>
      <p:sp>
        <p:nvSpPr>
          <p:cNvPr id="22" name="Shape 19"/>
          <p:cNvSpPr/>
          <p:nvPr/>
        </p:nvSpPr>
        <p:spPr>
          <a:xfrm>
            <a:off x="594360" y="3511296"/>
            <a:ext cx="1143000" cy="201168"/>
          </a:xfrm>
          <a:prstGeom prst="roundRect">
            <a:avLst>
              <a:gd name="adj" fmla="val 18182"/>
            </a:avLst>
          </a:prstGeom>
          <a:solidFill>
            <a:srgbClr val="1E293B"/>
          </a:solidFill>
          <a:ln w="10160">
            <a:solidFill>
              <a:srgbClr val="00A1E0"/>
            </a:solidFill>
            <a:prstDash val="solid"/>
          </a:ln>
        </p:spPr>
      </p:sp>
      <p:sp>
        <p:nvSpPr>
          <p:cNvPr id="23" name="Text 20"/>
          <p:cNvSpPr/>
          <p:nvPr/>
        </p:nvSpPr>
        <p:spPr>
          <a:xfrm>
            <a:off x="594360" y="3511296"/>
            <a:ext cx="1143000" cy="201168"/>
          </a:xfrm>
          <a:prstGeom prst="rect">
            <a:avLst/>
          </a:prstGeom>
          <a:noFill/>
          <a:ln/>
        </p:spPr>
        <p:txBody>
          <a:bodyPr wrap="square" rtlCol="0" anchor="ctr"/>
          <a:lstStyle/>
          <a:p>
            <a:pPr algn="ctr" indent="0" marL="0">
              <a:buNone/>
            </a:pPr>
            <a:r>
              <a:rPr lang="en-US" sz="680" b="1" dirty="0">
                <a:solidFill>
                  <a:srgbClr val="00A1E0"/>
                </a:solidFill>
                <a:latin typeface="Arial" pitchFamily="34" charset="0"/>
                <a:ea typeface="Arial" pitchFamily="34" charset="-122"/>
                <a:cs typeface="Arial" pitchFamily="34" charset="-120"/>
              </a:rPr>
              <a:t>TOPIC ARCHITECTURE</a:t>
            </a:r>
            <a:endParaRPr lang="en-US" sz="680" dirty="0"/>
          </a:p>
        </p:txBody>
      </p:sp>
      <p:sp>
        <p:nvSpPr>
          <p:cNvPr id="24" name="Text 21"/>
          <p:cNvSpPr/>
          <p:nvPr/>
        </p:nvSpPr>
        <p:spPr>
          <a:xfrm>
            <a:off x="1828800" y="3493008"/>
            <a:ext cx="6675120" cy="228600"/>
          </a:xfrm>
          <a:prstGeom prst="rect">
            <a:avLst/>
          </a:prstGeom>
          <a:noFill/>
          <a:ln/>
        </p:spPr>
        <p:txBody>
          <a:bodyPr wrap="square" rtlCol="0" anchor="ctr"/>
          <a:lstStyle/>
          <a:p>
            <a:pPr indent="0" marL="0">
              <a:buNone/>
            </a:pPr>
            <a:r>
              <a:rPr lang="en-US" sz="950" b="1" dirty="0">
                <a:solidFill>
                  <a:srgbClr val="F8FAFC"/>
                </a:solidFill>
                <a:latin typeface="Arial" pitchFamily="34" charset="0"/>
                <a:ea typeface="Arial" pitchFamily="34" charset="-122"/>
                <a:cs typeface="Arial" pitchFamily="34" charset="-120"/>
              </a:rPr>
              <a:t>Q3: Why is creating a single Topic containing 30 Actions considered a critical anti-pattern?</a:t>
            </a:r>
            <a:endParaRPr lang="en-US" sz="950" dirty="0"/>
          </a:p>
        </p:txBody>
      </p:sp>
      <p:sp>
        <p:nvSpPr>
          <p:cNvPr id="25" name="Shape 22"/>
          <p:cNvSpPr/>
          <p:nvPr/>
        </p:nvSpPr>
        <p:spPr>
          <a:xfrm>
            <a:off x="594360" y="3767328"/>
            <a:ext cx="7955280" cy="621792"/>
          </a:xfrm>
          <a:prstGeom prst="roundRect">
            <a:avLst>
              <a:gd name="adj" fmla="val 7353"/>
            </a:avLst>
          </a:prstGeom>
          <a:solidFill>
            <a:srgbClr val="0D1527"/>
          </a:solidFill>
          <a:ln w="10160">
            <a:solidFill>
              <a:srgbClr val="233354"/>
            </a:solidFill>
            <a:prstDash val="solid"/>
          </a:ln>
        </p:spPr>
      </p:sp>
      <p:sp>
        <p:nvSpPr>
          <p:cNvPr id="26" name="Text 23"/>
          <p:cNvSpPr/>
          <p:nvPr/>
        </p:nvSpPr>
        <p:spPr>
          <a:xfrm>
            <a:off x="685800" y="3813048"/>
            <a:ext cx="7772400" cy="530352"/>
          </a:xfrm>
          <a:prstGeom prst="rect">
            <a:avLst/>
          </a:prstGeom>
          <a:noFill/>
          <a:ln/>
        </p:spPr>
        <p:txBody>
          <a:bodyPr wrap="square" rtlCol="0" anchor="ctr"/>
          <a:lstStyle/>
          <a:p>
            <a:pPr indent="0" marL="0">
              <a:lnSpc>
                <a:spcPts val="1100"/>
              </a:lnSpc>
              <a:buNone/>
            </a:pPr>
            <a:r>
              <a:rPr lang="en-US" sz="800" dirty="0">
                <a:solidFill>
                  <a:srgbClr val="CBD5E1"/>
                </a:solidFill>
                <a:latin typeface="Arial" pitchFamily="34" charset="0"/>
                <a:ea typeface="Arial" pitchFamily="34" charset="-122"/>
                <a:cs typeface="Arial" pitchFamily="34" charset="-120"/>
              </a:rPr>
              <a:t>✔ Architect Answer: Large action sets overload the LLM context window, causing choice ambiguity, hallucinated parameters, severe response latency, and frequent execution of unintended actions.</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457200" y="256032"/>
            <a:ext cx="1097280" cy="27432"/>
          </a:xfrm>
          <a:prstGeom prst="rect">
            <a:avLst/>
          </a:prstGeom>
          <a:solidFill>
            <a:srgbClr val="00A1E0"/>
          </a:solidFill>
          <a:ln w="12700">
            <a:solidFill>
              <a:srgbClr val="00A1E0"/>
            </a:solidFill>
            <a:prstDash val="solid"/>
          </a:ln>
        </p:spPr>
      </p:sp>
      <p:sp>
        <p:nvSpPr>
          <p:cNvPr id="3" name="Text 1"/>
          <p:cNvSpPr/>
          <p:nvPr/>
        </p:nvSpPr>
        <p:spPr>
          <a:xfrm>
            <a:off x="457200" y="320040"/>
            <a:ext cx="8229600" cy="164592"/>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SUMMARY &amp; GOLDEN RULES</a:t>
            </a:r>
            <a:endParaRPr lang="en-US" sz="800" dirty="0"/>
          </a:p>
        </p:txBody>
      </p:sp>
      <p:sp>
        <p:nvSpPr>
          <p:cNvPr id="4" name="Text 2"/>
          <p:cNvSpPr/>
          <p:nvPr/>
        </p:nvSpPr>
        <p:spPr>
          <a:xfrm>
            <a:off x="457200" y="493776"/>
            <a:ext cx="8229600" cy="320040"/>
          </a:xfrm>
          <a:prstGeom prst="rect">
            <a:avLst/>
          </a:prstGeom>
          <a:noFill/>
          <a:ln/>
        </p:spPr>
        <p:txBody>
          <a:bodyPr wrap="square" rtlCol="0" anchor="ctr"/>
          <a:lstStyle/>
          <a:p>
            <a:pPr indent="0" marL="0">
              <a:buNone/>
            </a:pPr>
            <a:r>
              <a:rPr lang="en-US" sz="1500" b="1" dirty="0">
                <a:solidFill>
                  <a:srgbClr val="F8FAFC"/>
                </a:solidFill>
                <a:latin typeface="Arial" pitchFamily="34" charset="0"/>
                <a:ea typeface="Arial" pitchFamily="34" charset="-122"/>
                <a:cs typeface="Arial" pitchFamily="34" charset="-120"/>
              </a:rPr>
              <a:t>Day 1 Key Takeaways &amp; Developer Cheatsheet</a:t>
            </a:r>
            <a:endParaRPr lang="en-US" sz="1500" dirty="0"/>
          </a:p>
        </p:txBody>
      </p:sp>
      <p:sp>
        <p:nvSpPr>
          <p:cNvPr id="5" name="Shape 3"/>
          <p:cNvSpPr/>
          <p:nvPr/>
        </p:nvSpPr>
        <p:spPr>
          <a:xfrm>
            <a:off x="457200" y="859536"/>
            <a:ext cx="8229600" cy="0"/>
          </a:xfrm>
          <a:prstGeom prst="line">
            <a:avLst/>
          </a:prstGeom>
          <a:noFill/>
          <a:ln w="12700">
            <a:solidFill>
              <a:srgbClr val="1E293B"/>
            </a:solidFill>
            <a:prstDash val="solid"/>
          </a:ln>
        </p:spPr>
      </p:sp>
      <p:sp>
        <p:nvSpPr>
          <p:cNvPr id="6" name="Text 4"/>
          <p:cNvSpPr/>
          <p:nvPr/>
        </p:nvSpPr>
        <p:spPr>
          <a:xfrm>
            <a:off x="457200" y="4791456"/>
            <a:ext cx="6400800" cy="228600"/>
          </a:xfrm>
          <a:prstGeom prst="rect">
            <a:avLst/>
          </a:prstGeom>
          <a:noFill/>
          <a:ln/>
        </p:spPr>
        <p:txBody>
          <a:bodyPr wrap="square" rtlCol="0" anchor="ctr"/>
          <a:lstStyle/>
          <a:p>
            <a:pPr indent="0" marL="0">
              <a:buNone/>
            </a:pPr>
            <a:r>
              <a:rPr lang="en-US" sz="750" dirty="0">
                <a:solidFill>
                  <a:srgbClr val="94A3B8"/>
                </a:solidFill>
                <a:latin typeface="Arial" pitchFamily="34" charset="0"/>
                <a:ea typeface="Arial" pitchFamily="34" charset="-122"/>
                <a:cs typeface="Arial" pitchFamily="34" charset="-120"/>
              </a:rPr>
              <a:t>Salesforce Agentforce &amp; Data 360 Enablement  •  Day 1: Atlas Reasoning Engine &amp; ReAct Loop</a:t>
            </a:r>
            <a:endParaRPr lang="en-US" sz="750" dirty="0"/>
          </a:p>
        </p:txBody>
      </p:sp>
      <p:sp>
        <p:nvSpPr>
          <p:cNvPr id="7" name="Text 5"/>
          <p:cNvSpPr/>
          <p:nvPr/>
        </p:nvSpPr>
        <p:spPr>
          <a:xfrm>
            <a:off x="7315200" y="4791456"/>
            <a:ext cx="1371600" cy="228600"/>
          </a:xfrm>
          <a:prstGeom prst="rect">
            <a:avLst/>
          </a:prstGeom>
          <a:noFill/>
          <a:ln/>
        </p:spPr>
        <p:txBody>
          <a:bodyPr wrap="square" rtlCol="0" anchor="ctr"/>
          <a:lstStyle/>
          <a:p>
            <a:pPr algn="r" indent="0" marL="0">
              <a:buNone/>
            </a:pPr>
            <a:r>
              <a:rPr lang="en-US" sz="750" b="1" dirty="0">
                <a:solidFill>
                  <a:srgbClr val="00A1E0"/>
                </a:solidFill>
                <a:latin typeface="Arial" pitchFamily="34" charset="0"/>
                <a:ea typeface="Arial" pitchFamily="34" charset="-122"/>
                <a:cs typeface="Arial" pitchFamily="34" charset="-120"/>
              </a:rPr>
              <a:t>18 / 19</a:t>
            </a:r>
            <a:endParaRPr lang="en-US" sz="750" dirty="0"/>
          </a:p>
        </p:txBody>
      </p:sp>
      <p:sp>
        <p:nvSpPr>
          <p:cNvPr id="9" name="Shape 6"/>
          <p:cNvSpPr/>
          <p:nvPr/>
        </p:nvSpPr>
        <p:spPr>
          <a:xfrm>
            <a:off x="457200" y="1024128"/>
            <a:ext cx="3977640" cy="3566160"/>
          </a:xfrm>
          <a:prstGeom prst="roundRect">
            <a:avLst>
              <a:gd name="adj" fmla="val 2051"/>
            </a:avLst>
          </a:prstGeom>
          <a:solidFill>
            <a:srgbClr val="131B2E"/>
          </a:solidFill>
          <a:ln w="12700">
            <a:solidFill>
              <a:srgbClr val="00A1E0"/>
            </a:solidFill>
            <a:prstDash val="solid"/>
          </a:ln>
        </p:spPr>
      </p:sp>
      <p:sp>
        <p:nvSpPr>
          <p:cNvPr id="10" name="Shape 7"/>
          <p:cNvSpPr/>
          <p:nvPr/>
        </p:nvSpPr>
        <p:spPr>
          <a:xfrm>
            <a:off x="457200" y="1024128"/>
            <a:ext cx="3977640" cy="45720"/>
          </a:xfrm>
          <a:prstGeom prst="rect">
            <a:avLst/>
          </a:prstGeom>
          <a:solidFill>
            <a:srgbClr val="00A1E0"/>
          </a:solidFill>
          <a:ln w="12700">
            <a:solidFill>
              <a:srgbClr val="00A1E0"/>
            </a:solidFill>
            <a:prstDash val="solid"/>
          </a:ln>
        </p:spPr>
      </p:sp>
      <p:sp>
        <p:nvSpPr>
          <p:cNvPr id="11" name="Text 8"/>
          <p:cNvSpPr/>
          <p:nvPr/>
        </p:nvSpPr>
        <p:spPr>
          <a:xfrm>
            <a:off x="640080" y="1143000"/>
            <a:ext cx="3611880" cy="201168"/>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DAY 1 ARCHITECT CHEATSHEET &amp; LIMITS</a:t>
            </a:r>
            <a:endParaRPr lang="en-US" sz="800" dirty="0"/>
          </a:p>
        </p:txBody>
      </p:sp>
      <p:sp>
        <p:nvSpPr>
          <p:cNvPr id="12" name="Text 9"/>
          <p:cNvSpPr/>
          <p:nvPr/>
        </p:nvSpPr>
        <p:spPr>
          <a:xfrm>
            <a:off x="640080" y="1371600"/>
            <a:ext cx="3611880" cy="228600"/>
          </a:xfrm>
          <a:prstGeom prst="rect">
            <a:avLst/>
          </a:prstGeom>
          <a:noFill/>
          <a:ln/>
        </p:spPr>
        <p:txBody>
          <a:bodyPr wrap="square" rtlCol="0" anchor="ctr"/>
          <a:lstStyle/>
          <a:p>
            <a:pPr indent="0" marL="0">
              <a:buNone/>
            </a:pPr>
            <a:r>
              <a:rPr lang="en-US" sz="1050" b="1" dirty="0">
                <a:solidFill>
                  <a:srgbClr val="F8FAFC"/>
                </a:solidFill>
                <a:latin typeface="Arial" pitchFamily="34" charset="0"/>
                <a:ea typeface="Arial" pitchFamily="34" charset="-122"/>
                <a:cs typeface="Arial" pitchFamily="34" charset="-120"/>
              </a:rPr>
              <a:t>Core Architecture Rules to Remember:</a:t>
            </a:r>
            <a:endParaRPr lang="en-US" sz="1050" dirty="0"/>
          </a:p>
        </p:txBody>
      </p:sp>
      <p:sp>
        <p:nvSpPr>
          <p:cNvPr id="13" name="Text 10"/>
          <p:cNvSpPr/>
          <p:nvPr/>
        </p:nvSpPr>
        <p:spPr>
          <a:xfrm>
            <a:off x="640080" y="1664208"/>
            <a:ext cx="3611880" cy="2788920"/>
          </a:xfrm>
          <a:prstGeom prst="rect">
            <a:avLst/>
          </a:prstGeom>
          <a:noFill/>
          <a:ln/>
        </p:spPr>
        <p:txBody>
          <a:bodyPr wrap="square" rtlCol="0" anchor="ctr"/>
          <a:lstStyle/>
          <a:p>
            <a:pPr indent="0" marL="0">
              <a:lnSpc>
                <a:spcPts val="1100"/>
              </a:lnSpc>
              <a:buNone/>
            </a:pPr>
            <a:r>
              <a:rPr lang="en-US" sz="750" dirty="0">
                <a:solidFill>
                  <a:srgbClr val="CBD5E1"/>
                </a:solidFill>
                <a:latin typeface="Arial" pitchFamily="34" charset="0"/>
                <a:ea typeface="Arial" pitchFamily="34" charset="-122"/>
                <a:cs typeface="Arial" pitchFamily="34" charset="-120"/>
              </a:rPr>
              <a:t>⚡  Cognitive Loop: Atlas runs ReAct (Thought ➜ Action ➜ Observation ➜ Response).</a:t>
            </a:r>
            <a:endParaRPr lang="en-US" sz="750" dirty="0"/>
          </a:p>
          <a:p>
            <a:pPr indent="0" marL="0">
              <a:lnSpc>
                <a:spcPts val="1100"/>
              </a:lnSpc>
              <a:buNone/>
            </a:pPr>
            <a:endParaRPr lang="en-US" sz="750" dirty="0"/>
          </a:p>
          <a:p>
            <a:pPr indent="0" marL="0">
              <a:lnSpc>
                <a:spcPts val="1100"/>
              </a:lnSpc>
              <a:buNone/>
            </a:pPr>
            <a:r>
              <a:rPr lang="en-US" sz="750" dirty="0">
                <a:solidFill>
                  <a:srgbClr val="CBD5E1"/>
                </a:solidFill>
                <a:latin typeface="Arial" pitchFamily="34" charset="0"/>
                <a:ea typeface="Arial" pitchFamily="34" charset="-122"/>
                <a:cs typeface="Arial" pitchFamily="34" charset="-120"/>
              </a:rPr>
              <a:t>⚡  Topic Rule of Thumb: Aim for 3-7 Topics per Agent. Never exceed 10 for peak accuracy.</a:t>
            </a:r>
            <a:endParaRPr lang="en-US" sz="750" dirty="0"/>
          </a:p>
          <a:p>
            <a:pPr indent="0" marL="0">
              <a:lnSpc>
                <a:spcPts val="1100"/>
              </a:lnSpc>
              <a:buNone/>
            </a:pPr>
            <a:endParaRPr lang="en-US" sz="750" dirty="0"/>
          </a:p>
          <a:p>
            <a:pPr indent="0" marL="0">
              <a:lnSpc>
                <a:spcPts val="1100"/>
              </a:lnSpc>
              <a:buNone/>
            </a:pPr>
            <a:r>
              <a:rPr lang="en-US" sz="750" dirty="0">
                <a:solidFill>
                  <a:srgbClr val="CBD5E1"/>
                </a:solidFill>
                <a:latin typeface="Arial" pitchFamily="34" charset="0"/>
                <a:ea typeface="Arial" pitchFamily="34" charset="-122"/>
                <a:cs typeface="Arial" pitchFamily="34" charset="-120"/>
              </a:rPr>
              <a:t>⚡  Action Limit: Keep 3-10 Actions per Topic. Offload complex logic into Flows.</a:t>
            </a:r>
            <a:endParaRPr lang="en-US" sz="750" dirty="0"/>
          </a:p>
          <a:p>
            <a:pPr indent="0" marL="0">
              <a:lnSpc>
                <a:spcPts val="1100"/>
              </a:lnSpc>
              <a:buNone/>
            </a:pPr>
            <a:endParaRPr lang="en-US" sz="750" dirty="0"/>
          </a:p>
          <a:p>
            <a:pPr indent="0" marL="0">
              <a:lnSpc>
                <a:spcPts val="1100"/>
              </a:lnSpc>
              <a:buNone/>
            </a:pPr>
            <a:r>
              <a:rPr lang="en-US" sz="750" dirty="0">
                <a:solidFill>
                  <a:srgbClr val="CBD5E1"/>
                </a:solidFill>
                <a:latin typeface="Arial" pitchFamily="34" charset="0"/>
                <a:ea typeface="Arial" pitchFamily="34" charset="-122"/>
                <a:cs typeface="Arial" pitchFamily="34" charset="-120"/>
              </a:rPr>
              <a:t>⚡  Description Is Code: Write Action descriptions as if they are API specs with trigger rules.</a:t>
            </a:r>
            <a:endParaRPr lang="en-US" sz="750" dirty="0"/>
          </a:p>
          <a:p>
            <a:pPr indent="0" marL="0">
              <a:lnSpc>
                <a:spcPts val="1100"/>
              </a:lnSpc>
              <a:buNone/>
            </a:pPr>
            <a:endParaRPr lang="en-US" sz="750" dirty="0"/>
          </a:p>
          <a:p>
            <a:pPr indent="0" marL="0">
              <a:lnSpc>
                <a:spcPts val="1100"/>
              </a:lnSpc>
              <a:buNone/>
            </a:pPr>
            <a:r>
              <a:rPr lang="en-US" sz="750" dirty="0">
                <a:solidFill>
                  <a:srgbClr val="CBD5E1"/>
                </a:solidFill>
                <a:latin typeface="Arial" pitchFamily="34" charset="0"/>
                <a:ea typeface="Arial" pitchFamily="34" charset="-122"/>
                <a:cs typeface="Arial" pitchFamily="34" charset="-120"/>
              </a:rPr>
              <a:t>⚡  Trust Layer: Outbound calls are PII-masked and under Zero Data Retention agreements.</a:t>
            </a:r>
            <a:endParaRPr lang="en-US" sz="750" dirty="0"/>
          </a:p>
          <a:p>
            <a:pPr indent="0" marL="0">
              <a:lnSpc>
                <a:spcPts val="1100"/>
              </a:lnSpc>
              <a:buNone/>
            </a:pPr>
            <a:endParaRPr lang="en-US" sz="750" dirty="0"/>
          </a:p>
          <a:p>
            <a:pPr indent="0" marL="0">
              <a:lnSpc>
                <a:spcPts val="1100"/>
              </a:lnSpc>
              <a:buNone/>
            </a:pPr>
            <a:r>
              <a:rPr lang="en-US" sz="750" dirty="0">
                <a:solidFill>
                  <a:srgbClr val="CBD5E1"/>
                </a:solidFill>
                <a:latin typeface="Arial" pitchFamily="34" charset="0"/>
                <a:ea typeface="Arial" pitchFamily="34" charset="-122"/>
                <a:cs typeface="Arial" pitchFamily="34" charset="-120"/>
              </a:rPr>
              <a:t>⚡  Debugging: Always inspect Reasoning Logs before promoting Agents to live channels.</a:t>
            </a:r>
            <a:endParaRPr lang="en-US" sz="750" dirty="0"/>
          </a:p>
        </p:txBody>
      </p:sp>
      <p:sp>
        <p:nvSpPr>
          <p:cNvPr id="14" name="Shape 11"/>
          <p:cNvSpPr/>
          <p:nvPr/>
        </p:nvSpPr>
        <p:spPr>
          <a:xfrm>
            <a:off x="4709160" y="1024128"/>
            <a:ext cx="3977640" cy="3566160"/>
          </a:xfrm>
          <a:prstGeom prst="roundRect">
            <a:avLst>
              <a:gd name="adj" fmla="val 2051"/>
            </a:avLst>
          </a:prstGeom>
          <a:solidFill>
            <a:srgbClr val="131B2E"/>
          </a:solidFill>
          <a:ln w="12700">
            <a:solidFill>
              <a:srgbClr val="10B981"/>
            </a:solidFill>
            <a:prstDash val="solid"/>
          </a:ln>
        </p:spPr>
      </p:sp>
      <p:sp>
        <p:nvSpPr>
          <p:cNvPr id="15" name="Shape 12"/>
          <p:cNvSpPr/>
          <p:nvPr/>
        </p:nvSpPr>
        <p:spPr>
          <a:xfrm>
            <a:off x="4709160" y="1024128"/>
            <a:ext cx="3977640" cy="45720"/>
          </a:xfrm>
          <a:prstGeom prst="rect">
            <a:avLst/>
          </a:prstGeom>
          <a:solidFill>
            <a:srgbClr val="10B981"/>
          </a:solidFill>
          <a:ln w="12700">
            <a:solidFill>
              <a:srgbClr val="10B981"/>
            </a:solidFill>
            <a:prstDash val="solid"/>
          </a:ln>
        </p:spPr>
      </p:sp>
      <p:sp>
        <p:nvSpPr>
          <p:cNvPr id="16" name="Text 13"/>
          <p:cNvSpPr/>
          <p:nvPr/>
        </p:nvSpPr>
        <p:spPr>
          <a:xfrm>
            <a:off x="4892040" y="1143000"/>
            <a:ext cx="3611880" cy="201168"/>
          </a:xfrm>
          <a:prstGeom prst="rect">
            <a:avLst/>
          </a:prstGeom>
          <a:noFill/>
          <a:ln/>
        </p:spPr>
        <p:txBody>
          <a:bodyPr wrap="square" rtlCol="0" anchor="ctr"/>
          <a:lstStyle/>
          <a:p>
            <a:pPr indent="0" marL="0">
              <a:buNone/>
            </a:pPr>
            <a:r>
              <a:rPr lang="en-US" sz="800" b="1" dirty="0">
                <a:solidFill>
                  <a:srgbClr val="10B981"/>
                </a:solidFill>
                <a:latin typeface="Arial" pitchFamily="34" charset="0"/>
                <a:ea typeface="Arial" pitchFamily="34" charset="-122"/>
                <a:cs typeface="Arial" pitchFamily="34" charset="-120"/>
              </a:rPr>
              <a:t>PRE-FLIGHT PRODUCTION CHECKLIST</a:t>
            </a:r>
            <a:endParaRPr lang="en-US" sz="800" dirty="0"/>
          </a:p>
        </p:txBody>
      </p:sp>
      <p:sp>
        <p:nvSpPr>
          <p:cNvPr id="17" name="Text 14"/>
          <p:cNvSpPr/>
          <p:nvPr/>
        </p:nvSpPr>
        <p:spPr>
          <a:xfrm>
            <a:off x="4892040" y="1371600"/>
            <a:ext cx="3611880" cy="228600"/>
          </a:xfrm>
          <a:prstGeom prst="rect">
            <a:avLst/>
          </a:prstGeom>
          <a:noFill/>
          <a:ln/>
        </p:spPr>
        <p:txBody>
          <a:bodyPr wrap="square" rtlCol="0" anchor="ctr"/>
          <a:lstStyle/>
          <a:p>
            <a:pPr indent="0" marL="0">
              <a:buNone/>
            </a:pPr>
            <a:r>
              <a:rPr lang="en-US" sz="1050" b="1" dirty="0">
                <a:solidFill>
                  <a:srgbClr val="F8FAFC"/>
                </a:solidFill>
                <a:latin typeface="Arial" pitchFamily="34" charset="0"/>
                <a:ea typeface="Arial" pitchFamily="34" charset="-122"/>
                <a:cs typeface="Arial" pitchFamily="34" charset="-120"/>
              </a:rPr>
              <a:t>Verify Before Promoting to Staging/Prod:</a:t>
            </a:r>
            <a:endParaRPr lang="en-US" sz="1050" dirty="0"/>
          </a:p>
        </p:txBody>
      </p:sp>
      <p:sp>
        <p:nvSpPr>
          <p:cNvPr id="18" name="Text 15"/>
          <p:cNvSpPr/>
          <p:nvPr/>
        </p:nvSpPr>
        <p:spPr>
          <a:xfrm>
            <a:off x="4892040" y="1664208"/>
            <a:ext cx="3611880" cy="2788920"/>
          </a:xfrm>
          <a:prstGeom prst="rect">
            <a:avLst/>
          </a:prstGeom>
          <a:noFill/>
          <a:ln/>
        </p:spPr>
        <p:txBody>
          <a:bodyPr wrap="square" rtlCol="0" anchor="ctr"/>
          <a:lstStyle/>
          <a:p>
            <a:pPr indent="0" marL="0">
              <a:lnSpc>
                <a:spcPts val="1100"/>
              </a:lnSpc>
              <a:buNone/>
            </a:pPr>
            <a:r>
              <a:rPr lang="en-US" sz="750" dirty="0">
                <a:solidFill>
                  <a:srgbClr val="CBD5E1"/>
                </a:solidFill>
                <a:latin typeface="Arial" pitchFamily="34" charset="0"/>
                <a:ea typeface="Arial" pitchFamily="34" charset="-122"/>
                <a:cs typeface="Arial" pitchFamily="34" charset="-120"/>
              </a:rPr>
              <a:t>☑  Profile Permissions: Einstein Agent User assigned Read/Edit access to target SObjects.</a:t>
            </a:r>
            <a:endParaRPr lang="en-US" sz="750" dirty="0"/>
          </a:p>
          <a:p>
            <a:pPr indent="0" marL="0">
              <a:lnSpc>
                <a:spcPts val="1100"/>
              </a:lnSpc>
              <a:buNone/>
            </a:pPr>
            <a:endParaRPr lang="en-US" sz="750" dirty="0"/>
          </a:p>
          <a:p>
            <a:pPr indent="0" marL="0">
              <a:lnSpc>
                <a:spcPts val="1100"/>
              </a:lnSpc>
              <a:buNone/>
            </a:pPr>
            <a:r>
              <a:rPr lang="en-US" sz="750" dirty="0">
                <a:solidFill>
                  <a:srgbClr val="CBD5E1"/>
                </a:solidFill>
                <a:latin typeface="Arial" pitchFamily="34" charset="0"/>
                <a:ea typeface="Arial" pitchFamily="34" charset="-122"/>
                <a:cs typeface="Arial" pitchFamily="34" charset="-120"/>
              </a:rPr>
              <a:t>☑  FLS Audit: Sensitive internal fields excluded from Flow and Apex output payloads.</a:t>
            </a:r>
            <a:endParaRPr lang="en-US" sz="750" dirty="0"/>
          </a:p>
          <a:p>
            <a:pPr indent="0" marL="0">
              <a:lnSpc>
                <a:spcPts val="1100"/>
              </a:lnSpc>
              <a:buNone/>
            </a:pPr>
            <a:endParaRPr lang="en-US" sz="750" dirty="0"/>
          </a:p>
          <a:p>
            <a:pPr indent="0" marL="0">
              <a:lnSpc>
                <a:spcPts val="1100"/>
              </a:lnSpc>
              <a:buNone/>
            </a:pPr>
            <a:r>
              <a:rPr lang="en-US" sz="750" dirty="0">
                <a:solidFill>
                  <a:srgbClr val="CBD5E1"/>
                </a:solidFill>
                <a:latin typeface="Arial" pitchFamily="34" charset="0"/>
                <a:ea typeface="Arial" pitchFamily="34" charset="-122"/>
                <a:cs typeface="Arial" pitchFamily="34" charset="-120"/>
              </a:rPr>
              <a:t>☑  Classification Test: Run 15 diverse phrasing tests in Builder Preview; check confidence &gt; 0.85.</a:t>
            </a:r>
            <a:endParaRPr lang="en-US" sz="750" dirty="0"/>
          </a:p>
          <a:p>
            <a:pPr indent="0" marL="0">
              <a:lnSpc>
                <a:spcPts val="1100"/>
              </a:lnSpc>
              <a:buNone/>
            </a:pPr>
            <a:endParaRPr lang="en-US" sz="750" dirty="0"/>
          </a:p>
          <a:p>
            <a:pPr indent="0" marL="0">
              <a:lnSpc>
                <a:spcPts val="1100"/>
              </a:lnSpc>
              <a:buNone/>
            </a:pPr>
            <a:r>
              <a:rPr lang="en-US" sz="750" dirty="0">
                <a:solidFill>
                  <a:srgbClr val="CBD5E1"/>
                </a:solidFill>
                <a:latin typeface="Arial" pitchFamily="34" charset="0"/>
                <a:ea typeface="Arial" pitchFamily="34" charset="-122"/>
                <a:cs typeface="Arial" pitchFamily="34" charset="-120"/>
              </a:rPr>
              <a:t>☑  Exit Criteria: All Topics have fallback instructions if Action execution yields no records.</a:t>
            </a:r>
            <a:endParaRPr lang="en-US" sz="750" dirty="0"/>
          </a:p>
          <a:p>
            <a:pPr indent="0" marL="0">
              <a:lnSpc>
                <a:spcPts val="1100"/>
              </a:lnSpc>
              <a:buNone/>
            </a:pPr>
            <a:endParaRPr lang="en-US" sz="750" dirty="0"/>
          </a:p>
          <a:p>
            <a:pPr indent="0" marL="0">
              <a:lnSpc>
                <a:spcPts val="1100"/>
              </a:lnSpc>
              <a:buNone/>
            </a:pPr>
            <a:r>
              <a:rPr lang="en-US" sz="750" dirty="0">
                <a:solidFill>
                  <a:srgbClr val="CBD5E1"/>
                </a:solidFill>
                <a:latin typeface="Arial" pitchFamily="34" charset="0"/>
                <a:ea typeface="Arial" pitchFamily="34" charset="-122"/>
                <a:cs typeface="Arial" pitchFamily="34" charset="-120"/>
              </a:rPr>
              <a:t>☑  Tone Verification: Confirm responses align with company persona and global negative guardrails.</a:t>
            </a:r>
            <a:endParaRPr lang="en-US" sz="750" dirty="0"/>
          </a:p>
          <a:p>
            <a:pPr indent="0" marL="0">
              <a:lnSpc>
                <a:spcPts val="1100"/>
              </a:lnSpc>
              <a:buNone/>
            </a:pPr>
            <a:endParaRPr lang="en-US" sz="750" dirty="0"/>
          </a:p>
          <a:p>
            <a:pPr indent="0" marL="0">
              <a:lnSpc>
                <a:spcPts val="1100"/>
              </a:lnSpc>
              <a:buNone/>
            </a:pPr>
            <a:r>
              <a:rPr lang="en-US" sz="750" dirty="0">
                <a:solidFill>
                  <a:srgbClr val="CBD5E1"/>
                </a:solidFill>
                <a:latin typeface="Arial" pitchFamily="34" charset="0"/>
                <a:ea typeface="Arial" pitchFamily="34" charset="-122"/>
                <a:cs typeface="Arial" pitchFamily="34" charset="-120"/>
              </a:rPr>
              <a:t>☑  Latency Check: End-to-end multi-step ReAct loops finish within acceptable SLA (&lt; 4 seconds).</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457200" y="256032"/>
            <a:ext cx="1097280" cy="27432"/>
          </a:xfrm>
          <a:prstGeom prst="rect">
            <a:avLst/>
          </a:prstGeom>
          <a:solidFill>
            <a:srgbClr val="00A1E0"/>
          </a:solidFill>
          <a:ln w="12700">
            <a:solidFill>
              <a:srgbClr val="00A1E0"/>
            </a:solidFill>
            <a:prstDash val="solid"/>
          </a:ln>
        </p:spPr>
      </p:sp>
      <p:sp>
        <p:nvSpPr>
          <p:cNvPr id="3" name="Text 1"/>
          <p:cNvSpPr/>
          <p:nvPr/>
        </p:nvSpPr>
        <p:spPr>
          <a:xfrm>
            <a:off x="457200" y="320040"/>
            <a:ext cx="8229600" cy="164592"/>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ROADMAP &amp; NEXT STEPS</a:t>
            </a:r>
            <a:endParaRPr lang="en-US" sz="800" dirty="0"/>
          </a:p>
        </p:txBody>
      </p:sp>
      <p:sp>
        <p:nvSpPr>
          <p:cNvPr id="4" name="Text 2"/>
          <p:cNvSpPr/>
          <p:nvPr/>
        </p:nvSpPr>
        <p:spPr>
          <a:xfrm>
            <a:off x="457200" y="493776"/>
            <a:ext cx="8229600" cy="320040"/>
          </a:xfrm>
          <a:prstGeom prst="rect">
            <a:avLst/>
          </a:prstGeom>
          <a:noFill/>
          <a:ln/>
        </p:spPr>
        <p:txBody>
          <a:bodyPr wrap="square" rtlCol="0" anchor="ctr"/>
          <a:lstStyle/>
          <a:p>
            <a:pPr indent="0" marL="0">
              <a:buNone/>
            </a:pPr>
            <a:r>
              <a:rPr lang="en-US" sz="1500" b="1" dirty="0">
                <a:solidFill>
                  <a:srgbClr val="F8FAFC"/>
                </a:solidFill>
                <a:latin typeface="Arial" pitchFamily="34" charset="0"/>
                <a:ea typeface="Arial" pitchFamily="34" charset="-122"/>
                <a:cs typeface="Arial" pitchFamily="34" charset="-120"/>
              </a:rPr>
              <a:t>Coming Up in Day 2: Prompt Templates &amp; Grounding</a:t>
            </a:r>
            <a:endParaRPr lang="en-US" sz="1500" dirty="0"/>
          </a:p>
        </p:txBody>
      </p:sp>
      <p:sp>
        <p:nvSpPr>
          <p:cNvPr id="5" name="Shape 3"/>
          <p:cNvSpPr/>
          <p:nvPr/>
        </p:nvSpPr>
        <p:spPr>
          <a:xfrm>
            <a:off x="457200" y="859536"/>
            <a:ext cx="8229600" cy="0"/>
          </a:xfrm>
          <a:prstGeom prst="line">
            <a:avLst/>
          </a:prstGeom>
          <a:noFill/>
          <a:ln w="12700">
            <a:solidFill>
              <a:srgbClr val="1E293B"/>
            </a:solidFill>
            <a:prstDash val="solid"/>
          </a:ln>
        </p:spPr>
      </p:sp>
      <p:sp>
        <p:nvSpPr>
          <p:cNvPr id="6" name="Text 4"/>
          <p:cNvSpPr/>
          <p:nvPr/>
        </p:nvSpPr>
        <p:spPr>
          <a:xfrm>
            <a:off x="457200" y="4791456"/>
            <a:ext cx="6400800" cy="228600"/>
          </a:xfrm>
          <a:prstGeom prst="rect">
            <a:avLst/>
          </a:prstGeom>
          <a:noFill/>
          <a:ln/>
        </p:spPr>
        <p:txBody>
          <a:bodyPr wrap="square" rtlCol="0" anchor="ctr"/>
          <a:lstStyle/>
          <a:p>
            <a:pPr indent="0" marL="0">
              <a:buNone/>
            </a:pPr>
            <a:r>
              <a:rPr lang="en-US" sz="750" dirty="0">
                <a:solidFill>
                  <a:srgbClr val="94A3B8"/>
                </a:solidFill>
                <a:latin typeface="Arial" pitchFamily="34" charset="0"/>
                <a:ea typeface="Arial" pitchFamily="34" charset="-122"/>
                <a:cs typeface="Arial" pitchFamily="34" charset="-120"/>
              </a:rPr>
              <a:t>Salesforce Agentforce &amp; Data 360 Enablement  •  Day 1: Atlas Reasoning Engine &amp; ReAct Loop</a:t>
            </a:r>
            <a:endParaRPr lang="en-US" sz="750" dirty="0"/>
          </a:p>
        </p:txBody>
      </p:sp>
      <p:sp>
        <p:nvSpPr>
          <p:cNvPr id="7" name="Text 5"/>
          <p:cNvSpPr/>
          <p:nvPr/>
        </p:nvSpPr>
        <p:spPr>
          <a:xfrm>
            <a:off x="7315200" y="4791456"/>
            <a:ext cx="1371600" cy="228600"/>
          </a:xfrm>
          <a:prstGeom prst="rect">
            <a:avLst/>
          </a:prstGeom>
          <a:noFill/>
          <a:ln/>
        </p:spPr>
        <p:txBody>
          <a:bodyPr wrap="square" rtlCol="0" anchor="ctr"/>
          <a:lstStyle/>
          <a:p>
            <a:pPr algn="r" indent="0" marL="0">
              <a:buNone/>
            </a:pPr>
            <a:r>
              <a:rPr lang="en-US" sz="750" b="1" dirty="0">
                <a:solidFill>
                  <a:srgbClr val="00A1E0"/>
                </a:solidFill>
                <a:latin typeface="Arial" pitchFamily="34" charset="0"/>
                <a:ea typeface="Arial" pitchFamily="34" charset="-122"/>
                <a:cs typeface="Arial" pitchFamily="34" charset="-120"/>
              </a:rPr>
              <a:t>19 / 19</a:t>
            </a:r>
            <a:endParaRPr lang="en-US" sz="750" dirty="0"/>
          </a:p>
        </p:txBody>
      </p:sp>
      <p:sp>
        <p:nvSpPr>
          <p:cNvPr id="9" name="Shape 6"/>
          <p:cNvSpPr/>
          <p:nvPr/>
        </p:nvSpPr>
        <p:spPr>
          <a:xfrm>
            <a:off x="457200" y="1024128"/>
            <a:ext cx="3977640" cy="3566160"/>
          </a:xfrm>
          <a:prstGeom prst="roundRect">
            <a:avLst>
              <a:gd name="adj" fmla="val 2051"/>
            </a:avLst>
          </a:prstGeom>
          <a:solidFill>
            <a:srgbClr val="131B2E"/>
          </a:solidFill>
          <a:ln w="15240">
            <a:solidFill>
              <a:srgbClr val="8B5CF6"/>
            </a:solidFill>
            <a:prstDash val="solid"/>
          </a:ln>
        </p:spPr>
      </p:sp>
      <p:sp>
        <p:nvSpPr>
          <p:cNvPr id="10" name="Shape 7"/>
          <p:cNvSpPr/>
          <p:nvPr/>
        </p:nvSpPr>
        <p:spPr>
          <a:xfrm>
            <a:off x="457200" y="1024128"/>
            <a:ext cx="3977640" cy="45720"/>
          </a:xfrm>
          <a:prstGeom prst="rect">
            <a:avLst/>
          </a:prstGeom>
          <a:solidFill>
            <a:srgbClr val="8B5CF6"/>
          </a:solidFill>
          <a:ln w="12700">
            <a:solidFill>
              <a:srgbClr val="8B5CF6"/>
            </a:solidFill>
            <a:prstDash val="solid"/>
          </a:ln>
        </p:spPr>
      </p:sp>
      <p:sp>
        <p:nvSpPr>
          <p:cNvPr id="11" name="Text 8"/>
          <p:cNvSpPr/>
          <p:nvPr/>
        </p:nvSpPr>
        <p:spPr>
          <a:xfrm>
            <a:off x="640080" y="1143000"/>
            <a:ext cx="3611880" cy="201168"/>
          </a:xfrm>
          <a:prstGeom prst="rect">
            <a:avLst/>
          </a:prstGeom>
          <a:noFill/>
          <a:ln/>
        </p:spPr>
        <p:txBody>
          <a:bodyPr wrap="square" rtlCol="0" anchor="ctr"/>
          <a:lstStyle/>
          <a:p>
            <a:pPr indent="0" marL="0">
              <a:buNone/>
            </a:pPr>
            <a:r>
              <a:rPr lang="en-US" sz="800" b="1" dirty="0">
                <a:solidFill>
                  <a:srgbClr val="8B5CF6"/>
                </a:solidFill>
                <a:latin typeface="Arial" pitchFamily="34" charset="0"/>
                <a:ea typeface="Arial" pitchFamily="34" charset="-122"/>
                <a:cs typeface="Arial" pitchFamily="34" charset="-120"/>
              </a:rPr>
              <a:t>DAY 2 OF 20 CURRICULUM PREVIEW</a:t>
            </a:r>
            <a:endParaRPr lang="en-US" sz="800" dirty="0"/>
          </a:p>
        </p:txBody>
      </p:sp>
      <p:sp>
        <p:nvSpPr>
          <p:cNvPr id="12" name="Text 9"/>
          <p:cNvSpPr/>
          <p:nvPr/>
        </p:nvSpPr>
        <p:spPr>
          <a:xfrm>
            <a:off x="640080" y="1371600"/>
            <a:ext cx="3611880" cy="228600"/>
          </a:xfrm>
          <a:prstGeom prst="rect">
            <a:avLst/>
          </a:prstGeom>
          <a:noFill/>
          <a:ln/>
        </p:spPr>
        <p:txBody>
          <a:bodyPr wrap="square" rtlCol="0" anchor="ctr"/>
          <a:lstStyle/>
          <a:p>
            <a:pPr indent="0" marL="0">
              <a:buNone/>
            </a:pPr>
            <a:r>
              <a:rPr lang="en-US" sz="1200" b="1" dirty="0">
                <a:solidFill>
                  <a:srgbClr val="F8FAFC"/>
                </a:solidFill>
                <a:latin typeface="Arial" pitchFamily="34" charset="0"/>
                <a:ea typeface="Arial" pitchFamily="34" charset="-122"/>
                <a:cs typeface="Arial" pitchFamily="34" charset="-120"/>
              </a:rPr>
              <a:t>Prompt Builder &amp; Grounding Strategies</a:t>
            </a:r>
            <a:endParaRPr lang="en-US" sz="1200" dirty="0"/>
          </a:p>
        </p:txBody>
      </p:sp>
      <p:sp>
        <p:nvSpPr>
          <p:cNvPr id="13" name="Text 10"/>
          <p:cNvSpPr/>
          <p:nvPr/>
        </p:nvSpPr>
        <p:spPr>
          <a:xfrm>
            <a:off x="640080" y="1719072"/>
            <a:ext cx="3611880" cy="2743200"/>
          </a:xfrm>
          <a:prstGeom prst="rect">
            <a:avLst/>
          </a:prstGeom>
          <a:noFill/>
          <a:ln/>
        </p:spPr>
        <p:txBody>
          <a:bodyPr wrap="square" rtlCol="0" anchor="ctr"/>
          <a:lstStyle/>
          <a:p>
            <a:pPr indent="0" marL="0">
              <a:lnSpc>
                <a:spcPts val="1200"/>
              </a:lnSpc>
              <a:buNone/>
            </a:pPr>
            <a:r>
              <a:rPr lang="en-US" sz="800" dirty="0">
                <a:solidFill>
                  <a:srgbClr val="CBD5E1"/>
                </a:solidFill>
                <a:latin typeface="Arial" pitchFamily="34" charset="0"/>
                <a:ea typeface="Arial" pitchFamily="34" charset="-122"/>
                <a:cs typeface="Arial" pitchFamily="34" charset="-120"/>
              </a:rPr>
              <a:t>🚀  Prompt Builder Studio: Deep dive into creating Field, Record, and Flex Prompt Templates.</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Record Grounding: Injecting live CRM record fields and relationship hierarchies into prompts.</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Flow Grounding: Triggering autolaunched flows to dynamically assemble relational context.</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Apex Grounding: Writing @InvocableMethod Apex controllers feeding structured grounding JSON.</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Prompt Defense: Hardening templates against jailbreaks, prompt injection, and prompt leaks.</a:t>
            </a:r>
            <a:endParaRPr lang="en-US" sz="800" dirty="0"/>
          </a:p>
        </p:txBody>
      </p:sp>
      <p:sp>
        <p:nvSpPr>
          <p:cNvPr id="14" name="Shape 11"/>
          <p:cNvSpPr/>
          <p:nvPr/>
        </p:nvSpPr>
        <p:spPr>
          <a:xfrm>
            <a:off x="4709160" y="1024128"/>
            <a:ext cx="3977640" cy="3566160"/>
          </a:xfrm>
          <a:prstGeom prst="roundRect">
            <a:avLst>
              <a:gd name="adj" fmla="val 2051"/>
            </a:avLst>
          </a:prstGeom>
          <a:solidFill>
            <a:srgbClr val="131B2E"/>
          </a:solidFill>
          <a:ln w="12700">
            <a:solidFill>
              <a:srgbClr val="00A1E0"/>
            </a:solidFill>
            <a:prstDash val="solid"/>
          </a:ln>
        </p:spPr>
      </p:sp>
      <p:sp>
        <p:nvSpPr>
          <p:cNvPr id="15" name="Text 12"/>
          <p:cNvSpPr/>
          <p:nvPr/>
        </p:nvSpPr>
        <p:spPr>
          <a:xfrm>
            <a:off x="4892040" y="1143000"/>
            <a:ext cx="3611880" cy="201168"/>
          </a:xfrm>
          <a:prstGeom prst="rect">
            <a:avLst/>
          </a:prstGeom>
          <a:noFill/>
          <a:ln/>
        </p:spPr>
        <p:txBody>
          <a:bodyPr wrap="square" rtlCol="0" anchor="ctr"/>
          <a:lstStyle/>
          <a:p>
            <a:pPr indent="0" marL="0">
              <a:buNone/>
            </a:pPr>
            <a:r>
              <a:rPr lang="en-US" sz="800" b="1" dirty="0">
                <a:solidFill>
                  <a:srgbClr val="00A1E0"/>
                </a:solidFill>
                <a:latin typeface="Arial" pitchFamily="34" charset="0"/>
                <a:ea typeface="Arial" pitchFamily="34" charset="-122"/>
                <a:cs typeface="Arial" pitchFamily="34" charset="-120"/>
              </a:rPr>
              <a:t>PRE-SESSION READINESS FOR DAY 2</a:t>
            </a:r>
            <a:endParaRPr lang="en-US" sz="800" dirty="0"/>
          </a:p>
        </p:txBody>
      </p:sp>
      <p:sp>
        <p:nvSpPr>
          <p:cNvPr id="16" name="Text 13"/>
          <p:cNvSpPr/>
          <p:nvPr/>
        </p:nvSpPr>
        <p:spPr>
          <a:xfrm>
            <a:off x="4892040" y="1371600"/>
            <a:ext cx="3611880" cy="228600"/>
          </a:xfrm>
          <a:prstGeom prst="rect">
            <a:avLst/>
          </a:prstGeom>
          <a:noFill/>
          <a:ln/>
        </p:spPr>
        <p:txBody>
          <a:bodyPr wrap="square" rtlCol="0" anchor="ctr"/>
          <a:lstStyle/>
          <a:p>
            <a:pPr indent="0" marL="0">
              <a:buNone/>
            </a:pPr>
            <a:r>
              <a:rPr lang="en-US" sz="1050" b="1" dirty="0">
                <a:solidFill>
                  <a:srgbClr val="F8FAFC"/>
                </a:solidFill>
                <a:latin typeface="Arial" pitchFamily="34" charset="0"/>
                <a:ea typeface="Arial" pitchFamily="34" charset="-122"/>
                <a:cs typeface="Arial" pitchFamily="34" charset="-120"/>
              </a:rPr>
              <a:t>What to Prepare Ahead of Tomorrow:</a:t>
            </a:r>
            <a:endParaRPr lang="en-US" sz="1050" dirty="0"/>
          </a:p>
        </p:txBody>
      </p:sp>
      <p:sp>
        <p:nvSpPr>
          <p:cNvPr id="17" name="Text 14"/>
          <p:cNvSpPr/>
          <p:nvPr/>
        </p:nvSpPr>
        <p:spPr>
          <a:xfrm>
            <a:off x="4892040" y="1719072"/>
            <a:ext cx="3611880" cy="1783080"/>
          </a:xfrm>
          <a:prstGeom prst="rect">
            <a:avLst/>
          </a:prstGeom>
          <a:noFill/>
          <a:ln/>
        </p:spPr>
        <p:txBody>
          <a:bodyPr wrap="square" rtlCol="0" anchor="ctr"/>
          <a:lstStyle/>
          <a:p>
            <a:pPr indent="0" marL="0">
              <a:lnSpc>
                <a:spcPts val="1200"/>
              </a:lnSpc>
              <a:buNone/>
            </a:pPr>
            <a:r>
              <a:rPr lang="en-US" sz="800" dirty="0">
                <a:solidFill>
                  <a:srgbClr val="CBD5E1"/>
                </a:solidFill>
                <a:latin typeface="Arial" pitchFamily="34" charset="0"/>
                <a:ea typeface="Arial" pitchFamily="34" charset="-122"/>
                <a:cs typeface="Arial" pitchFamily="34" charset="-120"/>
              </a:rPr>
              <a:t>📋  Developer Edition Org: Ensure Prompt Builder permission set is assigned to your admin user.</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Sample Data: Populate 5 sample Contact and Case records in your training org.</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Playbook Review: Open Day 2 on the 20-Day Master Playbook web portal.</a:t>
            </a:r>
            <a:endParaRPr lang="en-US" sz="800" dirty="0"/>
          </a:p>
          <a:p>
            <a:pPr indent="0" marL="0">
              <a:lnSpc>
                <a:spcPts val="1200"/>
              </a:lnSpc>
              <a:buNone/>
            </a:pPr>
            <a:endParaRPr lang="en-US" sz="800" dirty="0"/>
          </a:p>
          <a:p>
            <a:pPr indent="0" marL="0">
              <a:lnSpc>
                <a:spcPts val="1200"/>
              </a:lnSpc>
              <a:buNone/>
            </a:pPr>
            <a:r>
              <a:rPr lang="en-US" sz="800" dirty="0">
                <a:solidFill>
                  <a:srgbClr val="CBD5E1"/>
                </a:solidFill>
                <a:latin typeface="Arial" pitchFamily="34" charset="0"/>
                <a:ea typeface="Arial" pitchFamily="34" charset="-122"/>
                <a:cs typeface="Arial" pitchFamily="34" charset="-120"/>
              </a:rPr>
              <a:t>📋  Trailhead Alignment: Review the "Prompt Fundamentals &amp; Grounding" trail.</a:t>
            </a:r>
            <a:endParaRPr lang="en-US" sz="800" dirty="0"/>
          </a:p>
        </p:txBody>
      </p:sp>
      <p:sp>
        <p:nvSpPr>
          <p:cNvPr id="18" name="Shape 15"/>
          <p:cNvSpPr/>
          <p:nvPr/>
        </p:nvSpPr>
        <p:spPr>
          <a:xfrm>
            <a:off x="4892040" y="3657600"/>
            <a:ext cx="3611880" cy="777240"/>
          </a:xfrm>
          <a:prstGeom prst="roundRect">
            <a:avLst>
              <a:gd name="adj" fmla="val 7059"/>
            </a:avLst>
          </a:prstGeom>
          <a:solidFill>
            <a:srgbClr val="1E1B4B"/>
          </a:solidFill>
          <a:ln w="12700">
            <a:solidFill>
              <a:srgbClr val="8B5CF6"/>
            </a:solidFill>
            <a:prstDash val="solid"/>
          </a:ln>
        </p:spPr>
      </p:sp>
      <p:sp>
        <p:nvSpPr>
          <p:cNvPr id="19" name="Text 16"/>
          <p:cNvSpPr/>
          <p:nvPr/>
        </p:nvSpPr>
        <p:spPr>
          <a:xfrm>
            <a:off x="4983480" y="3749040"/>
            <a:ext cx="3429000" cy="594360"/>
          </a:xfrm>
          <a:prstGeom prst="rect">
            <a:avLst/>
          </a:prstGeom>
          <a:noFill/>
          <a:ln/>
        </p:spPr>
        <p:txBody>
          <a:bodyPr wrap="square" rtlCol="0" anchor="ctr"/>
          <a:lstStyle/>
          <a:p>
            <a:pPr algn="ctr" indent="0" marL="0">
              <a:buNone/>
            </a:pPr>
            <a:r>
              <a:rPr lang="en-US" sz="850" b="1" dirty="0">
                <a:solidFill>
                  <a:srgbClr val="C084FC"/>
                </a:solidFill>
                <a:latin typeface="Arial" pitchFamily="34" charset="0"/>
                <a:ea typeface="Arial" pitchFamily="34" charset="-122"/>
                <a:cs typeface="Arial" pitchFamily="34" charset="-120"/>
              </a:rPr>
              <a:t>READY FOR DAY 2?</a:t>
            </a:r>
            <a:endParaRPr lang="en-US" sz="850" dirty="0"/>
          </a:p>
          <a:p>
            <a:pPr algn="ctr" indent="0" marL="0">
              <a:buNone/>
            </a:pPr>
            <a:r>
              <a:rPr lang="en-US" sz="850" b="1" dirty="0">
                <a:solidFill>
                  <a:srgbClr val="C084FC"/>
                </a:solidFill>
                <a:latin typeface="Arial" pitchFamily="34" charset="0"/>
                <a:ea typeface="Arial" pitchFamily="34" charset="-122"/>
                <a:cs typeface="Arial" pitchFamily="34" charset="-120"/>
              </a:rPr>
              <a:t>Access the Interactive 20-Day Master Implementation Playbook</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Enterprise Enablement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Day 1 Masterclass: The Atlas Reasoning Engine &amp; ReAct Loop</dc:title>
  <dc:subject>Salesforce Agentforce &amp; Data 360 Enablement Series</dc:subject>
  <dc:creator>Salesforce Enterprise Architecture</dc:creator>
  <cp:lastModifiedBy>Salesforce Enterprise Architecture</cp:lastModifiedBy>
  <cp:revision>1</cp:revision>
  <dcterms:created xsi:type="dcterms:W3CDTF">2026-10-31T11:07:25Z</dcterms:created>
  <dcterms:modified xsi:type="dcterms:W3CDTF">2026-10-31T11:07:25Z</dcterms:modified>
</cp:coreProperties>
</file>